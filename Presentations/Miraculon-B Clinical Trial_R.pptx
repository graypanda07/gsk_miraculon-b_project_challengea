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10287000" cx="18288000"/>
  <p:notesSz cx="6858000" cy="9144000"/>
  <p:embeddedFontLst>
    <p:embeddedFont>
      <p:font typeface="Raleway"/>
      <p:bold r:id="rId20"/>
      <p:boldItalic r:id="rId21"/>
    </p:embeddedFont>
    <p:embeddedFont>
      <p:font typeface="Raleway SemiBold"/>
      <p:regular r:id="rId22"/>
      <p:bold r:id="rId23"/>
      <p:italic r:id="rId24"/>
      <p:boldItalic r:id="rId25"/>
    </p:embeddedFont>
    <p:embeddedFont>
      <p:font typeface="Lato"/>
      <p:regular r:id="rId26"/>
      <p:bold r:id="rId27"/>
      <p:italic r:id="rId28"/>
      <p:boldItalic r:id="rId29"/>
    </p:embeddedFont>
    <p:embeddedFont>
      <p:font typeface="Public Sans"/>
      <p:bold r:id="rId30"/>
      <p:boldItalic r:id="rId31"/>
    </p:embeddedFont>
    <p:embeddedFont>
      <p:font typeface="Barlow Medium"/>
      <p:regular r:id="rId32"/>
      <p:bold r:id="rId33"/>
      <p:italic r:id="rId34"/>
      <p:boldItalic r:id="rId35"/>
    </p:embeddedFont>
    <p:embeddedFont>
      <p:font typeface="Raleway Medium"/>
      <p:regular r:id="rId36"/>
      <p:bold r:id="rId37"/>
      <p:italic r:id="rId38"/>
      <p:boldItalic r:id="rId39"/>
    </p:embeddedFont>
    <p:embeddedFont>
      <p:font typeface="Open Sans ExtraBold"/>
      <p:bold r:id="rId40"/>
      <p:boldItalic r:id="rId41"/>
    </p:embeddedFont>
    <p:embeddedFont>
      <p:font typeface="Barlow Light"/>
      <p:regular r:id="rId42"/>
      <p:bold r:id="rId43"/>
      <p:italic r:id="rId44"/>
      <p:boldItalic r:id="rId45"/>
    </p:embeddedFont>
    <p:embeddedFont>
      <p:font typeface="Barlow"/>
      <p:bold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8" roundtripDataSignature="AMtx7mjE1z8BICvIQKVtMH7y9m4eygiK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DF216B1-4147-49AE-9F2D-B4AD6AC80257}">
  <a:tblStyle styleId="{5DF216B1-4147-49AE-9F2D-B4AD6AC8025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ExtraBold-bold.fntdata"/><Relationship Id="rId20" Type="http://schemas.openxmlformats.org/officeDocument/2006/relationships/font" Target="fonts/Raleway-bold.fntdata"/><Relationship Id="rId42" Type="http://schemas.openxmlformats.org/officeDocument/2006/relationships/font" Target="fonts/BarlowLight-regular.fntdata"/><Relationship Id="rId41" Type="http://schemas.openxmlformats.org/officeDocument/2006/relationships/font" Target="fonts/OpenSansExtraBold-boldItalic.fntdata"/><Relationship Id="rId22" Type="http://schemas.openxmlformats.org/officeDocument/2006/relationships/font" Target="fonts/RalewaySemiBold-regular.fntdata"/><Relationship Id="rId44" Type="http://schemas.openxmlformats.org/officeDocument/2006/relationships/font" Target="fonts/BarlowLight-italic.fntdata"/><Relationship Id="rId21" Type="http://schemas.openxmlformats.org/officeDocument/2006/relationships/font" Target="fonts/Raleway-boldItalic.fntdata"/><Relationship Id="rId43" Type="http://schemas.openxmlformats.org/officeDocument/2006/relationships/font" Target="fonts/BarlowLight-bold.fntdata"/><Relationship Id="rId24" Type="http://schemas.openxmlformats.org/officeDocument/2006/relationships/font" Target="fonts/RalewaySemiBold-italic.fntdata"/><Relationship Id="rId46" Type="http://schemas.openxmlformats.org/officeDocument/2006/relationships/font" Target="fonts/Barlow-bold.fntdata"/><Relationship Id="rId23" Type="http://schemas.openxmlformats.org/officeDocument/2006/relationships/font" Target="fonts/RalewaySemiBold-bold.fntdata"/><Relationship Id="rId45" Type="http://schemas.openxmlformats.org/officeDocument/2006/relationships/font" Target="fonts/BarlowLigh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regular.fntdata"/><Relationship Id="rId48" Type="http://customschemas.google.com/relationships/presentationmetadata" Target="metadata"/><Relationship Id="rId25" Type="http://schemas.openxmlformats.org/officeDocument/2006/relationships/font" Target="fonts/RalewaySemiBold-boldItalic.fntdata"/><Relationship Id="rId47" Type="http://schemas.openxmlformats.org/officeDocument/2006/relationships/font" Target="fonts/Barlow-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ublicSans-boldItalic.fntdata"/><Relationship Id="rId30" Type="http://schemas.openxmlformats.org/officeDocument/2006/relationships/font" Target="fonts/PublicSans-bold.fntdata"/><Relationship Id="rId11" Type="http://schemas.openxmlformats.org/officeDocument/2006/relationships/slide" Target="slides/slide5.xml"/><Relationship Id="rId33" Type="http://schemas.openxmlformats.org/officeDocument/2006/relationships/font" Target="fonts/BarlowMedium-bold.fntdata"/><Relationship Id="rId10" Type="http://schemas.openxmlformats.org/officeDocument/2006/relationships/slide" Target="slides/slide4.xml"/><Relationship Id="rId32" Type="http://schemas.openxmlformats.org/officeDocument/2006/relationships/font" Target="fonts/BarlowMedium-regular.fntdata"/><Relationship Id="rId13" Type="http://schemas.openxmlformats.org/officeDocument/2006/relationships/slide" Target="slides/slide7.xml"/><Relationship Id="rId35" Type="http://schemas.openxmlformats.org/officeDocument/2006/relationships/font" Target="fonts/BarlowMedium-boldItalic.fntdata"/><Relationship Id="rId12" Type="http://schemas.openxmlformats.org/officeDocument/2006/relationships/slide" Target="slides/slide6.xml"/><Relationship Id="rId34" Type="http://schemas.openxmlformats.org/officeDocument/2006/relationships/font" Target="fonts/BarlowMedium-italic.fntdata"/><Relationship Id="rId15" Type="http://schemas.openxmlformats.org/officeDocument/2006/relationships/slide" Target="slides/slide9.xml"/><Relationship Id="rId37" Type="http://schemas.openxmlformats.org/officeDocument/2006/relationships/font" Target="fonts/RalewayMedium-bold.fntdata"/><Relationship Id="rId14" Type="http://schemas.openxmlformats.org/officeDocument/2006/relationships/slide" Target="slides/slide8.xml"/><Relationship Id="rId36" Type="http://schemas.openxmlformats.org/officeDocument/2006/relationships/font" Target="fonts/RalewayMedium-regular.fntdata"/><Relationship Id="rId17" Type="http://schemas.openxmlformats.org/officeDocument/2006/relationships/slide" Target="slides/slide11.xml"/><Relationship Id="rId39" Type="http://schemas.openxmlformats.org/officeDocument/2006/relationships/font" Target="fonts/RalewayMedium-boldItalic.fntdata"/><Relationship Id="rId16" Type="http://schemas.openxmlformats.org/officeDocument/2006/relationships/slide" Target="slides/slide10.xml"/><Relationship Id="rId38" Type="http://schemas.openxmlformats.org/officeDocument/2006/relationships/font" Target="fonts/RalewayMedium-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afternoon, my name is Alexandria Noikovitch, and today, I’ll share key insights from our analysis of the Miraculon-B clinical trial. Our focus was to identify which patients are most likely to benefit from this treatment and how these findings can support GSK’s mission of delivering targeted, effective therapies.</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3" name="Google Shape;103;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4" name="Google Shape;104;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analysis focused on two key questions: First, is Miraculon-B more effective than the standard of care? And second, what patient-specific factors—such as age, BMI, and protein concentration—predict whether a patient will respond positively to treatment? By addressing these questions, we aim to provide actionable insights that help deliver personalized care and maximize the drug’s impact.</a:t>
            </a:r>
            <a:endParaRPr/>
          </a:p>
        </p:txBody>
      </p:sp>
      <p:sp>
        <p:nvSpPr>
          <p:cNvPr id="106" name="Google Shape;106;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7" name="Google Shape;107;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5" name="Google Shape;115;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6" name="Google Shape;116;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By addressing these questions, we aim to provide actionable insights that help deliver personalized care and maximize the drug’s impact.</a:t>
            </a:r>
            <a:endParaRPr/>
          </a:p>
        </p:txBody>
      </p:sp>
      <p:sp>
        <p:nvSpPr>
          <p:cNvPr id="118" name="Google Shape;118;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9" name="Google Shape;119;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6" name="Google Shape;136;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37" name="Google Shape;137;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answer these questions, we used both quantitative and qualitative methods. On the quantitative side, we analyzed statistical patterns like averages, variation, and response rates. We applied statistical tests to identify meaningful differences and used machine learning models, such as Random Forest and Support Vector Machines, to validate our findings and improve prediction accuracy.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qualitative side, we considered the broader clinical context, analyzing how these factors interact and their potential implications for personalized care. Together, these approaches ensure that our findings are both statistically robust and clinically meaningful.</a:t>
            </a:r>
            <a:endParaRPr/>
          </a:p>
        </p:txBody>
      </p:sp>
      <p:sp>
        <p:nvSpPr>
          <p:cNvPr id="139" name="Google Shape;139;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40" name="Google Shape;140;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54" name="Google Shape;154;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55" name="Google Shape;155;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let's explore the findings.</a:t>
            </a:r>
            <a:endParaRPr/>
          </a:p>
        </p:txBody>
      </p:sp>
      <p:sp>
        <p:nvSpPr>
          <p:cNvPr id="157" name="Google Shape;157;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8" name="Google Shape;158;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7" name="Google Shape;167;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8" name="Google Shape;168;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of the first steps was comparing Miraculon-B to the standard of care. The results are clear: Miraculon-B had significantly higher response rates.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control group, 33% of patients responded positively, as shown by the smaller orange bar. In contrast, 55% of patients in the Miraculon-B group responded positively. This means nearly twice as many patients benefited from the drug.*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difference is statistically significant, confirming that Miraculon-B offers a superior treatment option. These results demonstrate the potential for Miraculon-B to outperform current treatments, making it a valuable solution for patients and clinicians alike.</a:t>
            </a:r>
            <a:endParaRPr/>
          </a:p>
        </p:txBody>
      </p:sp>
      <p:sp>
        <p:nvSpPr>
          <p:cNvPr id="170" name="Google Shape;170;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1" name="Google Shape;171;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83" name="Google Shape;183;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84" name="Google Shape;184;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were 3 key factors impacting the tumour treatment response they were age, bmi and the protein concentration.</a:t>
            </a:r>
            <a:endParaRPr/>
          </a:p>
        </p:txBody>
      </p:sp>
      <p:sp>
        <p:nvSpPr>
          <p:cNvPr id="186" name="Google Shape;186;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7" name="Google Shape;187;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0" name="Google Shape;210;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1" name="Google Shape;211;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then looked at specific factors that influence response, starting with age. Our analysis showed that younger patients are significantly more likely to respond to Miraculon-B.</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Using a statistical test called a T-test, we compared the average age of responders and non-responders. The results showed a meaningful difference, with responders being younger on average.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As shown in this boxplot, the median age for responders is lower than for non-responders, making age an important predictor when deciding which patients may benefit most from the treatment.</a:t>
            </a:r>
            <a:endParaRPr/>
          </a:p>
        </p:txBody>
      </p:sp>
      <p:sp>
        <p:nvSpPr>
          <p:cNvPr id="213" name="Google Shape;213;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4" name="Google Shape;214;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3" name="Google Shape;243;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4" name="Google Shape;244;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Next, we analyzed BMI, or Body Mass Index, and found it to be a strong predictor of treatment response. Patients with higher BMI values were significantly more likely to respond to Miraculon-B.</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finding was validated using an ANOVA test, which confirmed the difference in BMI between responders and non-responders.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this boxplot, you can see that responders have higher BMI values than non-responders. By considering BMI in treatment decisions, we can identify patients who are most likely to benefit, ensuring better outcomes and more efficient use of the drug.</a:t>
            </a:r>
            <a:endParaRPr/>
          </a:p>
        </p:txBody>
      </p:sp>
      <p:sp>
        <p:nvSpPr>
          <p:cNvPr id="246" name="Google Shape;246;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7" name="Google Shape;247;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8" name="Google Shape;278;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9" name="Google Shape;279;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third factor is protein concentration, a potential biomarker. Our analysis revealed that patients with lower protein concentrations are significantly more likely to respond positively to Miraculon-B.</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Correlation analysis confirmed this relationship, showing a strong negative link between protein levels and response likelihood.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boxplot illustrates how responders consistently have lower protein concentrations compared to non-responders. This makes protein concentration a critical biomarker for tailoring treatment plans and delivering personalized care.</a:t>
            </a:r>
            <a:endParaRPr/>
          </a:p>
        </p:txBody>
      </p:sp>
      <p:sp>
        <p:nvSpPr>
          <p:cNvPr id="281" name="Google Shape;281;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82" name="Google Shape;282;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2" name="Google Shape;312;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3" name="Google Shape;313;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validate these findings, we used two machine learning models: Random Forest and Support Vector Machine.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Random Forest model identified BMI and protein concentration as the top predictors of treatment response. This bar chart shows their importance, confirming their critical role in identifying responders. The model achieved an accuracy of 85%, meaning it correctly predicted response in most cases.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Support Vector Machine model further validated these insights. This decision boundary plot shows how the model separates responders, shown in orange, from non-responders, shown in gray, based on BMI and protein concentration. These tools provide confidence in our findings and can support clinicians in making better, personalized treatment decisions.</a:t>
            </a:r>
            <a:endParaRPr/>
          </a:p>
        </p:txBody>
      </p:sp>
      <p:sp>
        <p:nvSpPr>
          <p:cNvPr id="315" name="Google Shape;315;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16" name="Google Shape;316;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25" name="Google Shape;325;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26" name="Google Shape;326;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conclusion, Miraculon-B has been shown to significantly improve response rates compared to the standard of care. Our analysis identified three key predictors—age, BMI, and protein concentration—which can guide personalized treatment decisions. These findings not only enhance patient outcomes but also strengthen GSK’s position in advancing precision medicine.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Looking ahead, we recommend validating these insights with larger datasets and developing a decision-support tool to help clinicians apply these findings in practice.</a:t>
            </a:r>
            <a:endParaRPr/>
          </a:p>
        </p:txBody>
      </p:sp>
      <p:sp>
        <p:nvSpPr>
          <p:cNvPr id="328" name="Google Shape;328;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29" name="Google Shape;329;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3"/>
          <p:cNvSpPr/>
          <p:nvPr>
            <p:ph idx="2" type="pic"/>
          </p:nvPr>
        </p:nvSpPr>
        <p:spPr>
          <a:xfrm>
            <a:off x="1792288" y="612775"/>
            <a:ext cx="5486400" cy="4114800"/>
          </a:xfrm>
          <a:prstGeom prst="rect">
            <a:avLst/>
          </a:prstGeom>
          <a:noFill/>
          <a:ln>
            <a:noFill/>
          </a:ln>
        </p:spPr>
      </p:sp>
      <p:sp>
        <p:nvSpPr>
          <p:cNvPr id="68" name="Google Shape;68;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jp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0277" l="-15191" r="0" t="-26416"/>
            </a:stretch>
          </a:blipFill>
          <a:ln>
            <a:noFill/>
          </a:ln>
        </p:spPr>
      </p:sp>
      <p:sp>
        <p:nvSpPr>
          <p:cNvPr id="93" name="Google Shape;93;p1"/>
          <p:cNvSpPr/>
          <p:nvPr/>
        </p:nvSpPr>
        <p:spPr>
          <a:xfrm>
            <a:off x="8439843" y="6531608"/>
            <a:ext cx="1408314" cy="89780"/>
          </a:xfrm>
          <a:custGeom>
            <a:rect b="b" l="l" r="r" t="t"/>
            <a:pathLst>
              <a:path extrusionOk="0" h="89780" w="1408314">
                <a:moveTo>
                  <a:pt x="0" y="0"/>
                </a:moveTo>
                <a:lnTo>
                  <a:pt x="1408314" y="0"/>
                </a:lnTo>
                <a:lnTo>
                  <a:pt x="1408314" y="89780"/>
                </a:lnTo>
                <a:lnTo>
                  <a:pt x="0" y="89780"/>
                </a:lnTo>
                <a:lnTo>
                  <a:pt x="0" y="0"/>
                </a:lnTo>
                <a:close/>
              </a:path>
            </a:pathLst>
          </a:custGeom>
          <a:blipFill rotWithShape="1">
            <a:blip r:embed="rId4">
              <a:alphaModFix/>
            </a:blip>
            <a:stretch>
              <a:fillRect b="0" l="0" r="0" t="0"/>
            </a:stretch>
          </a:blipFill>
          <a:ln>
            <a:noFill/>
          </a:ln>
        </p:spPr>
      </p:sp>
      <p:sp>
        <p:nvSpPr>
          <p:cNvPr id="94" name="Google Shape;94;p1"/>
          <p:cNvSpPr/>
          <p:nvPr/>
        </p:nvSpPr>
        <p:spPr>
          <a:xfrm>
            <a:off x="15985352" y="219297"/>
            <a:ext cx="2003607" cy="1127029"/>
          </a:xfrm>
          <a:custGeom>
            <a:rect b="b" l="l" r="r" t="t"/>
            <a:pathLst>
              <a:path extrusionOk="0" h="1127029" w="2003607">
                <a:moveTo>
                  <a:pt x="0" y="0"/>
                </a:moveTo>
                <a:lnTo>
                  <a:pt x="2003607" y="0"/>
                </a:lnTo>
                <a:lnTo>
                  <a:pt x="2003607" y="1127029"/>
                </a:lnTo>
                <a:lnTo>
                  <a:pt x="0" y="1127029"/>
                </a:lnTo>
                <a:lnTo>
                  <a:pt x="0" y="0"/>
                </a:lnTo>
                <a:close/>
              </a:path>
            </a:pathLst>
          </a:custGeom>
          <a:blipFill rotWithShape="1">
            <a:blip r:embed="rId5">
              <a:alphaModFix/>
            </a:blip>
            <a:stretch>
              <a:fillRect b="0" l="0" r="0" t="0"/>
            </a:stretch>
          </a:blipFill>
          <a:ln>
            <a:noFill/>
          </a:ln>
        </p:spPr>
      </p:sp>
      <p:sp>
        <p:nvSpPr>
          <p:cNvPr id="95" name="Google Shape;95;p1"/>
          <p:cNvSpPr/>
          <p:nvPr/>
        </p:nvSpPr>
        <p:spPr>
          <a:xfrm>
            <a:off x="15685286" y="1346326"/>
            <a:ext cx="2303673" cy="898433"/>
          </a:xfrm>
          <a:custGeom>
            <a:rect b="b" l="l" r="r" t="t"/>
            <a:pathLst>
              <a:path extrusionOk="0" h="898433" w="2303673">
                <a:moveTo>
                  <a:pt x="0" y="0"/>
                </a:moveTo>
                <a:lnTo>
                  <a:pt x="2303673" y="0"/>
                </a:lnTo>
                <a:lnTo>
                  <a:pt x="2303673" y="898432"/>
                </a:lnTo>
                <a:lnTo>
                  <a:pt x="0" y="898432"/>
                </a:lnTo>
                <a:lnTo>
                  <a:pt x="0" y="0"/>
                </a:lnTo>
                <a:close/>
              </a:path>
            </a:pathLst>
          </a:custGeom>
          <a:blipFill rotWithShape="1">
            <a:blip r:embed="rId6">
              <a:alphaModFix/>
            </a:blip>
            <a:stretch>
              <a:fillRect b="0" l="0" r="0" t="0"/>
            </a:stretch>
          </a:blipFill>
          <a:ln>
            <a:noFill/>
          </a:ln>
        </p:spPr>
      </p:sp>
      <p:sp>
        <p:nvSpPr>
          <p:cNvPr id="96" name="Google Shape;96;p1"/>
          <p:cNvSpPr txBox="1"/>
          <p:nvPr/>
        </p:nvSpPr>
        <p:spPr>
          <a:xfrm>
            <a:off x="6270393" y="2962412"/>
            <a:ext cx="5747214" cy="243205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None/>
            </a:pPr>
            <a:r>
              <a:rPr b="0" i="0" lang="en-US" sz="6999" u="none" cap="none" strike="noStrike">
                <a:solidFill>
                  <a:srgbClr val="F5F5F5"/>
                </a:solidFill>
                <a:latin typeface="Open Sans ExtraBold"/>
                <a:ea typeface="Open Sans ExtraBold"/>
                <a:cs typeface="Open Sans ExtraBold"/>
                <a:sym typeface="Open Sans ExtraBold"/>
              </a:rPr>
              <a:t>Miraculon-B </a:t>
            </a:r>
            <a:endParaRPr/>
          </a:p>
          <a:p>
            <a:pPr indent="0" lvl="0" marL="0" marR="0" rtl="0" algn="l">
              <a:lnSpc>
                <a:spcPct val="140005"/>
              </a:lnSpc>
              <a:spcBef>
                <a:spcPts val="0"/>
              </a:spcBef>
              <a:spcAft>
                <a:spcPts val="0"/>
              </a:spcAft>
              <a:buNone/>
            </a:pPr>
            <a:r>
              <a:t/>
            </a:r>
            <a:endParaRPr b="0" i="0" sz="6999" u="none" cap="none" strike="noStrike">
              <a:solidFill>
                <a:srgbClr val="F5F5F5"/>
              </a:solidFill>
              <a:latin typeface="Open Sans ExtraBold"/>
              <a:ea typeface="Open Sans ExtraBold"/>
              <a:cs typeface="Open Sans ExtraBold"/>
              <a:sym typeface="Open Sans ExtraBold"/>
            </a:endParaRPr>
          </a:p>
        </p:txBody>
      </p:sp>
      <p:sp>
        <p:nvSpPr>
          <p:cNvPr id="97" name="Google Shape;97;p1"/>
          <p:cNvSpPr txBox="1"/>
          <p:nvPr/>
        </p:nvSpPr>
        <p:spPr>
          <a:xfrm>
            <a:off x="9522785" y="4294456"/>
            <a:ext cx="56160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None/>
            </a:pPr>
            <a:r>
              <a:rPr b="0" i="0" lang="en-US" sz="6999" u="none" cap="none" strike="noStrike">
                <a:solidFill>
                  <a:srgbClr val="EA6F08"/>
                </a:solidFill>
                <a:latin typeface="Open Sans ExtraBold"/>
                <a:ea typeface="Open Sans ExtraBold"/>
                <a:cs typeface="Open Sans ExtraBold"/>
                <a:sym typeface="Open Sans ExtraBold"/>
              </a:rPr>
              <a:t>Insights</a:t>
            </a:r>
            <a:endParaRPr/>
          </a:p>
        </p:txBody>
      </p:sp>
      <p:sp>
        <p:nvSpPr>
          <p:cNvPr id="98" name="Google Shape;98;p1"/>
          <p:cNvSpPr txBox="1"/>
          <p:nvPr/>
        </p:nvSpPr>
        <p:spPr>
          <a:xfrm>
            <a:off x="5224016" y="5684270"/>
            <a:ext cx="7839969" cy="49085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800" u="none" cap="none" strike="noStrike">
                <a:solidFill>
                  <a:srgbClr val="F5F5F5"/>
                </a:solidFill>
                <a:latin typeface="Lato"/>
                <a:ea typeface="Lato"/>
                <a:cs typeface="Lato"/>
                <a:sym typeface="Lato"/>
              </a:rPr>
              <a:t>Identifying Patients Who Benefit Most</a:t>
            </a:r>
            <a:endParaRPr/>
          </a:p>
        </p:txBody>
      </p:sp>
      <p:sp>
        <p:nvSpPr>
          <p:cNvPr id="99" name="Google Shape;99;p1"/>
          <p:cNvSpPr txBox="1"/>
          <p:nvPr/>
        </p:nvSpPr>
        <p:spPr>
          <a:xfrm>
            <a:off x="3735698" y="2785495"/>
            <a:ext cx="5906703" cy="2432050"/>
          </a:xfrm>
          <a:prstGeom prst="rect">
            <a:avLst/>
          </a:prstGeom>
          <a:noFill/>
          <a:ln>
            <a:noFill/>
          </a:ln>
        </p:spPr>
        <p:txBody>
          <a:bodyPr anchorCtr="0" anchor="t" bIns="0" lIns="0" spcFirstLastPara="1" rIns="0" wrap="square" tIns="0">
            <a:spAutoFit/>
          </a:bodyPr>
          <a:lstStyle/>
          <a:p>
            <a:pPr indent="0" lvl="0" marL="0" marR="0" rtl="0" algn="l">
              <a:lnSpc>
                <a:spcPct val="5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lnSpc>
                <a:spcPct val="140005"/>
              </a:lnSpc>
              <a:spcBef>
                <a:spcPts val="0"/>
              </a:spcBef>
              <a:spcAft>
                <a:spcPts val="0"/>
              </a:spcAft>
              <a:buNone/>
            </a:pPr>
            <a:r>
              <a:rPr b="0" i="0" lang="en-US" sz="6999" u="none" cap="none" strike="noStrike">
                <a:solidFill>
                  <a:srgbClr val="F5F5F5"/>
                </a:solidFill>
                <a:latin typeface="Open Sans ExtraBold"/>
                <a:ea typeface="Open Sans ExtraBold"/>
                <a:cs typeface="Open Sans ExtraBold"/>
                <a:sym typeface="Open Sans ExtraBold"/>
              </a:rPr>
              <a:t>Clinical Trial</a:t>
            </a:r>
            <a:endParaRPr/>
          </a:p>
        </p:txBody>
      </p:sp>
      <p:sp>
        <p:nvSpPr>
          <p:cNvPr id="100" name="Google Shape;100;p1"/>
          <p:cNvSpPr txBox="1"/>
          <p:nvPr/>
        </p:nvSpPr>
        <p:spPr>
          <a:xfrm>
            <a:off x="5224016" y="7087944"/>
            <a:ext cx="7839900" cy="2844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800" u="none" cap="none" strike="noStrike">
                <a:solidFill>
                  <a:srgbClr val="EA6F08"/>
                </a:solidFill>
                <a:latin typeface="Lato"/>
                <a:ea typeface="Lato"/>
                <a:cs typeface="Lato"/>
                <a:sym typeface="Lato"/>
              </a:rPr>
              <a:t>Presented By: </a:t>
            </a:r>
            <a:endParaRPr/>
          </a:p>
          <a:p>
            <a:pPr indent="0" lvl="0" marL="0" marR="0" rtl="0" algn="ctr">
              <a:lnSpc>
                <a:spcPct val="140000"/>
              </a:lnSpc>
              <a:spcBef>
                <a:spcPts val="0"/>
              </a:spcBef>
              <a:spcAft>
                <a:spcPts val="0"/>
              </a:spcAft>
              <a:buNone/>
            </a:pPr>
            <a:r>
              <a:rPr b="0" i="0" lang="en-US" sz="2800" u="none" cap="none" strike="noStrike">
                <a:solidFill>
                  <a:srgbClr val="EA6F08"/>
                </a:solidFill>
                <a:latin typeface="Lato"/>
                <a:ea typeface="Lato"/>
                <a:cs typeface="Lato"/>
                <a:sym typeface="Lato"/>
              </a:rPr>
              <a:t>Alexandria Noikovitch</a:t>
            </a:r>
            <a:endParaRPr/>
          </a:p>
          <a:p>
            <a:pPr indent="0" lvl="0" marL="0" marR="0" rtl="0" algn="ctr">
              <a:lnSpc>
                <a:spcPct val="140000"/>
              </a:lnSpc>
              <a:spcBef>
                <a:spcPts val="0"/>
              </a:spcBef>
              <a:spcAft>
                <a:spcPts val="0"/>
              </a:spcAft>
              <a:buNone/>
            </a:pPr>
            <a:r>
              <a:rPr lang="en-US" sz="2800">
                <a:solidFill>
                  <a:srgbClr val="EA6F08"/>
                </a:solidFill>
                <a:latin typeface="Lato"/>
                <a:ea typeface="Lato"/>
                <a:cs typeface="Lato"/>
                <a:sym typeface="Lato"/>
              </a:rPr>
              <a:t>University Of Portsmouth Graduate</a:t>
            </a:r>
            <a:r>
              <a:rPr b="0" i="0" lang="en-US" sz="2800" u="none" cap="none" strike="noStrike">
                <a:solidFill>
                  <a:srgbClr val="EA6F08"/>
                </a:solidFill>
                <a:latin typeface="Lato"/>
                <a:ea typeface="Lato"/>
                <a:cs typeface="Lato"/>
                <a:sym typeface="Lato"/>
              </a:rPr>
              <a:t> (2024)</a:t>
            </a:r>
            <a:endParaRPr/>
          </a:p>
          <a:p>
            <a:pPr indent="0" lvl="0" marL="0" marR="0" rtl="0" algn="ctr">
              <a:lnSpc>
                <a:spcPct val="140000"/>
              </a:lnSpc>
              <a:spcBef>
                <a:spcPts val="0"/>
              </a:spcBef>
              <a:spcAft>
                <a:spcPts val="0"/>
              </a:spcAft>
              <a:buNone/>
            </a:pPr>
            <a:r>
              <a:rPr lang="en-US" sz="2800">
                <a:solidFill>
                  <a:srgbClr val="EA6F08"/>
                </a:solidFill>
                <a:latin typeface="Lato"/>
                <a:ea typeface="Lato"/>
                <a:cs typeface="Lato"/>
                <a:sym typeface="Lato"/>
              </a:rPr>
              <a:t>Performed Using R-Language</a:t>
            </a:r>
            <a:endParaRPr/>
          </a:p>
          <a:p>
            <a:pPr indent="0" lvl="0" marL="0" marR="0" rtl="0" algn="ctr">
              <a:lnSpc>
                <a:spcPct val="140000"/>
              </a:lnSpc>
              <a:spcBef>
                <a:spcPts val="0"/>
              </a:spcBef>
              <a:spcAft>
                <a:spcPts val="0"/>
              </a:spcAft>
              <a:buNone/>
            </a:pPr>
            <a:r>
              <a:t/>
            </a:r>
            <a:endParaRPr b="0" i="0" sz="2800" u="none" cap="none" strike="noStrike">
              <a:solidFill>
                <a:srgbClr val="EA6F08"/>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699"/>
        </a:solidFill>
      </p:bgPr>
    </p:bg>
    <p:spTree>
      <p:nvGrpSpPr>
        <p:cNvPr id="108" name="Shape 108"/>
        <p:cNvGrpSpPr/>
        <p:nvPr/>
      </p:nvGrpSpPr>
      <p:grpSpPr>
        <a:xfrm>
          <a:off x="0" y="0"/>
          <a:ext cx="0" cy="0"/>
          <a:chOff x="0" y="0"/>
          <a:chExt cx="0" cy="0"/>
        </a:xfrm>
      </p:grpSpPr>
      <p:sp>
        <p:nvSpPr>
          <p:cNvPr id="109" name="Google Shape;109;p2"/>
          <p:cNvSpPr txBox="1"/>
          <p:nvPr/>
        </p:nvSpPr>
        <p:spPr>
          <a:xfrm>
            <a:off x="3222669" y="3719554"/>
            <a:ext cx="12801519" cy="4117340"/>
          </a:xfrm>
          <a:prstGeom prst="rect">
            <a:avLst/>
          </a:prstGeom>
          <a:noFill/>
          <a:ln>
            <a:noFill/>
          </a:ln>
        </p:spPr>
        <p:txBody>
          <a:bodyPr anchorCtr="0" anchor="t" bIns="0" lIns="0" spcFirstLastPara="1" rIns="0" wrap="square" tIns="0">
            <a:spAutoFit/>
          </a:bodyPr>
          <a:lstStyle/>
          <a:p>
            <a:pPr indent="-302260" lvl="1" marL="604519" marR="0" rtl="0" algn="l">
              <a:lnSpc>
                <a:spcPct val="130010"/>
              </a:lnSpc>
              <a:spcBef>
                <a:spcPts val="0"/>
              </a:spcBef>
              <a:spcAft>
                <a:spcPts val="0"/>
              </a:spcAft>
              <a:buClr>
                <a:srgbClr val="000000"/>
              </a:buClr>
              <a:buSzPts val="2799"/>
              <a:buFont typeface="Arial"/>
              <a:buChar char="•"/>
            </a:pPr>
            <a:r>
              <a:rPr b="0" i="0" lang="en-US" sz="2799" u="none" cap="none" strike="noStrike">
                <a:solidFill>
                  <a:srgbClr val="000000"/>
                </a:solidFill>
                <a:latin typeface="Barlow Light"/>
                <a:ea typeface="Barlow Light"/>
                <a:cs typeface="Barlow Light"/>
                <a:sym typeface="Barlow Light"/>
              </a:rPr>
              <a:t>Purpose: Analyse data from the Miraculon-B clinical trial.</a:t>
            </a:r>
            <a:endParaRPr/>
          </a:p>
          <a:p>
            <a:pPr indent="0" lvl="0" marL="0" marR="0" rtl="0" algn="l">
              <a:lnSpc>
                <a:spcPct val="130010"/>
              </a:lnSpc>
              <a:spcBef>
                <a:spcPts val="0"/>
              </a:spcBef>
              <a:spcAft>
                <a:spcPts val="0"/>
              </a:spcAft>
              <a:buNone/>
            </a:pPr>
            <a:r>
              <a:t/>
            </a:r>
            <a:endParaRPr b="0" i="0" sz="2799" u="none" cap="none" strike="noStrike">
              <a:solidFill>
                <a:srgbClr val="000000"/>
              </a:solidFill>
              <a:latin typeface="Barlow Light"/>
              <a:ea typeface="Barlow Light"/>
              <a:cs typeface="Barlow Light"/>
              <a:sym typeface="Barlow Light"/>
            </a:endParaRPr>
          </a:p>
          <a:p>
            <a:pPr indent="-302260" lvl="1" marL="604519" marR="0" rtl="0" algn="l">
              <a:lnSpc>
                <a:spcPct val="130010"/>
              </a:lnSpc>
              <a:spcBef>
                <a:spcPts val="0"/>
              </a:spcBef>
              <a:spcAft>
                <a:spcPts val="0"/>
              </a:spcAft>
              <a:buClr>
                <a:srgbClr val="000000"/>
              </a:buClr>
              <a:buSzPts val="2799"/>
              <a:buFont typeface="Arial"/>
              <a:buChar char="•"/>
            </a:pPr>
            <a:r>
              <a:rPr b="0" i="0" lang="en-US" sz="2799" u="none" cap="none" strike="noStrike">
                <a:solidFill>
                  <a:srgbClr val="000000"/>
                </a:solidFill>
                <a:latin typeface="Barlow Light"/>
                <a:ea typeface="Barlow Light"/>
                <a:cs typeface="Barlow Light"/>
                <a:sym typeface="Barlow Light"/>
              </a:rPr>
              <a:t>Key Focus:</a:t>
            </a:r>
            <a:endParaRPr/>
          </a:p>
          <a:p>
            <a:pPr indent="-302260" lvl="1" marL="604519" marR="0" rtl="0" algn="l">
              <a:lnSpc>
                <a:spcPct val="130010"/>
              </a:lnSpc>
              <a:spcBef>
                <a:spcPts val="0"/>
              </a:spcBef>
              <a:spcAft>
                <a:spcPts val="0"/>
              </a:spcAft>
              <a:buClr>
                <a:srgbClr val="000000"/>
              </a:buClr>
              <a:buSzPts val="2799"/>
              <a:buFont typeface="Barlow Light"/>
              <a:buAutoNum type="arabicPeriod"/>
            </a:pPr>
            <a:r>
              <a:rPr b="0" i="0" lang="en-US" sz="2799" u="none" cap="none" strike="noStrike">
                <a:solidFill>
                  <a:srgbClr val="000000"/>
                </a:solidFill>
                <a:latin typeface="Barlow Light"/>
                <a:ea typeface="Barlow Light"/>
                <a:cs typeface="Barlow Light"/>
                <a:sym typeface="Barlow Light"/>
              </a:rPr>
              <a:t>Is Miraculon-B more effective than the standard of care?</a:t>
            </a:r>
            <a:endParaRPr/>
          </a:p>
          <a:p>
            <a:pPr indent="-302260" lvl="1" marL="604519" marR="0" rtl="0" algn="l">
              <a:lnSpc>
                <a:spcPct val="130010"/>
              </a:lnSpc>
              <a:spcBef>
                <a:spcPts val="0"/>
              </a:spcBef>
              <a:spcAft>
                <a:spcPts val="0"/>
              </a:spcAft>
              <a:buClr>
                <a:srgbClr val="000000"/>
              </a:buClr>
              <a:buSzPts val="2799"/>
              <a:buFont typeface="Barlow Light"/>
              <a:buAutoNum type="arabicPeriod"/>
            </a:pPr>
            <a:r>
              <a:rPr b="0" i="0" lang="en-US" sz="2799" u="none" cap="none" strike="noStrike">
                <a:solidFill>
                  <a:srgbClr val="000000"/>
                </a:solidFill>
                <a:latin typeface="Barlow Light"/>
                <a:ea typeface="Barlow Light"/>
                <a:cs typeface="Barlow Light"/>
                <a:sym typeface="Barlow Light"/>
              </a:rPr>
              <a:t>What factors (age, BMI, protein levels) predict patient response?</a:t>
            </a:r>
            <a:endParaRPr/>
          </a:p>
          <a:p>
            <a:pPr indent="0" lvl="0" marL="0" marR="0" rtl="0" algn="l">
              <a:lnSpc>
                <a:spcPct val="130010"/>
              </a:lnSpc>
              <a:spcBef>
                <a:spcPts val="0"/>
              </a:spcBef>
              <a:spcAft>
                <a:spcPts val="0"/>
              </a:spcAft>
              <a:buNone/>
            </a:pPr>
            <a:r>
              <a:t/>
            </a:r>
            <a:endParaRPr b="0" i="0" sz="2799" u="none" cap="none" strike="noStrike">
              <a:solidFill>
                <a:srgbClr val="000000"/>
              </a:solidFill>
              <a:latin typeface="Barlow Light"/>
              <a:ea typeface="Barlow Light"/>
              <a:cs typeface="Barlow Light"/>
              <a:sym typeface="Barlow Light"/>
            </a:endParaRPr>
          </a:p>
          <a:p>
            <a:pPr indent="-302260" lvl="1" marL="604519" marR="0" rtl="0" algn="l">
              <a:lnSpc>
                <a:spcPct val="130010"/>
              </a:lnSpc>
              <a:spcBef>
                <a:spcPts val="0"/>
              </a:spcBef>
              <a:spcAft>
                <a:spcPts val="0"/>
              </a:spcAft>
              <a:buClr>
                <a:srgbClr val="000000"/>
              </a:buClr>
              <a:buSzPts val="2799"/>
              <a:buFont typeface="Arial"/>
              <a:buChar char="•"/>
            </a:pPr>
            <a:r>
              <a:rPr b="0" i="0" lang="en-US" sz="2799" u="none" cap="none" strike="noStrike">
                <a:solidFill>
                  <a:srgbClr val="000000"/>
                </a:solidFill>
                <a:latin typeface="Barlow Light"/>
                <a:ea typeface="Barlow Light"/>
                <a:cs typeface="Barlow Light"/>
                <a:sym typeface="Barlow Light"/>
              </a:rPr>
              <a:t>Goal: Provide insights to support data-driven decisions for clinicians and stakeholders.</a:t>
            </a:r>
            <a:endParaRPr/>
          </a:p>
          <a:p>
            <a:pPr indent="0" lvl="0" marL="0" marR="0" rtl="0" algn="l">
              <a:lnSpc>
                <a:spcPct val="130046"/>
              </a:lnSpc>
              <a:spcBef>
                <a:spcPts val="0"/>
              </a:spcBef>
              <a:spcAft>
                <a:spcPts val="0"/>
              </a:spcAft>
              <a:buNone/>
            </a:pPr>
            <a:r>
              <a:t/>
            </a:r>
            <a:endParaRPr b="0" i="0" sz="2799" u="none" cap="none" strike="noStrike">
              <a:solidFill>
                <a:srgbClr val="000000"/>
              </a:solidFill>
              <a:latin typeface="Barlow Light"/>
              <a:ea typeface="Barlow Light"/>
              <a:cs typeface="Barlow Light"/>
              <a:sym typeface="Barlow Light"/>
            </a:endParaRPr>
          </a:p>
        </p:txBody>
      </p:sp>
      <p:sp>
        <p:nvSpPr>
          <p:cNvPr id="110" name="Google Shape;110;p2"/>
          <p:cNvSpPr/>
          <p:nvPr/>
        </p:nvSpPr>
        <p:spPr>
          <a:xfrm rot="2417446">
            <a:off x="14488827" y="6854013"/>
            <a:ext cx="3579876" cy="4114800"/>
          </a:xfrm>
          <a:custGeom>
            <a:rect b="b" l="l" r="r" t="t"/>
            <a:pathLst>
              <a:path extrusionOk="0" h="4114800" w="3579876">
                <a:moveTo>
                  <a:pt x="0" y="0"/>
                </a:moveTo>
                <a:lnTo>
                  <a:pt x="3579876" y="0"/>
                </a:lnTo>
                <a:lnTo>
                  <a:pt x="3579876" y="4114800"/>
                </a:lnTo>
                <a:lnTo>
                  <a:pt x="0" y="4114800"/>
                </a:lnTo>
                <a:lnTo>
                  <a:pt x="0" y="0"/>
                </a:lnTo>
                <a:close/>
              </a:path>
            </a:pathLst>
          </a:custGeom>
          <a:blipFill rotWithShape="1">
            <a:blip r:embed="rId3">
              <a:alphaModFix/>
            </a:blip>
            <a:stretch>
              <a:fillRect b="0" l="0" r="0" t="0"/>
            </a:stretch>
          </a:blipFill>
          <a:ln>
            <a:noFill/>
          </a:ln>
        </p:spPr>
      </p:sp>
      <p:sp>
        <p:nvSpPr>
          <p:cNvPr id="111" name="Google Shape;111;p2"/>
          <p:cNvSpPr/>
          <p:nvPr/>
        </p:nvSpPr>
        <p:spPr>
          <a:xfrm rot="-2038830">
            <a:off x="504100" y="-244104"/>
            <a:ext cx="2448094" cy="3260173"/>
          </a:xfrm>
          <a:custGeom>
            <a:rect b="b" l="l" r="r" t="t"/>
            <a:pathLst>
              <a:path extrusionOk="0" h="3260173" w="2448094">
                <a:moveTo>
                  <a:pt x="0" y="0"/>
                </a:moveTo>
                <a:lnTo>
                  <a:pt x="2448094" y="0"/>
                </a:lnTo>
                <a:lnTo>
                  <a:pt x="2448094" y="3260174"/>
                </a:lnTo>
                <a:lnTo>
                  <a:pt x="0" y="3260174"/>
                </a:lnTo>
                <a:lnTo>
                  <a:pt x="0" y="0"/>
                </a:lnTo>
                <a:close/>
              </a:path>
            </a:pathLst>
          </a:custGeom>
          <a:blipFill rotWithShape="1">
            <a:blip r:embed="rId4">
              <a:alphaModFix/>
            </a:blip>
            <a:stretch>
              <a:fillRect b="0" l="0" r="0" t="0"/>
            </a:stretch>
          </a:blipFill>
          <a:ln>
            <a:noFill/>
          </a:ln>
        </p:spPr>
      </p:sp>
      <p:sp>
        <p:nvSpPr>
          <p:cNvPr id="112" name="Google Shape;112;p2"/>
          <p:cNvSpPr txBox="1"/>
          <p:nvPr/>
        </p:nvSpPr>
        <p:spPr>
          <a:xfrm>
            <a:off x="5434647" y="1920769"/>
            <a:ext cx="6800403" cy="1462087"/>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b="1" i="0" lang="en-US" sz="9600" u="none" cap="none" strike="noStrike">
                <a:solidFill>
                  <a:srgbClr val="EA6F08"/>
                </a:solidFill>
                <a:latin typeface="Barlow Medium"/>
                <a:ea typeface="Barlow Medium"/>
                <a:cs typeface="Barlow Medium"/>
                <a:sym typeface="Barlow Medium"/>
              </a:rPr>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grpSp>
        <p:nvGrpSpPr>
          <p:cNvPr id="121" name="Google Shape;121;p3"/>
          <p:cNvGrpSpPr/>
          <p:nvPr/>
        </p:nvGrpSpPr>
        <p:grpSpPr>
          <a:xfrm>
            <a:off x="2057400" y="1679083"/>
            <a:ext cx="5511784" cy="2049654"/>
            <a:chOff x="0" y="-28575"/>
            <a:chExt cx="7349046" cy="2732872"/>
          </a:xfrm>
        </p:grpSpPr>
        <p:sp>
          <p:nvSpPr>
            <p:cNvPr id="122" name="Google Shape;122;p3"/>
            <p:cNvSpPr txBox="1"/>
            <p:nvPr/>
          </p:nvSpPr>
          <p:spPr>
            <a:xfrm>
              <a:off x="0" y="884810"/>
              <a:ext cx="7349046" cy="1819487"/>
            </a:xfrm>
            <a:prstGeom prst="rect">
              <a:avLst/>
            </a:prstGeom>
            <a:noFill/>
            <a:ln>
              <a:noFill/>
            </a:ln>
          </p:spPr>
          <p:txBody>
            <a:bodyPr anchorCtr="0" anchor="t" bIns="0" lIns="0" spcFirstLastPara="1" rIns="0" wrap="square" tIns="0">
              <a:spAutoFit/>
            </a:bodyPr>
            <a:lstStyle/>
            <a:p>
              <a:pPr indent="0" lvl="0" marL="0" marR="0" rtl="0" algn="l">
                <a:lnSpc>
                  <a:spcPct val="130010"/>
                </a:lnSpc>
                <a:spcBef>
                  <a:spcPts val="0"/>
                </a:spcBef>
                <a:spcAft>
                  <a:spcPts val="0"/>
                </a:spcAft>
                <a:buNone/>
              </a:pPr>
              <a:r>
                <a:rPr b="0" i="0" lang="en-US" sz="2799" u="none" cap="none" strike="noStrike">
                  <a:solidFill>
                    <a:srgbClr val="000000"/>
                  </a:solidFill>
                  <a:latin typeface="Barlow Light"/>
                  <a:ea typeface="Barlow Light"/>
                  <a:cs typeface="Barlow Light"/>
                  <a:sym typeface="Barlow Light"/>
                </a:rPr>
                <a:t>Compare Miraculon-B response rates to the control group.</a:t>
              </a:r>
              <a:endParaRPr/>
            </a:p>
            <a:p>
              <a:pPr indent="0" lvl="0" marL="0" marR="0" rtl="0" algn="l">
                <a:lnSpc>
                  <a:spcPct val="130046"/>
                </a:lnSpc>
                <a:spcBef>
                  <a:spcPts val="0"/>
                </a:spcBef>
                <a:spcAft>
                  <a:spcPts val="0"/>
                </a:spcAft>
                <a:buNone/>
              </a:pPr>
              <a:r>
                <a:t/>
              </a:r>
              <a:endParaRPr b="0" i="0" sz="2799" u="none" cap="none" strike="noStrike">
                <a:solidFill>
                  <a:srgbClr val="000000"/>
                </a:solidFill>
                <a:latin typeface="Barlow Light"/>
                <a:ea typeface="Barlow Light"/>
                <a:cs typeface="Barlow Light"/>
                <a:sym typeface="Barlow Light"/>
              </a:endParaRPr>
            </a:p>
          </p:txBody>
        </p:sp>
        <p:sp>
          <p:nvSpPr>
            <p:cNvPr id="123" name="Google Shape;123;p3"/>
            <p:cNvSpPr txBox="1"/>
            <p:nvPr/>
          </p:nvSpPr>
          <p:spPr>
            <a:xfrm>
              <a:off x="0" y="-28575"/>
              <a:ext cx="7349046" cy="67288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200" u="none" cap="none" strike="noStrike">
                  <a:solidFill>
                    <a:srgbClr val="000000"/>
                  </a:solidFill>
                  <a:latin typeface="Barlow Medium"/>
                  <a:ea typeface="Barlow Medium"/>
                  <a:cs typeface="Barlow Medium"/>
                  <a:sym typeface="Barlow Medium"/>
                </a:rPr>
                <a:t>Evaluate Effectiveness</a:t>
              </a:r>
              <a:endParaRPr/>
            </a:p>
          </p:txBody>
        </p:sp>
      </p:grpSp>
      <p:grpSp>
        <p:nvGrpSpPr>
          <p:cNvPr id="124" name="Google Shape;124;p3"/>
          <p:cNvGrpSpPr/>
          <p:nvPr/>
        </p:nvGrpSpPr>
        <p:grpSpPr>
          <a:xfrm>
            <a:off x="6534679" y="4113779"/>
            <a:ext cx="5212389" cy="2049654"/>
            <a:chOff x="0" y="-28575"/>
            <a:chExt cx="6949852" cy="2732872"/>
          </a:xfrm>
        </p:grpSpPr>
        <p:sp>
          <p:nvSpPr>
            <p:cNvPr id="125" name="Google Shape;125;p3"/>
            <p:cNvSpPr txBox="1"/>
            <p:nvPr/>
          </p:nvSpPr>
          <p:spPr>
            <a:xfrm>
              <a:off x="0" y="894335"/>
              <a:ext cx="6949852" cy="1809962"/>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800" u="none" cap="none" strike="noStrike">
                  <a:solidFill>
                    <a:srgbClr val="000000"/>
                  </a:solidFill>
                  <a:latin typeface="Barlow Light"/>
                  <a:ea typeface="Barlow Light"/>
                  <a:cs typeface="Barlow Light"/>
                  <a:sym typeface="Barlow Light"/>
                </a:rPr>
                <a:t>Analyse how age, BMI, and protein levels impact treatment response.</a:t>
              </a:r>
              <a:endParaRPr/>
            </a:p>
          </p:txBody>
        </p:sp>
        <p:sp>
          <p:nvSpPr>
            <p:cNvPr id="126" name="Google Shape;126;p3"/>
            <p:cNvSpPr txBox="1"/>
            <p:nvPr/>
          </p:nvSpPr>
          <p:spPr>
            <a:xfrm>
              <a:off x="0" y="-28575"/>
              <a:ext cx="6949852" cy="67288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200" u="none" cap="none" strike="noStrike">
                  <a:solidFill>
                    <a:srgbClr val="000000"/>
                  </a:solidFill>
                  <a:latin typeface="Barlow Medium"/>
                  <a:ea typeface="Barlow Medium"/>
                  <a:cs typeface="Barlow Medium"/>
                  <a:sym typeface="Barlow Medium"/>
                </a:rPr>
                <a:t>Identify Key Factors</a:t>
              </a:r>
              <a:endParaRPr/>
            </a:p>
          </p:txBody>
        </p:sp>
      </p:grpSp>
      <p:grpSp>
        <p:nvGrpSpPr>
          <p:cNvPr id="127" name="Google Shape;127;p3"/>
          <p:cNvGrpSpPr/>
          <p:nvPr/>
        </p:nvGrpSpPr>
        <p:grpSpPr>
          <a:xfrm>
            <a:off x="10712562" y="7257717"/>
            <a:ext cx="5574792" cy="2049654"/>
            <a:chOff x="0" y="-28575"/>
            <a:chExt cx="7433056" cy="2732872"/>
          </a:xfrm>
        </p:grpSpPr>
        <p:sp>
          <p:nvSpPr>
            <p:cNvPr id="128" name="Google Shape;128;p3"/>
            <p:cNvSpPr txBox="1"/>
            <p:nvPr/>
          </p:nvSpPr>
          <p:spPr>
            <a:xfrm>
              <a:off x="0" y="894335"/>
              <a:ext cx="7433056" cy="1809962"/>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800" u="none" cap="none" strike="noStrike">
                  <a:solidFill>
                    <a:srgbClr val="000000"/>
                  </a:solidFill>
                  <a:latin typeface="Barlow Light"/>
                  <a:ea typeface="Barlow Light"/>
                  <a:cs typeface="Barlow Light"/>
                  <a:sym typeface="Barlow Light"/>
                </a:rPr>
                <a:t>Deliver actionable insights to support decision-making by clinicians and stakeholders.</a:t>
              </a:r>
              <a:endParaRPr/>
            </a:p>
          </p:txBody>
        </p:sp>
        <p:sp>
          <p:nvSpPr>
            <p:cNvPr id="129" name="Google Shape;129;p3"/>
            <p:cNvSpPr txBox="1"/>
            <p:nvPr/>
          </p:nvSpPr>
          <p:spPr>
            <a:xfrm>
              <a:off x="0" y="-28575"/>
              <a:ext cx="7433056" cy="67288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200" u="none" cap="none" strike="noStrike">
                  <a:solidFill>
                    <a:srgbClr val="000000"/>
                  </a:solidFill>
                  <a:latin typeface="Barlow Medium"/>
                  <a:ea typeface="Barlow Medium"/>
                  <a:cs typeface="Barlow Medium"/>
                  <a:sym typeface="Barlow Medium"/>
                </a:rPr>
                <a:t>Provide Data Insights</a:t>
              </a:r>
              <a:endParaRPr/>
            </a:p>
          </p:txBody>
        </p:sp>
      </p:grpSp>
      <p:sp>
        <p:nvSpPr>
          <p:cNvPr id="130" name="Google Shape;130;p3"/>
          <p:cNvSpPr txBox="1"/>
          <p:nvPr/>
        </p:nvSpPr>
        <p:spPr>
          <a:xfrm>
            <a:off x="10353884" y="1019175"/>
            <a:ext cx="6905416" cy="1462087"/>
          </a:xfrm>
          <a:prstGeom prst="rect">
            <a:avLst/>
          </a:prstGeom>
          <a:noFill/>
          <a:ln>
            <a:noFill/>
          </a:ln>
        </p:spPr>
        <p:txBody>
          <a:bodyPr anchorCtr="0" anchor="t" bIns="0" lIns="0" spcFirstLastPara="1" rIns="0" wrap="square" tIns="0">
            <a:spAutoFit/>
          </a:bodyPr>
          <a:lstStyle/>
          <a:p>
            <a:pPr indent="0" lvl="0" marL="0" marR="0" rtl="0" algn="r">
              <a:lnSpc>
                <a:spcPct val="119989"/>
              </a:lnSpc>
              <a:spcBef>
                <a:spcPts val="0"/>
              </a:spcBef>
              <a:spcAft>
                <a:spcPts val="0"/>
              </a:spcAft>
              <a:buNone/>
            </a:pPr>
            <a:r>
              <a:rPr b="1" i="0" lang="en-US" sz="9600" u="none" cap="none" strike="noStrike">
                <a:solidFill>
                  <a:srgbClr val="EA6F08"/>
                </a:solidFill>
                <a:latin typeface="Barlow Medium"/>
                <a:ea typeface="Barlow Medium"/>
                <a:cs typeface="Barlow Medium"/>
                <a:sym typeface="Barlow Medium"/>
              </a:rPr>
              <a:t>Objectives</a:t>
            </a:r>
            <a:endParaRPr/>
          </a:p>
        </p:txBody>
      </p:sp>
      <p:sp>
        <p:nvSpPr>
          <p:cNvPr id="131" name="Google Shape;131;p3"/>
          <p:cNvSpPr/>
          <p:nvPr/>
        </p:nvSpPr>
        <p:spPr>
          <a:xfrm>
            <a:off x="10058626" y="7401434"/>
            <a:ext cx="455517" cy="344536"/>
          </a:xfrm>
          <a:custGeom>
            <a:rect b="b" l="l" r="r" t="t"/>
            <a:pathLst>
              <a:path extrusionOk="0" h="344536" w="455517">
                <a:moveTo>
                  <a:pt x="0" y="0"/>
                </a:moveTo>
                <a:lnTo>
                  <a:pt x="455517" y="0"/>
                </a:lnTo>
                <a:lnTo>
                  <a:pt x="455517" y="344536"/>
                </a:lnTo>
                <a:lnTo>
                  <a:pt x="0" y="344536"/>
                </a:lnTo>
                <a:lnTo>
                  <a:pt x="0" y="0"/>
                </a:lnTo>
                <a:close/>
              </a:path>
            </a:pathLst>
          </a:custGeom>
          <a:blipFill rotWithShape="1">
            <a:blip r:embed="rId3">
              <a:alphaModFix/>
            </a:blip>
            <a:stretch>
              <a:fillRect b="0" l="0" r="0" t="0"/>
            </a:stretch>
          </a:blipFill>
          <a:ln>
            <a:noFill/>
          </a:ln>
        </p:spPr>
      </p:sp>
      <p:sp>
        <p:nvSpPr>
          <p:cNvPr id="132" name="Google Shape;132;p3"/>
          <p:cNvSpPr/>
          <p:nvPr/>
        </p:nvSpPr>
        <p:spPr>
          <a:xfrm>
            <a:off x="5627037" y="4135210"/>
            <a:ext cx="707310" cy="501547"/>
          </a:xfrm>
          <a:custGeom>
            <a:rect b="b" l="l" r="r" t="t"/>
            <a:pathLst>
              <a:path extrusionOk="0" h="501547" w="707310">
                <a:moveTo>
                  <a:pt x="0" y="0"/>
                </a:moveTo>
                <a:lnTo>
                  <a:pt x="707309" y="0"/>
                </a:lnTo>
                <a:lnTo>
                  <a:pt x="707309" y="501546"/>
                </a:lnTo>
                <a:lnTo>
                  <a:pt x="0" y="501546"/>
                </a:lnTo>
                <a:lnTo>
                  <a:pt x="0" y="0"/>
                </a:lnTo>
                <a:close/>
              </a:path>
            </a:pathLst>
          </a:custGeom>
          <a:blipFill rotWithShape="1">
            <a:blip r:embed="rId4">
              <a:alphaModFix/>
            </a:blip>
            <a:stretch>
              <a:fillRect b="0" l="0" r="0" t="0"/>
            </a:stretch>
          </a:blipFill>
          <a:ln>
            <a:noFill/>
          </a:ln>
        </p:spPr>
      </p:sp>
      <p:sp>
        <p:nvSpPr>
          <p:cNvPr id="133" name="Google Shape;133;p3"/>
          <p:cNvSpPr/>
          <p:nvPr/>
        </p:nvSpPr>
        <p:spPr>
          <a:xfrm>
            <a:off x="1438410" y="1700514"/>
            <a:ext cx="441519" cy="564734"/>
          </a:xfrm>
          <a:custGeom>
            <a:rect b="b" l="l" r="r" t="t"/>
            <a:pathLst>
              <a:path extrusionOk="0" h="564734" w="441519">
                <a:moveTo>
                  <a:pt x="0" y="0"/>
                </a:moveTo>
                <a:lnTo>
                  <a:pt x="441519" y="0"/>
                </a:lnTo>
                <a:lnTo>
                  <a:pt x="441519" y="564734"/>
                </a:lnTo>
                <a:lnTo>
                  <a:pt x="0" y="564734"/>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E0E0"/>
        </a:solidFill>
      </p:bgPr>
    </p:bg>
    <p:spTree>
      <p:nvGrpSpPr>
        <p:cNvPr id="141" name="Shape 141"/>
        <p:cNvGrpSpPr/>
        <p:nvPr/>
      </p:nvGrpSpPr>
      <p:grpSpPr>
        <a:xfrm>
          <a:off x="0" y="0"/>
          <a:ext cx="0" cy="0"/>
          <a:chOff x="0" y="0"/>
          <a:chExt cx="0" cy="0"/>
        </a:xfrm>
      </p:grpSpPr>
      <p:sp>
        <p:nvSpPr>
          <p:cNvPr id="142" name="Google Shape;142;p4"/>
          <p:cNvSpPr/>
          <p:nvPr/>
        </p:nvSpPr>
        <p:spPr>
          <a:xfrm>
            <a:off x="9144000" y="4871757"/>
            <a:ext cx="9144000" cy="5415243"/>
          </a:xfrm>
          <a:prstGeom prst="rect">
            <a:avLst/>
          </a:prstGeom>
          <a:solidFill>
            <a:srgbClr val="F7C6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0" y="4871757"/>
            <a:ext cx="9144000" cy="541524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 name="Google Shape;144;p4"/>
          <p:cNvGrpSpPr/>
          <p:nvPr/>
        </p:nvGrpSpPr>
        <p:grpSpPr>
          <a:xfrm>
            <a:off x="705301" y="5122069"/>
            <a:ext cx="6905504" cy="4516826"/>
            <a:chOff x="0" y="-28575"/>
            <a:chExt cx="9207339" cy="6022435"/>
          </a:xfrm>
        </p:grpSpPr>
        <p:sp>
          <p:nvSpPr>
            <p:cNvPr id="145" name="Google Shape;145;p4"/>
            <p:cNvSpPr txBox="1"/>
            <p:nvPr/>
          </p:nvSpPr>
          <p:spPr>
            <a:xfrm>
              <a:off x="0" y="2088187"/>
              <a:ext cx="9207339" cy="3905673"/>
            </a:xfrm>
            <a:prstGeom prst="rect">
              <a:avLst/>
            </a:prstGeom>
            <a:noFill/>
            <a:ln>
              <a:noFill/>
            </a:ln>
          </p:spPr>
          <p:txBody>
            <a:bodyPr anchorCtr="0" anchor="t" bIns="0" lIns="0" spcFirstLastPara="1" rIns="0" wrap="square" tIns="0">
              <a:spAutoFit/>
            </a:bodyPr>
            <a:lstStyle/>
            <a:p>
              <a:pPr indent="-302260" lvl="1" marL="604519" marR="0" rtl="0" algn="l">
                <a:lnSpc>
                  <a:spcPct val="130010"/>
                </a:lnSpc>
                <a:spcBef>
                  <a:spcPts val="0"/>
                </a:spcBef>
                <a:spcAft>
                  <a:spcPts val="0"/>
                </a:spcAft>
                <a:buClr>
                  <a:srgbClr val="000000"/>
                </a:buClr>
                <a:buSzPts val="2799"/>
                <a:buFont typeface="Arial"/>
                <a:buChar char="•"/>
              </a:pPr>
              <a:r>
                <a:rPr b="1" i="0" lang="en-US" sz="2799" u="none" cap="none" strike="noStrike">
                  <a:solidFill>
                    <a:srgbClr val="000000"/>
                  </a:solidFill>
                  <a:latin typeface="Barlow"/>
                  <a:ea typeface="Barlow"/>
                  <a:cs typeface="Barlow"/>
                  <a:sym typeface="Barlow"/>
                </a:rPr>
                <a:t>Clustering</a:t>
              </a:r>
              <a:r>
                <a:rPr b="0" i="0" lang="en-US" sz="2799" u="none" cap="none" strike="noStrike">
                  <a:solidFill>
                    <a:srgbClr val="000000"/>
                  </a:solidFill>
                  <a:latin typeface="Barlow Light"/>
                  <a:ea typeface="Barlow Light"/>
                  <a:cs typeface="Barlow Light"/>
                  <a:sym typeface="Barlow Light"/>
                </a:rPr>
                <a:t>:</a:t>
              </a:r>
              <a:endParaRPr/>
            </a:p>
            <a:p>
              <a:pPr indent="-345441" lvl="2" marL="1036323" marR="0" rtl="0" algn="l">
                <a:lnSpc>
                  <a:spcPct val="130000"/>
                </a:lnSpc>
                <a:spcBef>
                  <a:spcPts val="0"/>
                </a:spcBef>
                <a:spcAft>
                  <a:spcPts val="0"/>
                </a:spcAft>
                <a:buClr>
                  <a:srgbClr val="000000"/>
                </a:buClr>
                <a:buSzPts val="2400"/>
                <a:buFont typeface="Arial"/>
                <a:buChar char="⚬"/>
              </a:pPr>
              <a:r>
                <a:rPr b="0" i="0" lang="en-US" sz="2400" u="none" cap="none" strike="noStrike">
                  <a:solidFill>
                    <a:srgbClr val="000000"/>
                  </a:solidFill>
                  <a:latin typeface="Barlow Light"/>
                  <a:ea typeface="Barlow Light"/>
                  <a:cs typeface="Barlow Light"/>
                  <a:sym typeface="Barlow Light"/>
                </a:rPr>
                <a:t> Grouped patients by age, BMI, and protein levels.</a:t>
              </a:r>
              <a:endParaRPr/>
            </a:p>
            <a:p>
              <a:pPr indent="-302260" lvl="1" marL="604519" marR="0" rtl="0" algn="l">
                <a:lnSpc>
                  <a:spcPct val="130010"/>
                </a:lnSpc>
                <a:spcBef>
                  <a:spcPts val="0"/>
                </a:spcBef>
                <a:spcAft>
                  <a:spcPts val="0"/>
                </a:spcAft>
                <a:buClr>
                  <a:srgbClr val="000000"/>
                </a:buClr>
                <a:buSzPts val="2799"/>
                <a:buFont typeface="Arial"/>
                <a:buChar char="•"/>
              </a:pPr>
              <a:r>
                <a:rPr b="1" i="0" lang="en-US" sz="2799" u="none" cap="none" strike="noStrike">
                  <a:solidFill>
                    <a:srgbClr val="000000"/>
                  </a:solidFill>
                  <a:latin typeface="Barlow"/>
                  <a:ea typeface="Barlow"/>
                  <a:cs typeface="Barlow"/>
                  <a:sym typeface="Barlow"/>
                </a:rPr>
                <a:t>Visuals</a:t>
              </a:r>
              <a:r>
                <a:rPr b="0" i="0" lang="en-US" sz="2799" u="none" cap="none" strike="noStrike">
                  <a:solidFill>
                    <a:srgbClr val="000000"/>
                  </a:solidFill>
                  <a:latin typeface="Barlow Light"/>
                  <a:ea typeface="Barlow Light"/>
                  <a:cs typeface="Barlow Light"/>
                  <a:sym typeface="Barlow Light"/>
                </a:rPr>
                <a:t>:</a:t>
              </a:r>
              <a:endParaRPr/>
            </a:p>
            <a:p>
              <a:pPr indent="-345440" lvl="2" marL="1036320" marR="0" rtl="0" algn="l">
                <a:lnSpc>
                  <a:spcPct val="130000"/>
                </a:lnSpc>
                <a:spcBef>
                  <a:spcPts val="0"/>
                </a:spcBef>
                <a:spcAft>
                  <a:spcPts val="0"/>
                </a:spcAft>
                <a:buClr>
                  <a:srgbClr val="000000"/>
                </a:buClr>
                <a:buSzPts val="2400"/>
                <a:buFont typeface="Arial"/>
                <a:buChar char="⚬"/>
              </a:pPr>
              <a:r>
                <a:rPr b="0" i="0" lang="en-US" sz="2400" u="none" cap="none" strike="noStrike">
                  <a:solidFill>
                    <a:srgbClr val="000000"/>
                  </a:solidFill>
                  <a:latin typeface="Barlow Light"/>
                  <a:ea typeface="Barlow Light"/>
                  <a:cs typeface="Barlow Light"/>
                  <a:sym typeface="Barlow Light"/>
                </a:rPr>
                <a:t>Charts to show key trends.</a:t>
              </a:r>
              <a:endParaRPr/>
            </a:p>
            <a:p>
              <a:pPr indent="-302260" lvl="1" marL="604519" marR="0" rtl="0" algn="l">
                <a:lnSpc>
                  <a:spcPct val="130010"/>
                </a:lnSpc>
                <a:spcBef>
                  <a:spcPts val="0"/>
                </a:spcBef>
                <a:spcAft>
                  <a:spcPts val="0"/>
                </a:spcAft>
                <a:buClr>
                  <a:srgbClr val="000000"/>
                </a:buClr>
                <a:buSzPts val="2799"/>
                <a:buFont typeface="Arial"/>
                <a:buChar char="•"/>
              </a:pPr>
              <a:r>
                <a:rPr b="1" i="0" lang="en-US" sz="2799" u="none" cap="none" strike="noStrike">
                  <a:solidFill>
                    <a:srgbClr val="000000"/>
                  </a:solidFill>
                  <a:latin typeface="Barlow"/>
                  <a:ea typeface="Barlow"/>
                  <a:cs typeface="Barlow"/>
                  <a:sym typeface="Barlow"/>
                </a:rPr>
                <a:t>Data Cleaning</a:t>
              </a:r>
              <a:r>
                <a:rPr b="0" i="0" lang="en-US" sz="2799" u="none" cap="none" strike="noStrike">
                  <a:solidFill>
                    <a:srgbClr val="000000"/>
                  </a:solidFill>
                  <a:latin typeface="Barlow Light"/>
                  <a:ea typeface="Barlow Light"/>
                  <a:cs typeface="Barlow Light"/>
                  <a:sym typeface="Barlow Light"/>
                </a:rPr>
                <a:t>: </a:t>
              </a:r>
              <a:endParaRPr/>
            </a:p>
            <a:p>
              <a:pPr indent="-345440" lvl="2" marL="1036320" marR="0" rtl="0" algn="l">
                <a:lnSpc>
                  <a:spcPct val="130000"/>
                </a:lnSpc>
                <a:spcBef>
                  <a:spcPts val="0"/>
                </a:spcBef>
                <a:spcAft>
                  <a:spcPts val="0"/>
                </a:spcAft>
                <a:buClr>
                  <a:srgbClr val="000000"/>
                </a:buClr>
                <a:buSzPts val="2400"/>
                <a:buFont typeface="Arial"/>
                <a:buChar char="⚬"/>
              </a:pPr>
              <a:r>
                <a:rPr b="0" i="0" lang="en-US" sz="2400" u="none" cap="none" strike="noStrike">
                  <a:solidFill>
                    <a:srgbClr val="000000"/>
                  </a:solidFill>
                  <a:latin typeface="Barlow Light"/>
                  <a:ea typeface="Barlow Light"/>
                  <a:cs typeface="Barlow Light"/>
                  <a:sym typeface="Barlow Light"/>
                </a:rPr>
                <a:t>Removed duplicates and outliers.</a:t>
              </a:r>
              <a:endParaRPr/>
            </a:p>
          </p:txBody>
        </p:sp>
        <p:sp>
          <p:nvSpPr>
            <p:cNvPr id="146" name="Google Shape;146;p4"/>
            <p:cNvSpPr txBox="1"/>
            <p:nvPr/>
          </p:nvSpPr>
          <p:spPr>
            <a:xfrm>
              <a:off x="0" y="954818"/>
              <a:ext cx="9207339" cy="67288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200" u="none" cap="none" strike="noStrike">
                  <a:solidFill>
                    <a:srgbClr val="000000"/>
                  </a:solidFill>
                  <a:latin typeface="Barlow Medium"/>
                  <a:ea typeface="Barlow Medium"/>
                  <a:cs typeface="Barlow Medium"/>
                  <a:sym typeface="Barlow Medium"/>
                </a:rPr>
                <a:t>Qualitative Methodology</a:t>
              </a:r>
              <a:endParaRPr/>
            </a:p>
          </p:txBody>
        </p:sp>
        <p:sp>
          <p:nvSpPr>
            <p:cNvPr id="147" name="Google Shape;147;p4"/>
            <p:cNvSpPr txBox="1"/>
            <p:nvPr/>
          </p:nvSpPr>
          <p:spPr>
            <a:xfrm>
              <a:off x="0" y="-28575"/>
              <a:ext cx="1021454" cy="67288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200" u="none" cap="none" strike="noStrike">
                  <a:solidFill>
                    <a:srgbClr val="000000"/>
                  </a:solidFill>
                  <a:latin typeface="Barlow Medium"/>
                  <a:ea typeface="Barlow Medium"/>
                  <a:cs typeface="Barlow Medium"/>
                  <a:sym typeface="Barlow Medium"/>
                </a:rPr>
                <a:t>01</a:t>
              </a:r>
              <a:endParaRPr/>
            </a:p>
          </p:txBody>
        </p:sp>
      </p:grpSp>
      <p:sp>
        <p:nvSpPr>
          <p:cNvPr id="148" name="Google Shape;148;p4"/>
          <p:cNvSpPr txBox="1"/>
          <p:nvPr/>
        </p:nvSpPr>
        <p:spPr>
          <a:xfrm>
            <a:off x="9695489" y="6795469"/>
            <a:ext cx="6401770" cy="3002915"/>
          </a:xfrm>
          <a:prstGeom prst="rect">
            <a:avLst/>
          </a:prstGeom>
          <a:noFill/>
          <a:ln>
            <a:noFill/>
          </a:ln>
        </p:spPr>
        <p:txBody>
          <a:bodyPr anchorCtr="0" anchor="t" bIns="0" lIns="0" spcFirstLastPara="1" rIns="0" wrap="square" tIns="0">
            <a:spAutoFit/>
          </a:bodyPr>
          <a:lstStyle/>
          <a:p>
            <a:pPr indent="-302260" lvl="1" marL="604519" marR="0" rtl="0" algn="l">
              <a:lnSpc>
                <a:spcPct val="130010"/>
              </a:lnSpc>
              <a:spcBef>
                <a:spcPts val="0"/>
              </a:spcBef>
              <a:spcAft>
                <a:spcPts val="0"/>
              </a:spcAft>
              <a:buClr>
                <a:srgbClr val="EA6F08"/>
              </a:buClr>
              <a:buSzPts val="2799"/>
              <a:buFont typeface="Arial"/>
              <a:buChar char="•"/>
            </a:pPr>
            <a:r>
              <a:rPr b="1" i="0" lang="en-US" sz="2799" u="none" cap="none" strike="noStrike">
                <a:solidFill>
                  <a:srgbClr val="EA6F08"/>
                </a:solidFill>
                <a:latin typeface="Barlow"/>
                <a:ea typeface="Barlow"/>
                <a:cs typeface="Barlow"/>
                <a:sym typeface="Barlow"/>
              </a:rPr>
              <a:t>Statistics</a:t>
            </a:r>
            <a:r>
              <a:rPr b="0" i="0" lang="en-US" sz="2799" u="none" cap="none" strike="noStrike">
                <a:solidFill>
                  <a:srgbClr val="EA6F08"/>
                </a:solidFill>
                <a:latin typeface="Barlow Light"/>
                <a:ea typeface="Barlow Light"/>
                <a:cs typeface="Barlow Light"/>
                <a:sym typeface="Barlow Light"/>
              </a:rPr>
              <a:t>: </a:t>
            </a:r>
            <a:endParaRPr/>
          </a:p>
          <a:p>
            <a:pPr indent="-345440" lvl="2" marL="1036320" marR="0" rtl="0" algn="l">
              <a:lnSpc>
                <a:spcPct val="130000"/>
              </a:lnSpc>
              <a:spcBef>
                <a:spcPts val="0"/>
              </a:spcBef>
              <a:spcAft>
                <a:spcPts val="0"/>
              </a:spcAft>
              <a:buClr>
                <a:srgbClr val="EA6F08"/>
              </a:buClr>
              <a:buSzPts val="2400"/>
              <a:buFont typeface="Arial"/>
              <a:buChar char="⚬"/>
            </a:pPr>
            <a:r>
              <a:rPr b="0" i="0" lang="en-US" sz="2400" u="none" cap="none" strike="noStrike">
                <a:solidFill>
                  <a:srgbClr val="EA6F08"/>
                </a:solidFill>
                <a:latin typeface="Barlow Light"/>
                <a:ea typeface="Barlow Light"/>
                <a:cs typeface="Barlow Light"/>
                <a:sym typeface="Barlow Light"/>
              </a:rPr>
              <a:t>Averages, variation, and response rates.</a:t>
            </a:r>
            <a:endParaRPr/>
          </a:p>
          <a:p>
            <a:pPr indent="-302260" lvl="1" marL="604519" marR="0" rtl="0" algn="l">
              <a:lnSpc>
                <a:spcPct val="130010"/>
              </a:lnSpc>
              <a:spcBef>
                <a:spcPts val="0"/>
              </a:spcBef>
              <a:spcAft>
                <a:spcPts val="0"/>
              </a:spcAft>
              <a:buClr>
                <a:srgbClr val="EA6F08"/>
              </a:buClr>
              <a:buSzPts val="2799"/>
              <a:buFont typeface="Arial"/>
              <a:buChar char="•"/>
            </a:pPr>
            <a:r>
              <a:rPr b="1" i="0" lang="en-US" sz="2799" u="none" cap="none" strike="noStrike">
                <a:solidFill>
                  <a:srgbClr val="EA6F08"/>
                </a:solidFill>
                <a:latin typeface="Barlow"/>
                <a:ea typeface="Barlow"/>
                <a:cs typeface="Barlow"/>
                <a:sym typeface="Barlow"/>
              </a:rPr>
              <a:t>Tests</a:t>
            </a:r>
            <a:r>
              <a:rPr b="0" i="0" lang="en-US" sz="2799" u="none" cap="none" strike="noStrike">
                <a:solidFill>
                  <a:srgbClr val="EA6F08"/>
                </a:solidFill>
                <a:latin typeface="Barlow Light"/>
                <a:ea typeface="Barlow Light"/>
                <a:cs typeface="Barlow Light"/>
                <a:sym typeface="Barlow Light"/>
              </a:rPr>
              <a:t>: </a:t>
            </a:r>
            <a:endParaRPr/>
          </a:p>
          <a:p>
            <a:pPr indent="-345440" lvl="2" marL="1036320" marR="0" rtl="0" algn="l">
              <a:lnSpc>
                <a:spcPct val="130000"/>
              </a:lnSpc>
              <a:spcBef>
                <a:spcPts val="0"/>
              </a:spcBef>
              <a:spcAft>
                <a:spcPts val="0"/>
              </a:spcAft>
              <a:buClr>
                <a:srgbClr val="EA6F08"/>
              </a:buClr>
              <a:buSzPts val="2400"/>
              <a:buFont typeface="Arial"/>
              <a:buChar char="⚬"/>
            </a:pPr>
            <a:r>
              <a:rPr b="0" i="0" lang="en-US" sz="2400" u="none" cap="none" strike="noStrike">
                <a:solidFill>
                  <a:srgbClr val="EA6F08"/>
                </a:solidFill>
                <a:latin typeface="Barlow Light"/>
                <a:ea typeface="Barlow Light"/>
                <a:cs typeface="Barlow Light"/>
                <a:sym typeface="Barlow Light"/>
              </a:rPr>
              <a:t>Compared Miraculon-B vs. control.</a:t>
            </a:r>
            <a:endParaRPr/>
          </a:p>
          <a:p>
            <a:pPr indent="-302260" lvl="1" marL="604519" marR="0" rtl="0" algn="l">
              <a:lnSpc>
                <a:spcPct val="130010"/>
              </a:lnSpc>
              <a:spcBef>
                <a:spcPts val="0"/>
              </a:spcBef>
              <a:spcAft>
                <a:spcPts val="0"/>
              </a:spcAft>
              <a:buClr>
                <a:srgbClr val="EA6F08"/>
              </a:buClr>
              <a:buSzPts val="2799"/>
              <a:buFont typeface="Arial"/>
              <a:buChar char="•"/>
            </a:pPr>
            <a:r>
              <a:rPr b="1" i="0" lang="en-US" sz="2799" u="none" cap="none" strike="noStrike">
                <a:solidFill>
                  <a:srgbClr val="EA6F08"/>
                </a:solidFill>
                <a:latin typeface="Barlow"/>
                <a:ea typeface="Barlow"/>
                <a:cs typeface="Barlow"/>
                <a:sym typeface="Barlow"/>
              </a:rPr>
              <a:t>Machine Learning:</a:t>
            </a:r>
            <a:endParaRPr/>
          </a:p>
          <a:p>
            <a:pPr indent="-345440" lvl="2" marL="1036320" marR="0" rtl="0" algn="l">
              <a:lnSpc>
                <a:spcPct val="130000"/>
              </a:lnSpc>
              <a:spcBef>
                <a:spcPts val="0"/>
              </a:spcBef>
              <a:spcAft>
                <a:spcPts val="0"/>
              </a:spcAft>
              <a:buClr>
                <a:srgbClr val="EA6F08"/>
              </a:buClr>
              <a:buSzPts val="2400"/>
              <a:buFont typeface="Arial"/>
              <a:buChar char="⚬"/>
            </a:pPr>
            <a:r>
              <a:rPr b="0" i="0" lang="en-US" sz="2400" u="none" cap="none" strike="noStrike">
                <a:solidFill>
                  <a:srgbClr val="EA6F08"/>
                </a:solidFill>
                <a:latin typeface="Barlow"/>
                <a:ea typeface="Barlow"/>
                <a:cs typeface="Barlow"/>
                <a:sym typeface="Barlow"/>
              </a:rPr>
              <a:t>Random Forest, SVM.</a:t>
            </a:r>
            <a:endParaRPr/>
          </a:p>
          <a:p>
            <a:pPr indent="0" lvl="0" marL="0" marR="0" rtl="0" algn="l">
              <a:lnSpc>
                <a:spcPct val="151625"/>
              </a:lnSpc>
              <a:spcBef>
                <a:spcPts val="0"/>
              </a:spcBef>
              <a:spcAft>
                <a:spcPts val="0"/>
              </a:spcAft>
              <a:buNone/>
            </a:pPr>
            <a:r>
              <a:t/>
            </a:r>
            <a:endParaRPr b="0" i="0" sz="2400" u="none" cap="none" strike="noStrike">
              <a:solidFill>
                <a:srgbClr val="EA6F08"/>
              </a:solidFill>
              <a:latin typeface="Barlow"/>
              <a:ea typeface="Barlow"/>
              <a:cs typeface="Barlow"/>
              <a:sym typeface="Barlow"/>
            </a:endParaRPr>
          </a:p>
        </p:txBody>
      </p:sp>
      <p:sp>
        <p:nvSpPr>
          <p:cNvPr id="149" name="Google Shape;149;p4"/>
          <p:cNvSpPr txBox="1"/>
          <p:nvPr/>
        </p:nvSpPr>
        <p:spPr>
          <a:xfrm>
            <a:off x="9641431" y="5114925"/>
            <a:ext cx="905557" cy="511810"/>
          </a:xfrm>
          <a:prstGeom prst="rect">
            <a:avLst/>
          </a:prstGeom>
          <a:noFill/>
          <a:ln>
            <a:noFill/>
          </a:ln>
        </p:spPr>
        <p:txBody>
          <a:bodyPr anchorCtr="0" anchor="t" bIns="0" lIns="0" spcFirstLastPara="1" rIns="0" wrap="square" tIns="0">
            <a:spAutoFit/>
          </a:bodyPr>
          <a:lstStyle/>
          <a:p>
            <a:pPr indent="0" lvl="0" marL="0" marR="0" rtl="0" algn="r">
              <a:lnSpc>
                <a:spcPct val="130000"/>
              </a:lnSpc>
              <a:spcBef>
                <a:spcPts val="0"/>
              </a:spcBef>
              <a:spcAft>
                <a:spcPts val="0"/>
              </a:spcAft>
              <a:buNone/>
            </a:pPr>
            <a:r>
              <a:rPr b="1" i="0" lang="en-US" sz="3200" u="none" cap="none" strike="noStrike">
                <a:solidFill>
                  <a:srgbClr val="EA6F08"/>
                </a:solidFill>
                <a:latin typeface="Barlow Medium"/>
                <a:ea typeface="Barlow Medium"/>
                <a:cs typeface="Barlow Medium"/>
                <a:sym typeface="Barlow Medium"/>
              </a:rPr>
              <a:t>02</a:t>
            </a:r>
            <a:endParaRPr/>
          </a:p>
        </p:txBody>
      </p:sp>
      <p:sp>
        <p:nvSpPr>
          <p:cNvPr id="150" name="Google Shape;150;p4"/>
          <p:cNvSpPr txBox="1"/>
          <p:nvPr/>
        </p:nvSpPr>
        <p:spPr>
          <a:xfrm>
            <a:off x="9695489" y="5880215"/>
            <a:ext cx="8016589" cy="51181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i="0" lang="en-US" sz="3200" u="none" cap="none" strike="noStrike">
                <a:solidFill>
                  <a:srgbClr val="EA6F08"/>
                </a:solidFill>
                <a:latin typeface="Barlow Medium"/>
                <a:ea typeface="Barlow Medium"/>
                <a:cs typeface="Barlow Medium"/>
                <a:sym typeface="Barlow Medium"/>
              </a:rPr>
              <a:t>Quantitative Methodology</a:t>
            </a:r>
            <a:endParaRPr/>
          </a:p>
        </p:txBody>
      </p:sp>
      <p:sp>
        <p:nvSpPr>
          <p:cNvPr id="151" name="Google Shape;151;p4"/>
          <p:cNvSpPr txBox="1"/>
          <p:nvPr/>
        </p:nvSpPr>
        <p:spPr>
          <a:xfrm>
            <a:off x="1028700" y="813710"/>
            <a:ext cx="13164211" cy="1462087"/>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b="1" i="0" lang="en-US" sz="9600" u="none" cap="none" strike="noStrike">
                <a:solidFill>
                  <a:srgbClr val="EA6F08"/>
                </a:solidFill>
                <a:latin typeface="Barlow Medium"/>
                <a:ea typeface="Barlow Medium"/>
                <a:cs typeface="Barlow Medium"/>
                <a:sym typeface="Barlow Medium"/>
              </a:rPr>
              <a:t>Summary of Methods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699"/>
        </a:solidFill>
      </p:bgPr>
    </p:bg>
    <p:spTree>
      <p:nvGrpSpPr>
        <p:cNvPr id="159" name="Shape 159"/>
        <p:cNvGrpSpPr/>
        <p:nvPr/>
      </p:nvGrpSpPr>
      <p:grpSpPr>
        <a:xfrm>
          <a:off x="0" y="0"/>
          <a:ext cx="0" cy="0"/>
          <a:chOff x="0" y="0"/>
          <a:chExt cx="0" cy="0"/>
        </a:xfrm>
      </p:grpSpPr>
      <p:sp>
        <p:nvSpPr>
          <p:cNvPr id="160" name="Google Shape;160;p5"/>
          <p:cNvSpPr/>
          <p:nvPr/>
        </p:nvSpPr>
        <p:spPr>
          <a:xfrm>
            <a:off x="-119616" y="9525"/>
            <a:ext cx="10248424" cy="10287000"/>
          </a:xfrm>
          <a:custGeom>
            <a:rect b="b" l="l" r="r" t="t"/>
            <a:pathLst>
              <a:path extrusionOk="0" h="10287000" w="10248424">
                <a:moveTo>
                  <a:pt x="0" y="0"/>
                </a:moveTo>
                <a:lnTo>
                  <a:pt x="10248423" y="0"/>
                </a:lnTo>
                <a:lnTo>
                  <a:pt x="10248423" y="10287000"/>
                </a:lnTo>
                <a:lnTo>
                  <a:pt x="0" y="10287000"/>
                </a:lnTo>
                <a:lnTo>
                  <a:pt x="0" y="0"/>
                </a:lnTo>
                <a:close/>
              </a:path>
            </a:pathLst>
          </a:custGeom>
          <a:blipFill rotWithShape="1">
            <a:blip r:embed="rId3">
              <a:alphaModFix/>
            </a:blip>
            <a:stretch>
              <a:fillRect b="0" l="0" r="0" t="0"/>
            </a:stretch>
          </a:blipFill>
          <a:ln>
            <a:noFill/>
          </a:ln>
        </p:spPr>
      </p:sp>
      <p:sp>
        <p:nvSpPr>
          <p:cNvPr id="161" name="Google Shape;161;p5"/>
          <p:cNvSpPr/>
          <p:nvPr/>
        </p:nvSpPr>
        <p:spPr>
          <a:xfrm>
            <a:off x="9144000" y="0"/>
            <a:ext cx="9144000" cy="10287000"/>
          </a:xfrm>
          <a:custGeom>
            <a:rect b="b" l="l" r="r" t="t"/>
            <a:pathLst>
              <a:path extrusionOk="0" h="10287000" w="9144000">
                <a:moveTo>
                  <a:pt x="0" y="0"/>
                </a:moveTo>
                <a:lnTo>
                  <a:pt x="9144000" y="0"/>
                </a:lnTo>
                <a:lnTo>
                  <a:pt x="9144000" y="10287000"/>
                </a:lnTo>
                <a:lnTo>
                  <a:pt x="0" y="10287000"/>
                </a:lnTo>
                <a:lnTo>
                  <a:pt x="0" y="0"/>
                </a:lnTo>
                <a:close/>
              </a:path>
            </a:pathLst>
          </a:custGeom>
          <a:blipFill rotWithShape="1">
            <a:blip r:embed="rId4">
              <a:alphaModFix/>
            </a:blip>
            <a:stretch>
              <a:fillRect b="0" l="-31358" r="-37387" t="0"/>
            </a:stretch>
          </a:blipFill>
          <a:ln>
            <a:noFill/>
          </a:ln>
        </p:spPr>
      </p:sp>
      <p:grpSp>
        <p:nvGrpSpPr>
          <p:cNvPr id="162" name="Google Shape;162;p5"/>
          <p:cNvGrpSpPr/>
          <p:nvPr/>
        </p:nvGrpSpPr>
        <p:grpSpPr>
          <a:xfrm>
            <a:off x="1028700" y="3022837"/>
            <a:ext cx="7364942" cy="4632902"/>
            <a:chOff x="0" y="-9525"/>
            <a:chExt cx="9819923" cy="6177203"/>
          </a:xfrm>
        </p:grpSpPr>
        <p:sp>
          <p:nvSpPr>
            <p:cNvPr id="163" name="Google Shape;163;p5"/>
            <p:cNvSpPr txBox="1"/>
            <p:nvPr/>
          </p:nvSpPr>
          <p:spPr>
            <a:xfrm>
              <a:off x="0" y="4371898"/>
              <a:ext cx="9819923" cy="17957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4200" u="none" cap="none" strike="noStrike">
                  <a:solidFill>
                    <a:srgbClr val="EA6F08"/>
                  </a:solidFill>
                  <a:latin typeface="Barlow Light"/>
                  <a:ea typeface="Barlow Light"/>
                  <a:cs typeface="Barlow Light"/>
                  <a:sym typeface="Barlow Light"/>
                </a:rPr>
                <a:t>Actual results, data presentation, and analysis</a:t>
              </a:r>
              <a:endParaRPr/>
            </a:p>
          </p:txBody>
        </p:sp>
        <p:sp>
          <p:nvSpPr>
            <p:cNvPr id="164" name="Google Shape;164;p5"/>
            <p:cNvSpPr txBox="1"/>
            <p:nvPr/>
          </p:nvSpPr>
          <p:spPr>
            <a:xfrm>
              <a:off x="0" y="-9525"/>
              <a:ext cx="9819923" cy="3895725"/>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b="1" i="0" lang="en-US" sz="9600" u="none" cap="none" strike="noStrike">
                  <a:solidFill>
                    <a:srgbClr val="EA6F08"/>
                  </a:solidFill>
                  <a:latin typeface="Barlow Medium"/>
                  <a:ea typeface="Barlow Medium"/>
                  <a:cs typeface="Barlow Medium"/>
                  <a:sym typeface="Barlow Medium"/>
                </a:rPr>
                <a:t>Experiment Results</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6"/>
          <p:cNvSpPr/>
          <p:nvPr/>
        </p:nvSpPr>
        <p:spPr>
          <a:xfrm>
            <a:off x="7395277" y="0"/>
            <a:ext cx="10892723" cy="10287000"/>
          </a:xfrm>
          <a:prstGeom prst="rect">
            <a:avLst/>
          </a:prstGeom>
          <a:solidFill>
            <a:srgbClr val="F7C6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7875045" y="1733724"/>
            <a:ext cx="10082017" cy="6210082"/>
          </a:xfrm>
          <a:custGeom>
            <a:rect b="b" l="l" r="r" t="t"/>
            <a:pathLst>
              <a:path extrusionOk="0" h="6210082" w="10082017">
                <a:moveTo>
                  <a:pt x="0" y="0"/>
                </a:moveTo>
                <a:lnTo>
                  <a:pt x="10082017" y="0"/>
                </a:lnTo>
                <a:lnTo>
                  <a:pt x="10082017" y="6210083"/>
                </a:lnTo>
                <a:lnTo>
                  <a:pt x="0" y="6210083"/>
                </a:lnTo>
                <a:lnTo>
                  <a:pt x="0" y="0"/>
                </a:lnTo>
                <a:close/>
              </a:path>
            </a:pathLst>
          </a:custGeom>
          <a:blipFill rotWithShape="1">
            <a:blip r:embed="rId3">
              <a:alphaModFix/>
            </a:blip>
            <a:stretch>
              <a:fillRect b="0" l="-1186" r="-9829" t="0"/>
            </a:stretch>
          </a:blipFill>
          <a:ln>
            <a:noFill/>
          </a:ln>
        </p:spPr>
      </p:sp>
      <p:grpSp>
        <p:nvGrpSpPr>
          <p:cNvPr id="175" name="Google Shape;175;p6"/>
          <p:cNvGrpSpPr/>
          <p:nvPr/>
        </p:nvGrpSpPr>
        <p:grpSpPr>
          <a:xfrm>
            <a:off x="749844" y="1021556"/>
            <a:ext cx="6527368" cy="2065901"/>
            <a:chOff x="0" y="-9525"/>
            <a:chExt cx="8703157" cy="2754534"/>
          </a:xfrm>
        </p:grpSpPr>
        <p:sp>
          <p:nvSpPr>
            <p:cNvPr id="176" name="Google Shape;176;p6"/>
            <p:cNvSpPr txBox="1"/>
            <p:nvPr/>
          </p:nvSpPr>
          <p:spPr>
            <a:xfrm>
              <a:off x="0" y="2072121"/>
              <a:ext cx="8703157" cy="67288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200" u="none" cap="none" strike="noStrike">
                  <a:solidFill>
                    <a:srgbClr val="2F2F2F"/>
                  </a:solidFill>
                  <a:latin typeface="Barlow Medium"/>
                  <a:ea typeface="Barlow Medium"/>
                  <a:cs typeface="Barlow Medium"/>
                  <a:sym typeface="Barlow Medium"/>
                </a:rPr>
                <a:t>Overview of the Drug’s effectiveness</a:t>
              </a:r>
              <a:endParaRPr/>
            </a:p>
          </p:txBody>
        </p:sp>
        <p:sp>
          <p:nvSpPr>
            <p:cNvPr id="177" name="Google Shape;177;p6"/>
            <p:cNvSpPr txBox="1"/>
            <p:nvPr/>
          </p:nvSpPr>
          <p:spPr>
            <a:xfrm>
              <a:off x="0" y="-9525"/>
              <a:ext cx="8703157" cy="1952625"/>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b="1" i="0" lang="en-US" sz="9600" u="none" cap="none" strike="noStrike">
                  <a:solidFill>
                    <a:srgbClr val="EA6F08"/>
                  </a:solidFill>
                  <a:latin typeface="Barlow Medium"/>
                  <a:ea typeface="Barlow Medium"/>
                  <a:cs typeface="Barlow Medium"/>
                  <a:sym typeface="Barlow Medium"/>
                </a:rPr>
                <a:t>Results</a:t>
              </a:r>
              <a:endParaRPr/>
            </a:p>
          </p:txBody>
        </p:sp>
      </p:grpSp>
      <p:grpSp>
        <p:nvGrpSpPr>
          <p:cNvPr id="178" name="Google Shape;178;p6"/>
          <p:cNvGrpSpPr/>
          <p:nvPr/>
        </p:nvGrpSpPr>
        <p:grpSpPr>
          <a:xfrm>
            <a:off x="749844" y="5129213"/>
            <a:ext cx="5976965" cy="2298760"/>
            <a:chOff x="0" y="-19050"/>
            <a:chExt cx="7969287" cy="3065014"/>
          </a:xfrm>
        </p:grpSpPr>
        <p:sp>
          <p:nvSpPr>
            <p:cNvPr id="179" name="Google Shape;179;p6"/>
            <p:cNvSpPr txBox="1"/>
            <p:nvPr/>
          </p:nvSpPr>
          <p:spPr>
            <a:xfrm>
              <a:off x="0" y="1314531"/>
              <a:ext cx="7969287" cy="1731433"/>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000" u="none" cap="none" strike="noStrike">
                  <a:solidFill>
                    <a:srgbClr val="2F2F2F"/>
                  </a:solidFill>
                  <a:latin typeface="Barlow Light"/>
                  <a:ea typeface="Barlow Light"/>
                  <a:cs typeface="Barlow Light"/>
                  <a:sym typeface="Barlow Light"/>
                </a:rPr>
                <a:t>Miraculon-B demonstrates greater effectiveness with 207 patients responding to treatment, compared to only 123 in the control group. This highlights Miraculon-B’s potential to deliver better outcomes for patients.</a:t>
              </a:r>
              <a:endParaRPr/>
            </a:p>
          </p:txBody>
        </p:sp>
        <p:sp>
          <p:nvSpPr>
            <p:cNvPr id="180" name="Google Shape;180;p6"/>
            <p:cNvSpPr txBox="1"/>
            <p:nvPr/>
          </p:nvSpPr>
          <p:spPr>
            <a:xfrm>
              <a:off x="0" y="-19050"/>
              <a:ext cx="7969287" cy="1118023"/>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2600" u="none" cap="none" strike="noStrike">
                  <a:solidFill>
                    <a:srgbClr val="2F2F2F"/>
                  </a:solidFill>
                  <a:latin typeface="Barlow Medium"/>
                  <a:ea typeface="Barlow Medium"/>
                  <a:cs typeface="Barlow Medium"/>
                  <a:sym typeface="Barlow Medium"/>
                </a:rPr>
                <a:t>Miraculon-B shows 207 responders, outperforming the control group's 123.</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F1"/>
        </a:solidFill>
      </p:bgPr>
    </p:bg>
    <p:spTree>
      <p:nvGrpSpPr>
        <p:cNvPr id="188" name="Shape 188"/>
        <p:cNvGrpSpPr/>
        <p:nvPr/>
      </p:nvGrpSpPr>
      <p:grpSpPr>
        <a:xfrm>
          <a:off x="0" y="0"/>
          <a:ext cx="0" cy="0"/>
          <a:chOff x="0" y="0"/>
          <a:chExt cx="0" cy="0"/>
        </a:xfrm>
      </p:grpSpPr>
      <p:sp>
        <p:nvSpPr>
          <p:cNvPr id="189" name="Google Shape;189;p7"/>
          <p:cNvSpPr txBox="1"/>
          <p:nvPr/>
        </p:nvSpPr>
        <p:spPr>
          <a:xfrm>
            <a:off x="1966236" y="1304925"/>
            <a:ext cx="13856669" cy="2392343"/>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None/>
            </a:pPr>
            <a:r>
              <a:rPr b="1" i="0" lang="en-US" sz="10041" u="none" cap="none" strike="noStrike">
                <a:solidFill>
                  <a:srgbClr val="EA6F08"/>
                </a:solidFill>
                <a:latin typeface="Raleway Medium"/>
                <a:ea typeface="Raleway Medium"/>
                <a:cs typeface="Raleway Medium"/>
                <a:sym typeface="Raleway Medium"/>
              </a:rPr>
              <a:t>Key Factors Impacting Treatment Response</a:t>
            </a:r>
            <a:endParaRPr/>
          </a:p>
        </p:txBody>
      </p:sp>
      <p:grpSp>
        <p:nvGrpSpPr>
          <p:cNvPr id="190" name="Google Shape;190;p7"/>
          <p:cNvGrpSpPr/>
          <p:nvPr/>
        </p:nvGrpSpPr>
        <p:grpSpPr>
          <a:xfrm>
            <a:off x="1028700" y="3883568"/>
            <a:ext cx="5297101" cy="5089546"/>
            <a:chOff x="0" y="-192881"/>
            <a:chExt cx="7062802" cy="6786061"/>
          </a:xfrm>
        </p:grpSpPr>
        <p:grpSp>
          <p:nvGrpSpPr>
            <p:cNvPr id="191" name="Google Shape;191;p7"/>
            <p:cNvGrpSpPr/>
            <p:nvPr/>
          </p:nvGrpSpPr>
          <p:grpSpPr>
            <a:xfrm>
              <a:off x="0" y="-192881"/>
              <a:ext cx="7057997" cy="6786061"/>
              <a:chOff x="0" y="-38100"/>
              <a:chExt cx="1394172" cy="1340457"/>
            </a:xfrm>
          </p:grpSpPr>
          <p:sp>
            <p:nvSpPr>
              <p:cNvPr id="192" name="Google Shape;192;p7"/>
              <p:cNvSpPr/>
              <p:nvPr/>
            </p:nvSpPr>
            <p:spPr>
              <a:xfrm>
                <a:off x="0" y="0"/>
                <a:ext cx="1394172" cy="1302357"/>
              </a:xfrm>
              <a:custGeom>
                <a:rect b="b" l="l" r="r" t="t"/>
                <a:pathLst>
                  <a:path extrusionOk="0"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F7C6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txBox="1"/>
              <p:nvPr/>
            </p:nvSpPr>
            <p:spPr>
              <a:xfrm>
                <a:off x="0" y="-38100"/>
                <a:ext cx="1394172" cy="13404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4" name="Google Shape;194;p7"/>
            <p:cNvSpPr txBox="1"/>
            <p:nvPr/>
          </p:nvSpPr>
          <p:spPr>
            <a:xfrm>
              <a:off x="1729122" y="485775"/>
              <a:ext cx="3227613" cy="2105025"/>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None/>
              </a:pPr>
              <a:r>
                <a:rPr b="1" i="0" lang="en-US" sz="12000" u="none" cap="none" strike="noStrike">
                  <a:solidFill>
                    <a:srgbClr val="EA6F08"/>
                  </a:solidFill>
                  <a:latin typeface="Raleway Medium"/>
                  <a:ea typeface="Raleway Medium"/>
                  <a:cs typeface="Raleway Medium"/>
                  <a:sym typeface="Raleway Medium"/>
                </a:rPr>
                <a:t>01.</a:t>
              </a:r>
              <a:endParaRPr/>
            </a:p>
          </p:txBody>
        </p:sp>
        <p:sp>
          <p:nvSpPr>
            <p:cNvPr id="195" name="Google Shape;195;p7"/>
            <p:cNvSpPr txBox="1"/>
            <p:nvPr/>
          </p:nvSpPr>
          <p:spPr>
            <a:xfrm>
              <a:off x="0" y="3346662"/>
              <a:ext cx="7062802" cy="129899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800" u="none" cap="none" strike="noStrike">
                  <a:solidFill>
                    <a:srgbClr val="EA6F08"/>
                  </a:solidFill>
                  <a:latin typeface="Raleway"/>
                  <a:ea typeface="Raleway"/>
                  <a:cs typeface="Raleway"/>
                  <a:sym typeface="Raleway"/>
                </a:rPr>
                <a:t>Age</a:t>
              </a:r>
              <a:endParaRPr/>
            </a:p>
          </p:txBody>
        </p:sp>
      </p:grpSp>
      <p:grpSp>
        <p:nvGrpSpPr>
          <p:cNvPr id="196" name="Google Shape;196;p7"/>
          <p:cNvGrpSpPr/>
          <p:nvPr/>
        </p:nvGrpSpPr>
        <p:grpSpPr>
          <a:xfrm>
            <a:off x="6497251" y="3883568"/>
            <a:ext cx="5293498" cy="5089546"/>
            <a:chOff x="0" y="-192881"/>
            <a:chExt cx="7057997" cy="6786061"/>
          </a:xfrm>
        </p:grpSpPr>
        <p:grpSp>
          <p:nvGrpSpPr>
            <p:cNvPr id="197" name="Google Shape;197;p7"/>
            <p:cNvGrpSpPr/>
            <p:nvPr/>
          </p:nvGrpSpPr>
          <p:grpSpPr>
            <a:xfrm>
              <a:off x="0" y="-192881"/>
              <a:ext cx="7057997" cy="6786061"/>
              <a:chOff x="0" y="-38100"/>
              <a:chExt cx="1394172" cy="1340457"/>
            </a:xfrm>
          </p:grpSpPr>
          <p:sp>
            <p:nvSpPr>
              <p:cNvPr id="198" name="Google Shape;198;p7"/>
              <p:cNvSpPr/>
              <p:nvPr/>
            </p:nvSpPr>
            <p:spPr>
              <a:xfrm>
                <a:off x="0" y="0"/>
                <a:ext cx="1394172" cy="1302357"/>
              </a:xfrm>
              <a:custGeom>
                <a:rect b="b" l="l" r="r" t="t"/>
                <a:pathLst>
                  <a:path extrusionOk="0"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F7C6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txBox="1"/>
              <p:nvPr/>
            </p:nvSpPr>
            <p:spPr>
              <a:xfrm>
                <a:off x="0" y="-38100"/>
                <a:ext cx="1394172" cy="13404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0" name="Google Shape;200;p7"/>
            <p:cNvSpPr txBox="1"/>
            <p:nvPr/>
          </p:nvSpPr>
          <p:spPr>
            <a:xfrm>
              <a:off x="1915192" y="485775"/>
              <a:ext cx="3227613" cy="2105025"/>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None/>
              </a:pPr>
              <a:r>
                <a:rPr b="1" i="0" lang="en-US" sz="12000" u="none" cap="none" strike="noStrike">
                  <a:solidFill>
                    <a:srgbClr val="EA6F08"/>
                  </a:solidFill>
                  <a:latin typeface="Raleway Medium"/>
                  <a:ea typeface="Raleway Medium"/>
                  <a:cs typeface="Raleway Medium"/>
                  <a:sym typeface="Raleway Medium"/>
                </a:rPr>
                <a:t>02.</a:t>
              </a:r>
              <a:endParaRPr/>
            </a:p>
          </p:txBody>
        </p:sp>
        <p:sp>
          <p:nvSpPr>
            <p:cNvPr id="201" name="Google Shape;201;p7"/>
            <p:cNvSpPr txBox="1"/>
            <p:nvPr/>
          </p:nvSpPr>
          <p:spPr>
            <a:xfrm>
              <a:off x="0" y="3346662"/>
              <a:ext cx="7057997" cy="129899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800" u="none" cap="none" strike="noStrike">
                  <a:solidFill>
                    <a:srgbClr val="EA6F08"/>
                  </a:solidFill>
                  <a:latin typeface="Raleway"/>
                  <a:ea typeface="Raleway"/>
                  <a:cs typeface="Raleway"/>
                  <a:sym typeface="Raleway"/>
                </a:rPr>
                <a:t>BMI</a:t>
              </a:r>
              <a:endParaRPr/>
            </a:p>
          </p:txBody>
        </p:sp>
      </p:grpSp>
      <p:grpSp>
        <p:nvGrpSpPr>
          <p:cNvPr id="202" name="Google Shape;202;p7"/>
          <p:cNvGrpSpPr/>
          <p:nvPr/>
        </p:nvGrpSpPr>
        <p:grpSpPr>
          <a:xfrm>
            <a:off x="11962199" y="3883568"/>
            <a:ext cx="5297101" cy="5089546"/>
            <a:chOff x="0" y="-192881"/>
            <a:chExt cx="7062802" cy="6786061"/>
          </a:xfrm>
        </p:grpSpPr>
        <p:grpSp>
          <p:nvGrpSpPr>
            <p:cNvPr id="203" name="Google Shape;203;p7"/>
            <p:cNvGrpSpPr/>
            <p:nvPr/>
          </p:nvGrpSpPr>
          <p:grpSpPr>
            <a:xfrm>
              <a:off x="4805" y="-192881"/>
              <a:ext cx="7057997" cy="6786061"/>
              <a:chOff x="0" y="-38100"/>
              <a:chExt cx="1394172" cy="1340457"/>
            </a:xfrm>
          </p:grpSpPr>
          <p:sp>
            <p:nvSpPr>
              <p:cNvPr id="204" name="Google Shape;204;p7"/>
              <p:cNvSpPr/>
              <p:nvPr/>
            </p:nvSpPr>
            <p:spPr>
              <a:xfrm>
                <a:off x="0" y="0"/>
                <a:ext cx="1394172" cy="1302357"/>
              </a:xfrm>
              <a:custGeom>
                <a:rect b="b" l="l" r="r" t="t"/>
                <a:pathLst>
                  <a:path extrusionOk="0"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F7C6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txBox="1"/>
              <p:nvPr/>
            </p:nvSpPr>
            <p:spPr>
              <a:xfrm>
                <a:off x="0" y="-38100"/>
                <a:ext cx="1394172" cy="13404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6" name="Google Shape;206;p7"/>
            <p:cNvSpPr txBox="1"/>
            <p:nvPr/>
          </p:nvSpPr>
          <p:spPr>
            <a:xfrm>
              <a:off x="1919997" y="333375"/>
              <a:ext cx="3227613" cy="2105025"/>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None/>
              </a:pPr>
              <a:r>
                <a:rPr b="1" i="0" lang="en-US" sz="12000" u="none" cap="none" strike="noStrike">
                  <a:solidFill>
                    <a:srgbClr val="EA6F08"/>
                  </a:solidFill>
                  <a:latin typeface="Raleway Medium"/>
                  <a:ea typeface="Raleway Medium"/>
                  <a:cs typeface="Raleway Medium"/>
                  <a:sym typeface="Raleway Medium"/>
                </a:rPr>
                <a:t>03.</a:t>
              </a:r>
              <a:endParaRPr/>
            </a:p>
          </p:txBody>
        </p:sp>
        <p:sp>
          <p:nvSpPr>
            <p:cNvPr id="207" name="Google Shape;207;p7"/>
            <p:cNvSpPr txBox="1"/>
            <p:nvPr/>
          </p:nvSpPr>
          <p:spPr>
            <a:xfrm>
              <a:off x="0" y="3241675"/>
              <a:ext cx="7057997" cy="1813772"/>
            </a:xfrm>
            <a:prstGeom prst="rect">
              <a:avLst/>
            </a:prstGeom>
            <a:noFill/>
            <a:ln>
              <a:noFill/>
            </a:ln>
          </p:spPr>
          <p:txBody>
            <a:bodyPr anchorCtr="0" anchor="t" bIns="0" lIns="0" spcFirstLastPara="1" rIns="0" wrap="square" tIns="0">
              <a:spAutoFit/>
            </a:bodyPr>
            <a:lstStyle/>
            <a:p>
              <a:pPr indent="0" lvl="0" marL="0" marR="0" rtl="0" algn="ctr">
                <a:lnSpc>
                  <a:spcPct val="85000"/>
                </a:lnSpc>
                <a:spcBef>
                  <a:spcPts val="0"/>
                </a:spcBef>
                <a:spcAft>
                  <a:spcPts val="0"/>
                </a:spcAft>
                <a:buNone/>
              </a:pPr>
              <a:r>
                <a:rPr b="1" i="0" lang="en-US" sz="5800" u="none" cap="none" strike="noStrike">
                  <a:solidFill>
                    <a:srgbClr val="EA6F08"/>
                  </a:solidFill>
                  <a:latin typeface="Raleway"/>
                  <a:ea typeface="Raleway"/>
                  <a:cs typeface="Raleway"/>
                  <a:sym typeface="Raleway"/>
                </a:rPr>
                <a:t>Protein Concentration</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15" name="Shape 215"/>
        <p:cNvGrpSpPr/>
        <p:nvPr/>
      </p:nvGrpSpPr>
      <p:grpSpPr>
        <a:xfrm>
          <a:off x="0" y="0"/>
          <a:ext cx="0" cy="0"/>
          <a:chOff x="0" y="0"/>
          <a:chExt cx="0" cy="0"/>
        </a:xfrm>
      </p:grpSpPr>
      <p:grpSp>
        <p:nvGrpSpPr>
          <p:cNvPr id="216" name="Google Shape;216;p8"/>
          <p:cNvGrpSpPr/>
          <p:nvPr/>
        </p:nvGrpSpPr>
        <p:grpSpPr>
          <a:xfrm rot="5400000">
            <a:off x="-4616347" y="4616347"/>
            <a:ext cx="10287000" cy="1054306"/>
            <a:chOff x="0" y="-57150"/>
            <a:chExt cx="2709333" cy="277677"/>
          </a:xfrm>
        </p:grpSpPr>
        <p:sp>
          <p:nvSpPr>
            <p:cNvPr id="217" name="Google Shape;217;p8"/>
            <p:cNvSpPr/>
            <p:nvPr/>
          </p:nvSpPr>
          <p:spPr>
            <a:xfrm>
              <a:off x="0" y="0"/>
              <a:ext cx="2709333" cy="220527"/>
            </a:xfrm>
            <a:custGeom>
              <a:rect b="b" l="l" r="r" t="t"/>
              <a:pathLst>
                <a:path extrusionOk="0" h="220527" w="2709333">
                  <a:moveTo>
                    <a:pt x="203200" y="0"/>
                  </a:moveTo>
                  <a:lnTo>
                    <a:pt x="2506133" y="0"/>
                  </a:lnTo>
                  <a:lnTo>
                    <a:pt x="2709333" y="220527"/>
                  </a:lnTo>
                  <a:lnTo>
                    <a:pt x="0" y="220527"/>
                  </a:lnTo>
                  <a:lnTo>
                    <a:pt x="203200" y="0"/>
                  </a:lnTo>
                  <a:close/>
                </a:path>
              </a:pathLst>
            </a:custGeom>
            <a:solidFill>
              <a:srgbClr val="EA6F08"/>
            </a:solidFill>
            <a:ln>
              <a:noFill/>
            </a:ln>
          </p:spPr>
        </p:sp>
        <p:sp>
          <p:nvSpPr>
            <p:cNvPr id="218" name="Google Shape;218;p8"/>
            <p:cNvSpPr txBox="1"/>
            <p:nvPr/>
          </p:nvSpPr>
          <p:spPr>
            <a:xfrm>
              <a:off x="127000" y="-57150"/>
              <a:ext cx="2455333" cy="2776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9" name="Google Shape;219;p8"/>
          <p:cNvGrpSpPr/>
          <p:nvPr/>
        </p:nvGrpSpPr>
        <p:grpSpPr>
          <a:xfrm>
            <a:off x="0" y="9305216"/>
            <a:ext cx="9193840" cy="981784"/>
            <a:chOff x="0" y="-57150"/>
            <a:chExt cx="2421423" cy="258577"/>
          </a:xfrm>
        </p:grpSpPr>
        <p:sp>
          <p:nvSpPr>
            <p:cNvPr id="220" name="Google Shape;220;p8"/>
            <p:cNvSpPr/>
            <p:nvPr/>
          </p:nvSpPr>
          <p:spPr>
            <a:xfrm>
              <a:off x="0" y="0"/>
              <a:ext cx="2421423" cy="201427"/>
            </a:xfrm>
            <a:custGeom>
              <a:rect b="b" l="l" r="r" t="t"/>
              <a:pathLst>
                <a:path extrusionOk="0" h="201427" w="2421423">
                  <a:moveTo>
                    <a:pt x="203200" y="0"/>
                  </a:moveTo>
                  <a:lnTo>
                    <a:pt x="2218223" y="0"/>
                  </a:lnTo>
                  <a:lnTo>
                    <a:pt x="2421423" y="201427"/>
                  </a:lnTo>
                  <a:lnTo>
                    <a:pt x="0" y="201427"/>
                  </a:lnTo>
                  <a:lnTo>
                    <a:pt x="203200" y="0"/>
                  </a:lnTo>
                  <a:close/>
                </a:path>
              </a:pathLst>
            </a:custGeom>
            <a:solidFill>
              <a:srgbClr val="F39D13"/>
            </a:solidFill>
            <a:ln>
              <a:noFill/>
            </a:ln>
          </p:spPr>
        </p:sp>
        <p:sp>
          <p:nvSpPr>
            <p:cNvPr id="221" name="Google Shape;221;p8"/>
            <p:cNvSpPr txBox="1"/>
            <p:nvPr/>
          </p:nvSpPr>
          <p:spPr>
            <a:xfrm>
              <a:off x="127000" y="-57150"/>
              <a:ext cx="2167423"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2" name="Google Shape;222;p8"/>
          <p:cNvGrpSpPr/>
          <p:nvPr/>
        </p:nvGrpSpPr>
        <p:grpSpPr>
          <a:xfrm>
            <a:off x="6107740" y="9305216"/>
            <a:ext cx="3086100" cy="3303091"/>
            <a:chOff x="0" y="-57150"/>
            <a:chExt cx="812800" cy="869950"/>
          </a:xfrm>
        </p:grpSpPr>
        <p:sp>
          <p:nvSpPr>
            <p:cNvPr id="223" name="Google Shape;223;p8"/>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39D13"/>
            </a:solidFill>
            <a:ln>
              <a:noFill/>
            </a:ln>
          </p:spPr>
        </p:sp>
        <p:sp>
          <p:nvSpPr>
            <p:cNvPr id="224" name="Google Shape;224;p8"/>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5" name="Google Shape;225;p8"/>
          <p:cNvGrpSpPr/>
          <p:nvPr/>
        </p:nvGrpSpPr>
        <p:grpSpPr>
          <a:xfrm rot="5400000">
            <a:off x="-4775836" y="4775836"/>
            <a:ext cx="10287000" cy="735328"/>
            <a:chOff x="0" y="-57150"/>
            <a:chExt cx="2709333" cy="193667"/>
          </a:xfrm>
        </p:grpSpPr>
        <p:sp>
          <p:nvSpPr>
            <p:cNvPr id="226" name="Google Shape;226;p8"/>
            <p:cNvSpPr/>
            <p:nvPr/>
          </p:nvSpPr>
          <p:spPr>
            <a:xfrm>
              <a:off x="0" y="0"/>
              <a:ext cx="2709333" cy="136517"/>
            </a:xfrm>
            <a:custGeom>
              <a:rect b="b" l="l" r="r" t="t"/>
              <a:pathLst>
                <a:path extrusionOk="0" h="136517" w="2709333">
                  <a:moveTo>
                    <a:pt x="203200" y="0"/>
                  </a:moveTo>
                  <a:lnTo>
                    <a:pt x="2506133" y="0"/>
                  </a:lnTo>
                  <a:lnTo>
                    <a:pt x="2709333" y="136517"/>
                  </a:lnTo>
                  <a:lnTo>
                    <a:pt x="0" y="136517"/>
                  </a:lnTo>
                  <a:lnTo>
                    <a:pt x="203200" y="0"/>
                  </a:lnTo>
                  <a:close/>
                </a:path>
              </a:pathLst>
            </a:custGeom>
            <a:solidFill>
              <a:srgbClr val="EA6F08"/>
            </a:solidFill>
            <a:ln>
              <a:noFill/>
            </a:ln>
          </p:spPr>
        </p:sp>
        <p:sp>
          <p:nvSpPr>
            <p:cNvPr id="227" name="Google Shape;227;p8"/>
            <p:cNvSpPr txBox="1"/>
            <p:nvPr/>
          </p:nvSpPr>
          <p:spPr>
            <a:xfrm>
              <a:off x="127000" y="-57150"/>
              <a:ext cx="2455333" cy="19366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p8"/>
          <p:cNvGrpSpPr/>
          <p:nvPr/>
        </p:nvGrpSpPr>
        <p:grpSpPr>
          <a:xfrm rot="10800000">
            <a:off x="0" y="-9244"/>
            <a:ext cx="9228174" cy="981784"/>
            <a:chOff x="0" y="-57150"/>
            <a:chExt cx="2430466" cy="258577"/>
          </a:xfrm>
        </p:grpSpPr>
        <p:sp>
          <p:nvSpPr>
            <p:cNvPr id="229" name="Google Shape;229;p8"/>
            <p:cNvSpPr/>
            <p:nvPr/>
          </p:nvSpPr>
          <p:spPr>
            <a:xfrm>
              <a:off x="0" y="0"/>
              <a:ext cx="2430466" cy="201427"/>
            </a:xfrm>
            <a:custGeom>
              <a:rect b="b" l="l" r="r" t="t"/>
              <a:pathLst>
                <a:path extrusionOk="0" h="201427" w="2430466">
                  <a:moveTo>
                    <a:pt x="203200" y="0"/>
                  </a:moveTo>
                  <a:lnTo>
                    <a:pt x="2227266" y="0"/>
                  </a:lnTo>
                  <a:lnTo>
                    <a:pt x="2430466" y="201427"/>
                  </a:lnTo>
                  <a:lnTo>
                    <a:pt x="0" y="201427"/>
                  </a:lnTo>
                  <a:lnTo>
                    <a:pt x="203200" y="0"/>
                  </a:lnTo>
                  <a:close/>
                </a:path>
              </a:pathLst>
            </a:custGeom>
            <a:solidFill>
              <a:srgbClr val="F08B0B"/>
            </a:solidFill>
            <a:ln>
              <a:noFill/>
            </a:ln>
          </p:spPr>
        </p:sp>
        <p:sp>
          <p:nvSpPr>
            <p:cNvPr id="230" name="Google Shape;230;p8"/>
            <p:cNvSpPr txBox="1"/>
            <p:nvPr/>
          </p:nvSpPr>
          <p:spPr>
            <a:xfrm>
              <a:off x="127000" y="-57150"/>
              <a:ext cx="2176466"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1" name="Google Shape;231;p8"/>
          <p:cNvGrpSpPr/>
          <p:nvPr/>
        </p:nvGrpSpPr>
        <p:grpSpPr>
          <a:xfrm rot="10800000">
            <a:off x="6142074" y="-2330551"/>
            <a:ext cx="3086100" cy="3303091"/>
            <a:chOff x="0" y="-57150"/>
            <a:chExt cx="812800" cy="869950"/>
          </a:xfrm>
        </p:grpSpPr>
        <p:sp>
          <p:nvSpPr>
            <p:cNvPr id="232" name="Google Shape;232;p8"/>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08B0B"/>
            </a:solidFill>
            <a:ln>
              <a:noFill/>
            </a:ln>
          </p:spPr>
        </p:sp>
        <p:sp>
          <p:nvSpPr>
            <p:cNvPr id="233" name="Google Shape;233;p8"/>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4" name="Google Shape;234;p8"/>
          <p:cNvSpPr/>
          <p:nvPr/>
        </p:nvSpPr>
        <p:spPr>
          <a:xfrm>
            <a:off x="418657" y="382677"/>
            <a:ext cx="17419651" cy="9531451"/>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9826244" y="3005830"/>
            <a:ext cx="6463683" cy="5750608"/>
          </a:xfrm>
          <a:custGeom>
            <a:rect b="b" l="l" r="r" t="t"/>
            <a:pathLst>
              <a:path extrusionOk="0" h="5750608" w="6463683">
                <a:moveTo>
                  <a:pt x="0" y="0"/>
                </a:moveTo>
                <a:lnTo>
                  <a:pt x="6463683" y="0"/>
                </a:lnTo>
                <a:lnTo>
                  <a:pt x="6463683" y="5750607"/>
                </a:lnTo>
                <a:lnTo>
                  <a:pt x="0" y="5750607"/>
                </a:lnTo>
                <a:lnTo>
                  <a:pt x="0" y="0"/>
                </a:lnTo>
                <a:close/>
              </a:path>
            </a:pathLst>
          </a:custGeom>
          <a:blipFill rotWithShape="1">
            <a:blip r:embed="rId3">
              <a:alphaModFix/>
            </a:blip>
            <a:stretch>
              <a:fillRect b="0" l="0" r="0" t="0"/>
            </a:stretch>
          </a:blipFill>
          <a:ln>
            <a:noFill/>
          </a:ln>
        </p:spPr>
      </p:sp>
      <p:graphicFrame>
        <p:nvGraphicFramePr>
          <p:cNvPr id="236" name="Google Shape;236;p8"/>
          <p:cNvGraphicFramePr/>
          <p:nvPr/>
        </p:nvGraphicFramePr>
        <p:xfrm>
          <a:off x="744606" y="1402531"/>
          <a:ext cx="3000000" cy="3000000"/>
        </p:xfrm>
        <a:graphic>
          <a:graphicData uri="http://schemas.openxmlformats.org/drawingml/2006/table">
            <a:tbl>
              <a:tblPr>
                <a:noFill/>
                <a:tableStyleId>{5DF216B1-4147-49AE-9F2D-B4AD6AC80257}</a:tableStyleId>
              </a:tblPr>
              <a:tblGrid>
                <a:gridCol w="1341700"/>
                <a:gridCol w="974275"/>
                <a:gridCol w="1049325"/>
                <a:gridCol w="1459150"/>
                <a:gridCol w="1267900"/>
                <a:gridCol w="1317175"/>
                <a:gridCol w="974300"/>
              </a:tblGrid>
              <a:tr h="1978350">
                <a:tc>
                  <a:txBody>
                    <a:bodyPr/>
                    <a:lstStyle/>
                    <a:p>
                      <a:pPr indent="0" lvl="0" marL="0" marR="0" rtl="0" algn="ctr">
                        <a:lnSpc>
                          <a:spcPct val="140000"/>
                        </a:lnSpc>
                        <a:spcBef>
                          <a:spcPts val="0"/>
                        </a:spcBef>
                        <a:spcAft>
                          <a:spcPts val="0"/>
                        </a:spcAft>
                        <a:buNone/>
                      </a:pPr>
                      <a:r>
                        <a:rPr b="1" lang="en-US" sz="2100" u="none" cap="none" strike="noStrike">
                          <a:solidFill>
                            <a:srgbClr val="2F2F2F"/>
                          </a:solidFill>
                          <a:latin typeface="Public Sans"/>
                          <a:ea typeface="Public Sans"/>
                          <a:cs typeface="Public Sans"/>
                          <a:sym typeface="Public Sans"/>
                        </a:rPr>
                        <a:t>Response</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solidFill>
                      <a:srgbClr val="FFEBCD"/>
                    </a:solidFill>
                  </a:tcPr>
                </a:tc>
                <a:tc>
                  <a:txBody>
                    <a:bodyPr/>
                    <a:lstStyle/>
                    <a:p>
                      <a:pPr indent="0" lvl="0" marL="0" marR="0" rtl="0" algn="ctr">
                        <a:lnSpc>
                          <a:spcPct val="140000"/>
                        </a:lnSpc>
                        <a:spcBef>
                          <a:spcPts val="0"/>
                        </a:spcBef>
                        <a:spcAft>
                          <a:spcPts val="0"/>
                        </a:spcAft>
                        <a:buNone/>
                      </a:pPr>
                      <a:r>
                        <a:rPr b="1" lang="en-US" sz="2100" u="none" cap="none" strike="noStrike">
                          <a:solidFill>
                            <a:srgbClr val="2F2F2F"/>
                          </a:solidFill>
                          <a:latin typeface="Public Sans"/>
                          <a:ea typeface="Public Sans"/>
                          <a:cs typeface="Public Sans"/>
                          <a:sym typeface="Public Sans"/>
                        </a:rPr>
                        <a:t>Mean Age</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solidFill>
                      <a:srgbClr val="FFEBCD"/>
                    </a:solidFill>
                  </a:tcPr>
                </a:tc>
                <a:tc>
                  <a:txBody>
                    <a:bodyPr/>
                    <a:lstStyle/>
                    <a:p>
                      <a:pPr indent="0" lvl="0" marL="0" marR="0" rtl="0" algn="ctr">
                        <a:lnSpc>
                          <a:spcPct val="140000"/>
                        </a:lnSpc>
                        <a:spcBef>
                          <a:spcPts val="0"/>
                        </a:spcBef>
                        <a:spcAft>
                          <a:spcPts val="0"/>
                        </a:spcAft>
                        <a:buNone/>
                      </a:pPr>
                      <a:r>
                        <a:rPr b="1" lang="en-US" sz="2100" u="none" cap="none" strike="noStrike">
                          <a:solidFill>
                            <a:srgbClr val="2F2F2F"/>
                          </a:solidFill>
                          <a:latin typeface="Public Sans"/>
                          <a:ea typeface="Public Sans"/>
                          <a:cs typeface="Public Sans"/>
                          <a:sym typeface="Public Sans"/>
                        </a:rPr>
                        <a:t>Median Age</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solidFill>
                      <a:srgbClr val="FFEBCD"/>
                    </a:solidFill>
                  </a:tcPr>
                </a:tc>
                <a:tc>
                  <a:txBody>
                    <a:bodyPr/>
                    <a:lstStyle/>
                    <a:p>
                      <a:pPr indent="0" lvl="0" marL="0" marR="0" rtl="0" algn="ctr">
                        <a:lnSpc>
                          <a:spcPct val="140000"/>
                        </a:lnSpc>
                        <a:spcBef>
                          <a:spcPts val="0"/>
                        </a:spcBef>
                        <a:spcAft>
                          <a:spcPts val="0"/>
                        </a:spcAft>
                        <a:buNone/>
                      </a:pPr>
                      <a:r>
                        <a:rPr b="1" lang="en-US" sz="2100" u="none" cap="none" strike="noStrike">
                          <a:solidFill>
                            <a:srgbClr val="2F2F2F"/>
                          </a:solidFill>
                          <a:latin typeface="Public Sans"/>
                          <a:ea typeface="Public Sans"/>
                          <a:cs typeface="Public Sans"/>
                          <a:sym typeface="Public Sans"/>
                        </a:rPr>
                        <a:t>Standard Deviation Age</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solidFill>
                      <a:srgbClr val="FFEBCD"/>
                    </a:solidFill>
                  </a:tcPr>
                </a:tc>
                <a:tc>
                  <a:txBody>
                    <a:bodyPr/>
                    <a:lstStyle/>
                    <a:p>
                      <a:pPr indent="0" lvl="0" marL="0" marR="0" rtl="0" algn="ctr">
                        <a:lnSpc>
                          <a:spcPct val="140000"/>
                        </a:lnSpc>
                        <a:spcBef>
                          <a:spcPts val="0"/>
                        </a:spcBef>
                        <a:spcAft>
                          <a:spcPts val="0"/>
                        </a:spcAft>
                        <a:buNone/>
                      </a:pPr>
                      <a:r>
                        <a:rPr b="1" lang="en-US" sz="2100" u="none" cap="none" strike="noStrike">
                          <a:solidFill>
                            <a:srgbClr val="2F2F2F"/>
                          </a:solidFill>
                          <a:latin typeface="Public Sans"/>
                          <a:ea typeface="Public Sans"/>
                          <a:cs typeface="Public Sans"/>
                          <a:sym typeface="Public Sans"/>
                        </a:rPr>
                        <a:t>Minimum Age</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solidFill>
                      <a:srgbClr val="FFEBCD"/>
                    </a:solidFill>
                  </a:tcPr>
                </a:tc>
                <a:tc>
                  <a:txBody>
                    <a:bodyPr/>
                    <a:lstStyle/>
                    <a:p>
                      <a:pPr indent="0" lvl="0" marL="0" marR="0" rtl="0" algn="ctr">
                        <a:lnSpc>
                          <a:spcPct val="140000"/>
                        </a:lnSpc>
                        <a:spcBef>
                          <a:spcPts val="0"/>
                        </a:spcBef>
                        <a:spcAft>
                          <a:spcPts val="0"/>
                        </a:spcAft>
                        <a:buNone/>
                      </a:pPr>
                      <a:r>
                        <a:rPr b="1" lang="en-US" sz="2100" u="none" cap="none" strike="noStrike">
                          <a:solidFill>
                            <a:srgbClr val="2F2F2F"/>
                          </a:solidFill>
                          <a:latin typeface="Public Sans"/>
                          <a:ea typeface="Public Sans"/>
                          <a:cs typeface="Public Sans"/>
                          <a:sym typeface="Public Sans"/>
                        </a:rPr>
                        <a:t>Maximum Age</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solidFill>
                      <a:srgbClr val="FFEBCD"/>
                    </a:solidFill>
                  </a:tcPr>
                </a:tc>
                <a:tc>
                  <a:txBody>
                    <a:bodyPr/>
                    <a:lstStyle/>
                    <a:p>
                      <a:pPr indent="0" lvl="0" marL="0" marR="0" rtl="0" algn="ctr">
                        <a:lnSpc>
                          <a:spcPct val="140000"/>
                        </a:lnSpc>
                        <a:spcBef>
                          <a:spcPts val="0"/>
                        </a:spcBef>
                        <a:spcAft>
                          <a:spcPts val="0"/>
                        </a:spcAft>
                        <a:buNone/>
                      </a:pPr>
                      <a:r>
                        <a:rPr b="1" lang="en-US" sz="2100" u="none" cap="none" strike="noStrike">
                          <a:solidFill>
                            <a:srgbClr val="2F2F2F"/>
                          </a:solidFill>
                          <a:latin typeface="Public Sans"/>
                          <a:ea typeface="Public Sans"/>
                          <a:cs typeface="Public Sans"/>
                          <a:sym typeface="Public Sans"/>
                        </a:rPr>
                        <a:t>Count</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solidFill>
                      <a:srgbClr val="FFEBCD"/>
                    </a:solidFill>
                  </a:tcPr>
                </a:tc>
              </a:tr>
              <a:tr h="1028875">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N=No</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61.7</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62</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6.96</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37</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79</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422</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r>
              <a:tr h="1028875">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Y=Yes</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61.8</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62</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7.27</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37</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79</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330</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r>
            </a:tbl>
          </a:graphicData>
        </a:graphic>
      </p:graphicFrame>
      <p:grpSp>
        <p:nvGrpSpPr>
          <p:cNvPr id="237" name="Google Shape;237;p8"/>
          <p:cNvGrpSpPr/>
          <p:nvPr/>
        </p:nvGrpSpPr>
        <p:grpSpPr>
          <a:xfrm>
            <a:off x="13471629" y="366008"/>
            <a:ext cx="6527368" cy="2065901"/>
            <a:chOff x="0" y="-9525"/>
            <a:chExt cx="8703157" cy="2754534"/>
          </a:xfrm>
        </p:grpSpPr>
        <p:sp>
          <p:nvSpPr>
            <p:cNvPr id="238" name="Google Shape;238;p8"/>
            <p:cNvSpPr txBox="1"/>
            <p:nvPr/>
          </p:nvSpPr>
          <p:spPr>
            <a:xfrm>
              <a:off x="0" y="2072121"/>
              <a:ext cx="8703157" cy="67288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200" u="none" cap="none" strike="noStrike">
                  <a:solidFill>
                    <a:srgbClr val="2F2F2F"/>
                  </a:solidFill>
                  <a:latin typeface="Barlow Medium"/>
                  <a:ea typeface="Barlow Medium"/>
                  <a:cs typeface="Barlow Medium"/>
                  <a:sym typeface="Barlow Medium"/>
                </a:rPr>
                <a:t>Key Factor 1: Age</a:t>
              </a:r>
              <a:endParaRPr/>
            </a:p>
          </p:txBody>
        </p:sp>
        <p:sp>
          <p:nvSpPr>
            <p:cNvPr id="239" name="Google Shape;239;p8"/>
            <p:cNvSpPr txBox="1"/>
            <p:nvPr/>
          </p:nvSpPr>
          <p:spPr>
            <a:xfrm>
              <a:off x="0" y="-9525"/>
              <a:ext cx="8703157" cy="1952625"/>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b="1" i="0" lang="en-US" sz="9600" u="none" cap="none" strike="noStrike">
                  <a:solidFill>
                    <a:srgbClr val="EA6F08"/>
                  </a:solidFill>
                  <a:latin typeface="Barlow Medium"/>
                  <a:ea typeface="Barlow Medium"/>
                  <a:cs typeface="Barlow Medium"/>
                  <a:sym typeface="Barlow Medium"/>
                </a:rPr>
                <a:t>Results</a:t>
              </a:r>
              <a:endParaRPr/>
            </a:p>
          </p:txBody>
        </p:sp>
      </p:grpSp>
      <p:sp>
        <p:nvSpPr>
          <p:cNvPr id="240" name="Google Shape;240;p8"/>
          <p:cNvSpPr txBox="1"/>
          <p:nvPr/>
        </p:nvSpPr>
        <p:spPr>
          <a:xfrm>
            <a:off x="1028700" y="6192016"/>
            <a:ext cx="6998207" cy="2557780"/>
          </a:xfrm>
          <a:prstGeom prst="rect">
            <a:avLst/>
          </a:prstGeom>
          <a:noFill/>
          <a:ln>
            <a:noFill/>
          </a:ln>
        </p:spPr>
        <p:txBody>
          <a:bodyPr anchorCtr="0" anchor="t" bIns="0" lIns="0" spcFirstLastPara="1" rIns="0" wrap="square" tIns="0">
            <a:spAutoFit/>
          </a:bodyPr>
          <a:lstStyle/>
          <a:p>
            <a:pPr indent="-280670" lvl="1" marL="561341" marR="0" rtl="0" algn="l">
              <a:lnSpc>
                <a:spcPct val="130000"/>
              </a:lnSpc>
              <a:spcBef>
                <a:spcPts val="0"/>
              </a:spcBef>
              <a:spcAft>
                <a:spcPts val="0"/>
              </a:spcAft>
              <a:buClr>
                <a:srgbClr val="2F2F2F"/>
              </a:buClr>
              <a:buSzPts val="2600"/>
              <a:buFont typeface="Arial"/>
              <a:buChar char="•"/>
            </a:pPr>
            <a:r>
              <a:rPr b="1" i="0" lang="en-US" sz="2600" u="none" cap="none" strike="noStrike">
                <a:solidFill>
                  <a:srgbClr val="2F2F2F"/>
                </a:solidFill>
                <a:latin typeface="Barlow Medium"/>
                <a:ea typeface="Barlow Medium"/>
                <a:cs typeface="Barlow Medium"/>
                <a:sym typeface="Barlow Medium"/>
              </a:rPr>
              <a:t>Younger patients tend to respond better to Miraculon-B.</a:t>
            </a:r>
            <a:endParaRPr/>
          </a:p>
          <a:p>
            <a:pPr indent="-280670" lvl="1" marL="561341" marR="0" rtl="0" algn="l">
              <a:lnSpc>
                <a:spcPct val="130000"/>
              </a:lnSpc>
              <a:spcBef>
                <a:spcPts val="0"/>
              </a:spcBef>
              <a:spcAft>
                <a:spcPts val="0"/>
              </a:spcAft>
              <a:buClr>
                <a:srgbClr val="2F2F2F"/>
              </a:buClr>
              <a:buSzPts val="2600"/>
              <a:buFont typeface="Arial"/>
              <a:buChar char="•"/>
            </a:pPr>
            <a:r>
              <a:rPr b="1" i="0" lang="en-US" sz="2600" u="none" cap="none" strike="noStrike">
                <a:solidFill>
                  <a:srgbClr val="2F2F2F"/>
                </a:solidFill>
                <a:latin typeface="Barlow Medium"/>
                <a:ea typeface="Barlow Medium"/>
                <a:cs typeface="Barlow Medium"/>
                <a:sym typeface="Barlow Medium"/>
              </a:rPr>
              <a:t>Statistical tests confirm a significant difference in age between responders and non-responders (p &lt; 0.05).</a:t>
            </a:r>
            <a:endParaRPr/>
          </a:p>
          <a:p>
            <a:pPr indent="0" lvl="0" marL="0" marR="0" rtl="0" algn="l">
              <a:lnSpc>
                <a:spcPct val="130000"/>
              </a:lnSpc>
              <a:spcBef>
                <a:spcPts val="0"/>
              </a:spcBef>
              <a:spcAft>
                <a:spcPts val="0"/>
              </a:spcAft>
              <a:buNone/>
            </a:pPr>
            <a:r>
              <a:t/>
            </a:r>
            <a:endParaRPr b="1" i="0" sz="2600" u="none" cap="none" strike="noStrike">
              <a:solidFill>
                <a:srgbClr val="2F2F2F"/>
              </a:solidFill>
              <a:latin typeface="Barlow Medium"/>
              <a:ea typeface="Barlow Medium"/>
              <a:cs typeface="Barlow Medium"/>
              <a:sym typeface="Barlow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48" name="Shape 248"/>
        <p:cNvGrpSpPr/>
        <p:nvPr/>
      </p:nvGrpSpPr>
      <p:grpSpPr>
        <a:xfrm>
          <a:off x="0" y="0"/>
          <a:ext cx="0" cy="0"/>
          <a:chOff x="0" y="0"/>
          <a:chExt cx="0" cy="0"/>
        </a:xfrm>
      </p:grpSpPr>
      <p:grpSp>
        <p:nvGrpSpPr>
          <p:cNvPr id="249" name="Google Shape;249;p9"/>
          <p:cNvGrpSpPr/>
          <p:nvPr/>
        </p:nvGrpSpPr>
        <p:grpSpPr>
          <a:xfrm rot="10800000">
            <a:off x="449693" y="-2325929"/>
            <a:ext cx="17838308" cy="14938858"/>
            <a:chOff x="-1" y="0"/>
            <a:chExt cx="23784411" cy="19918477"/>
          </a:xfrm>
        </p:grpSpPr>
        <p:grpSp>
          <p:nvGrpSpPr>
            <p:cNvPr id="250" name="Google Shape;250;p9"/>
            <p:cNvGrpSpPr/>
            <p:nvPr/>
          </p:nvGrpSpPr>
          <p:grpSpPr>
            <a:xfrm>
              <a:off x="8143653" y="15514355"/>
              <a:ext cx="4114800" cy="4404122"/>
              <a:chOff x="0" y="-57150"/>
              <a:chExt cx="812800" cy="869950"/>
            </a:xfrm>
          </p:grpSpPr>
          <p:sp>
            <p:nvSpPr>
              <p:cNvPr id="251" name="Google Shape;251;p9"/>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39D13"/>
              </a:solidFill>
              <a:ln>
                <a:noFill/>
              </a:ln>
            </p:spPr>
          </p:sp>
          <p:sp>
            <p:nvSpPr>
              <p:cNvPr id="252" name="Google Shape;252;p9"/>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3" name="Google Shape;253;p9"/>
            <p:cNvGrpSpPr/>
            <p:nvPr/>
          </p:nvGrpSpPr>
          <p:grpSpPr>
            <a:xfrm rot="10800000">
              <a:off x="8189433" y="0"/>
              <a:ext cx="4114800" cy="4404122"/>
              <a:chOff x="0" y="-57150"/>
              <a:chExt cx="812800" cy="869950"/>
            </a:xfrm>
          </p:grpSpPr>
          <p:sp>
            <p:nvSpPr>
              <p:cNvPr id="254" name="Google Shape;254;p9"/>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08B0B"/>
              </a:solidFill>
              <a:ln>
                <a:noFill/>
              </a:ln>
            </p:spPr>
          </p:sp>
          <p:sp>
            <p:nvSpPr>
              <p:cNvPr id="255" name="Google Shape;255;p9"/>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6" name="Google Shape;256;p9"/>
            <p:cNvGrpSpPr/>
            <p:nvPr/>
          </p:nvGrpSpPr>
          <p:grpSpPr>
            <a:xfrm rot="5400000">
              <a:off x="-6155130" y="9262531"/>
              <a:ext cx="13716000" cy="1405741"/>
              <a:chOff x="0" y="-57150"/>
              <a:chExt cx="2709333" cy="277677"/>
            </a:xfrm>
          </p:grpSpPr>
          <p:sp>
            <p:nvSpPr>
              <p:cNvPr id="257" name="Google Shape;257;p9"/>
              <p:cNvSpPr/>
              <p:nvPr/>
            </p:nvSpPr>
            <p:spPr>
              <a:xfrm>
                <a:off x="0" y="0"/>
                <a:ext cx="2709333" cy="220527"/>
              </a:xfrm>
              <a:custGeom>
                <a:rect b="b" l="l" r="r" t="t"/>
                <a:pathLst>
                  <a:path extrusionOk="0" h="220527" w="2709333">
                    <a:moveTo>
                      <a:pt x="203200" y="0"/>
                    </a:moveTo>
                    <a:lnTo>
                      <a:pt x="2506133" y="0"/>
                    </a:lnTo>
                    <a:lnTo>
                      <a:pt x="2709333" y="220527"/>
                    </a:lnTo>
                    <a:lnTo>
                      <a:pt x="0" y="220527"/>
                    </a:lnTo>
                    <a:lnTo>
                      <a:pt x="203200" y="0"/>
                    </a:lnTo>
                    <a:close/>
                  </a:path>
                </a:pathLst>
              </a:custGeom>
              <a:solidFill>
                <a:srgbClr val="EA6F08"/>
              </a:solidFill>
              <a:ln>
                <a:noFill/>
              </a:ln>
            </p:spPr>
          </p:sp>
          <p:sp>
            <p:nvSpPr>
              <p:cNvPr id="258" name="Google Shape;258;p9"/>
              <p:cNvSpPr txBox="1"/>
              <p:nvPr/>
            </p:nvSpPr>
            <p:spPr>
              <a:xfrm>
                <a:off x="127000" y="-57150"/>
                <a:ext cx="2455333" cy="2776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9" name="Google Shape;259;p9"/>
            <p:cNvGrpSpPr/>
            <p:nvPr/>
          </p:nvGrpSpPr>
          <p:grpSpPr>
            <a:xfrm>
              <a:off x="0" y="15514355"/>
              <a:ext cx="12258453" cy="1309046"/>
              <a:chOff x="0" y="-57150"/>
              <a:chExt cx="2421423" cy="258577"/>
            </a:xfrm>
          </p:grpSpPr>
          <p:sp>
            <p:nvSpPr>
              <p:cNvPr id="260" name="Google Shape;260;p9"/>
              <p:cNvSpPr/>
              <p:nvPr/>
            </p:nvSpPr>
            <p:spPr>
              <a:xfrm>
                <a:off x="0" y="0"/>
                <a:ext cx="2421423" cy="201427"/>
              </a:xfrm>
              <a:custGeom>
                <a:rect b="b" l="l" r="r" t="t"/>
                <a:pathLst>
                  <a:path extrusionOk="0" h="201427" w="2421423">
                    <a:moveTo>
                      <a:pt x="203200" y="0"/>
                    </a:moveTo>
                    <a:lnTo>
                      <a:pt x="2218223" y="0"/>
                    </a:lnTo>
                    <a:lnTo>
                      <a:pt x="2421423" y="201427"/>
                    </a:lnTo>
                    <a:lnTo>
                      <a:pt x="0" y="201427"/>
                    </a:lnTo>
                    <a:lnTo>
                      <a:pt x="203200" y="0"/>
                    </a:lnTo>
                    <a:close/>
                  </a:path>
                </a:pathLst>
              </a:custGeom>
              <a:solidFill>
                <a:srgbClr val="F39D13"/>
              </a:solidFill>
              <a:ln>
                <a:noFill/>
              </a:ln>
            </p:spPr>
          </p:sp>
          <p:sp>
            <p:nvSpPr>
              <p:cNvPr id="261" name="Google Shape;261;p9"/>
              <p:cNvSpPr txBox="1"/>
              <p:nvPr/>
            </p:nvSpPr>
            <p:spPr>
              <a:xfrm>
                <a:off x="127000" y="-57150"/>
                <a:ext cx="2167423"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2" name="Google Shape;262;p9"/>
            <p:cNvGrpSpPr/>
            <p:nvPr/>
          </p:nvGrpSpPr>
          <p:grpSpPr>
            <a:xfrm rot="5400000">
              <a:off x="-6367781" y="9475182"/>
              <a:ext cx="13716000" cy="980437"/>
              <a:chOff x="0" y="-57150"/>
              <a:chExt cx="2709333" cy="193667"/>
            </a:xfrm>
          </p:grpSpPr>
          <p:sp>
            <p:nvSpPr>
              <p:cNvPr id="263" name="Google Shape;263;p9"/>
              <p:cNvSpPr/>
              <p:nvPr/>
            </p:nvSpPr>
            <p:spPr>
              <a:xfrm>
                <a:off x="0" y="0"/>
                <a:ext cx="2709333" cy="136517"/>
              </a:xfrm>
              <a:custGeom>
                <a:rect b="b" l="l" r="r" t="t"/>
                <a:pathLst>
                  <a:path extrusionOk="0" h="136517" w="2709333">
                    <a:moveTo>
                      <a:pt x="203200" y="0"/>
                    </a:moveTo>
                    <a:lnTo>
                      <a:pt x="2506133" y="0"/>
                    </a:lnTo>
                    <a:lnTo>
                      <a:pt x="2709333" y="136517"/>
                    </a:lnTo>
                    <a:lnTo>
                      <a:pt x="0" y="136517"/>
                    </a:lnTo>
                    <a:lnTo>
                      <a:pt x="203200" y="0"/>
                    </a:lnTo>
                    <a:close/>
                  </a:path>
                </a:pathLst>
              </a:custGeom>
              <a:solidFill>
                <a:srgbClr val="EA6F08"/>
              </a:solidFill>
              <a:ln>
                <a:noFill/>
              </a:ln>
            </p:spPr>
          </p:sp>
          <p:sp>
            <p:nvSpPr>
              <p:cNvPr id="264" name="Google Shape;264;p9"/>
              <p:cNvSpPr txBox="1"/>
              <p:nvPr/>
            </p:nvSpPr>
            <p:spPr>
              <a:xfrm>
                <a:off x="127000" y="-57150"/>
                <a:ext cx="2455333" cy="19366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5" name="Google Shape;265;p9"/>
            <p:cNvGrpSpPr/>
            <p:nvPr/>
          </p:nvGrpSpPr>
          <p:grpSpPr>
            <a:xfrm rot="10800000">
              <a:off x="0" y="3095076"/>
              <a:ext cx="12304233" cy="1309046"/>
              <a:chOff x="0" y="-57150"/>
              <a:chExt cx="2430466" cy="258577"/>
            </a:xfrm>
          </p:grpSpPr>
          <p:sp>
            <p:nvSpPr>
              <p:cNvPr id="266" name="Google Shape;266;p9"/>
              <p:cNvSpPr/>
              <p:nvPr/>
            </p:nvSpPr>
            <p:spPr>
              <a:xfrm>
                <a:off x="0" y="0"/>
                <a:ext cx="2430466" cy="201427"/>
              </a:xfrm>
              <a:custGeom>
                <a:rect b="b" l="l" r="r" t="t"/>
                <a:pathLst>
                  <a:path extrusionOk="0" h="201427" w="2430466">
                    <a:moveTo>
                      <a:pt x="203200" y="0"/>
                    </a:moveTo>
                    <a:lnTo>
                      <a:pt x="2227266" y="0"/>
                    </a:lnTo>
                    <a:lnTo>
                      <a:pt x="2430466" y="201427"/>
                    </a:lnTo>
                    <a:lnTo>
                      <a:pt x="0" y="201427"/>
                    </a:lnTo>
                    <a:lnTo>
                      <a:pt x="203200" y="0"/>
                    </a:lnTo>
                    <a:close/>
                  </a:path>
                </a:pathLst>
              </a:custGeom>
              <a:solidFill>
                <a:srgbClr val="F08B0B"/>
              </a:solidFill>
              <a:ln>
                <a:noFill/>
              </a:ln>
            </p:spPr>
          </p:sp>
          <p:sp>
            <p:nvSpPr>
              <p:cNvPr id="267" name="Google Shape;267;p9"/>
              <p:cNvSpPr txBox="1"/>
              <p:nvPr/>
            </p:nvSpPr>
            <p:spPr>
              <a:xfrm>
                <a:off x="127000" y="-57150"/>
                <a:ext cx="2176466"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8" name="Google Shape;268;p9"/>
            <p:cNvSpPr/>
            <p:nvPr/>
          </p:nvSpPr>
          <p:spPr>
            <a:xfrm>
              <a:off x="558209" y="3617638"/>
              <a:ext cx="23226201" cy="12708601"/>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9" name="Google Shape;269;p9"/>
          <p:cNvSpPr/>
          <p:nvPr/>
        </p:nvSpPr>
        <p:spPr>
          <a:xfrm>
            <a:off x="1028700" y="3075156"/>
            <a:ext cx="7368261" cy="5572084"/>
          </a:xfrm>
          <a:custGeom>
            <a:rect b="b" l="l" r="r" t="t"/>
            <a:pathLst>
              <a:path extrusionOk="0" h="5572084" w="7368261">
                <a:moveTo>
                  <a:pt x="0" y="0"/>
                </a:moveTo>
                <a:lnTo>
                  <a:pt x="7368261" y="0"/>
                </a:lnTo>
                <a:lnTo>
                  <a:pt x="7368261" y="5572084"/>
                </a:lnTo>
                <a:lnTo>
                  <a:pt x="0" y="5572084"/>
                </a:lnTo>
                <a:lnTo>
                  <a:pt x="0" y="0"/>
                </a:lnTo>
                <a:close/>
              </a:path>
            </a:pathLst>
          </a:custGeom>
          <a:blipFill rotWithShape="1">
            <a:blip r:embed="rId3">
              <a:alphaModFix/>
            </a:blip>
            <a:stretch>
              <a:fillRect b="0" l="0" r="0" t="0"/>
            </a:stretch>
          </a:blipFill>
          <a:ln>
            <a:noFill/>
          </a:ln>
        </p:spPr>
      </p:sp>
      <p:grpSp>
        <p:nvGrpSpPr>
          <p:cNvPr id="270" name="Google Shape;270;p9"/>
          <p:cNvGrpSpPr/>
          <p:nvPr/>
        </p:nvGrpSpPr>
        <p:grpSpPr>
          <a:xfrm>
            <a:off x="449692" y="625177"/>
            <a:ext cx="6527368" cy="2065901"/>
            <a:chOff x="0" y="-9525"/>
            <a:chExt cx="8703157" cy="2754534"/>
          </a:xfrm>
        </p:grpSpPr>
        <p:sp>
          <p:nvSpPr>
            <p:cNvPr id="271" name="Google Shape;271;p9"/>
            <p:cNvSpPr txBox="1"/>
            <p:nvPr/>
          </p:nvSpPr>
          <p:spPr>
            <a:xfrm>
              <a:off x="0" y="2072121"/>
              <a:ext cx="8703157" cy="67288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200" u="none" cap="none" strike="noStrike">
                  <a:solidFill>
                    <a:srgbClr val="2F2F2F"/>
                  </a:solidFill>
                  <a:latin typeface="Barlow Medium"/>
                  <a:ea typeface="Barlow Medium"/>
                  <a:cs typeface="Barlow Medium"/>
                  <a:sym typeface="Barlow Medium"/>
                </a:rPr>
                <a:t>Key Factor 2: BMI</a:t>
              </a:r>
              <a:endParaRPr/>
            </a:p>
          </p:txBody>
        </p:sp>
        <p:sp>
          <p:nvSpPr>
            <p:cNvPr id="272" name="Google Shape;272;p9"/>
            <p:cNvSpPr txBox="1"/>
            <p:nvPr/>
          </p:nvSpPr>
          <p:spPr>
            <a:xfrm>
              <a:off x="0" y="-9525"/>
              <a:ext cx="8703157" cy="1952625"/>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b="1" i="0" lang="en-US" sz="9600" u="none" cap="none" strike="noStrike">
                  <a:solidFill>
                    <a:srgbClr val="EA6F08"/>
                  </a:solidFill>
                  <a:latin typeface="Barlow Medium"/>
                  <a:ea typeface="Barlow Medium"/>
                  <a:cs typeface="Barlow Medium"/>
                  <a:sym typeface="Barlow Medium"/>
                </a:rPr>
                <a:t>Results</a:t>
              </a:r>
              <a:endParaRPr/>
            </a:p>
          </p:txBody>
        </p:sp>
      </p:grpSp>
      <p:sp>
        <p:nvSpPr>
          <p:cNvPr id="273" name="Google Shape;273;p9"/>
          <p:cNvSpPr txBox="1"/>
          <p:nvPr/>
        </p:nvSpPr>
        <p:spPr>
          <a:xfrm>
            <a:off x="9625275" y="7677825"/>
            <a:ext cx="7128600" cy="1274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300" u="none" cap="none" strike="noStrike">
                <a:solidFill>
                  <a:srgbClr val="2F2F2F"/>
                </a:solidFill>
                <a:latin typeface="Barlow Light"/>
                <a:ea typeface="Barlow Light"/>
                <a:cs typeface="Barlow Light"/>
                <a:sym typeface="Barlow Light"/>
              </a:rPr>
              <a:t>Targeting patients with higher BMI could increase treatment efficacy and reduce unnecessary prescriptions.</a:t>
            </a:r>
            <a:endParaRPr sz="1700"/>
          </a:p>
        </p:txBody>
      </p:sp>
      <p:sp>
        <p:nvSpPr>
          <p:cNvPr id="274" name="Google Shape;274;p9"/>
          <p:cNvSpPr txBox="1"/>
          <p:nvPr/>
        </p:nvSpPr>
        <p:spPr>
          <a:xfrm>
            <a:off x="9144000" y="5465633"/>
            <a:ext cx="8130900" cy="1961100"/>
          </a:xfrm>
          <a:prstGeom prst="rect">
            <a:avLst/>
          </a:prstGeom>
          <a:noFill/>
          <a:ln>
            <a:noFill/>
          </a:ln>
        </p:spPr>
        <p:txBody>
          <a:bodyPr anchorCtr="0" anchor="t" bIns="0" lIns="0" spcFirstLastPara="1" rIns="0" wrap="square" tIns="0">
            <a:spAutoFit/>
          </a:bodyPr>
          <a:lstStyle/>
          <a:p>
            <a:pPr indent="-280670" lvl="1" marL="561341" marR="0" rtl="0" algn="l">
              <a:lnSpc>
                <a:spcPct val="130000"/>
              </a:lnSpc>
              <a:spcBef>
                <a:spcPts val="0"/>
              </a:spcBef>
              <a:spcAft>
                <a:spcPts val="0"/>
              </a:spcAft>
              <a:buClr>
                <a:srgbClr val="2F2F2F"/>
              </a:buClr>
              <a:buSzPts val="2600"/>
              <a:buFont typeface="Arial"/>
              <a:buChar char="•"/>
            </a:pPr>
            <a:r>
              <a:rPr b="1" i="0" lang="en-US" sz="2600" u="none" cap="none" strike="noStrike">
                <a:solidFill>
                  <a:srgbClr val="2F2F2F"/>
                </a:solidFill>
                <a:latin typeface="Barlow Medium"/>
                <a:ea typeface="Barlow Medium"/>
                <a:cs typeface="Barlow Medium"/>
                <a:sym typeface="Barlow Medium"/>
              </a:rPr>
              <a:t>Patients with higher BMI are more likely to respond to Miraculon-B.</a:t>
            </a:r>
            <a:endParaRPr/>
          </a:p>
          <a:p>
            <a:pPr indent="-280670" lvl="1" marL="561341" marR="0" rtl="0" algn="l">
              <a:lnSpc>
                <a:spcPct val="130000"/>
              </a:lnSpc>
              <a:spcBef>
                <a:spcPts val="0"/>
              </a:spcBef>
              <a:spcAft>
                <a:spcPts val="0"/>
              </a:spcAft>
              <a:buClr>
                <a:srgbClr val="2F2F2F"/>
              </a:buClr>
              <a:buSzPts val="2600"/>
              <a:buFont typeface="Arial"/>
              <a:buChar char="•"/>
            </a:pPr>
            <a:r>
              <a:rPr b="1" i="0" lang="en-US" sz="2600" u="none" cap="none" strike="noStrike">
                <a:solidFill>
                  <a:srgbClr val="2F2F2F"/>
                </a:solidFill>
                <a:latin typeface="Barlow Medium"/>
                <a:ea typeface="Barlow Medium"/>
                <a:cs typeface="Barlow Medium"/>
                <a:sym typeface="Barlow Medium"/>
              </a:rPr>
              <a:t>This was validated through ANOVA testing, showing a significant difference in BMI across groups.</a:t>
            </a:r>
            <a:endParaRPr/>
          </a:p>
        </p:txBody>
      </p:sp>
      <p:graphicFrame>
        <p:nvGraphicFramePr>
          <p:cNvPr id="275" name="Google Shape;275;p9"/>
          <p:cNvGraphicFramePr/>
          <p:nvPr/>
        </p:nvGraphicFramePr>
        <p:xfrm>
          <a:off x="9128483" y="1178431"/>
          <a:ext cx="3000000" cy="3000000"/>
        </p:xfrm>
        <a:graphic>
          <a:graphicData uri="http://schemas.openxmlformats.org/drawingml/2006/table">
            <a:tbl>
              <a:tblPr>
                <a:noFill/>
                <a:tableStyleId>{5DF216B1-4147-49AE-9F2D-B4AD6AC80257}</a:tableStyleId>
              </a:tblPr>
              <a:tblGrid>
                <a:gridCol w="1846350"/>
                <a:gridCol w="1340725"/>
                <a:gridCol w="1517275"/>
                <a:gridCol w="1934725"/>
                <a:gridCol w="1744800"/>
              </a:tblGrid>
              <a:tr h="1978350">
                <a:tc>
                  <a:txBody>
                    <a:bodyPr/>
                    <a:lstStyle/>
                    <a:p>
                      <a:pPr indent="0" lvl="0" marL="0" marR="0" rtl="0" algn="ctr">
                        <a:lnSpc>
                          <a:spcPct val="140000"/>
                        </a:lnSpc>
                        <a:spcBef>
                          <a:spcPts val="0"/>
                        </a:spcBef>
                        <a:spcAft>
                          <a:spcPts val="0"/>
                        </a:spcAft>
                        <a:buNone/>
                      </a:pPr>
                      <a:r>
                        <a:rPr b="1" lang="en-US" sz="2100" u="none" cap="none" strike="noStrike">
                          <a:solidFill>
                            <a:srgbClr val="2F2F2F"/>
                          </a:solidFill>
                          <a:latin typeface="Public Sans"/>
                          <a:ea typeface="Public Sans"/>
                          <a:cs typeface="Public Sans"/>
                          <a:sym typeface="Public Sans"/>
                        </a:rPr>
                        <a:t>Response</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solidFill>
                      <a:srgbClr val="FFEBCD"/>
                    </a:solidFill>
                  </a:tcPr>
                </a:tc>
                <a:tc>
                  <a:txBody>
                    <a:bodyPr/>
                    <a:lstStyle/>
                    <a:p>
                      <a:pPr indent="0" lvl="0" marL="0" marR="0" rtl="0" algn="ctr">
                        <a:lnSpc>
                          <a:spcPct val="140000"/>
                        </a:lnSpc>
                        <a:spcBef>
                          <a:spcPts val="0"/>
                        </a:spcBef>
                        <a:spcAft>
                          <a:spcPts val="0"/>
                        </a:spcAft>
                        <a:buNone/>
                      </a:pPr>
                      <a:r>
                        <a:rPr b="1" lang="en-US" sz="2100" u="none" cap="none" strike="noStrike">
                          <a:solidFill>
                            <a:srgbClr val="2F2F2F"/>
                          </a:solidFill>
                          <a:latin typeface="Public Sans"/>
                          <a:ea typeface="Public Sans"/>
                          <a:cs typeface="Public Sans"/>
                          <a:sym typeface="Public Sans"/>
                        </a:rPr>
                        <a:t>Mean BMI</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solidFill>
                      <a:srgbClr val="FFEBCD"/>
                    </a:solidFill>
                  </a:tcPr>
                </a:tc>
                <a:tc>
                  <a:txBody>
                    <a:bodyPr/>
                    <a:lstStyle/>
                    <a:p>
                      <a:pPr indent="0" lvl="0" marL="0" marR="0" rtl="0" algn="ctr">
                        <a:lnSpc>
                          <a:spcPct val="140000"/>
                        </a:lnSpc>
                        <a:spcBef>
                          <a:spcPts val="0"/>
                        </a:spcBef>
                        <a:spcAft>
                          <a:spcPts val="0"/>
                        </a:spcAft>
                        <a:buNone/>
                      </a:pPr>
                      <a:r>
                        <a:rPr b="1" lang="en-US" sz="2100" u="none" cap="none" strike="noStrike">
                          <a:solidFill>
                            <a:srgbClr val="2F2F2F"/>
                          </a:solidFill>
                          <a:latin typeface="Public Sans"/>
                          <a:ea typeface="Public Sans"/>
                          <a:cs typeface="Public Sans"/>
                          <a:sym typeface="Public Sans"/>
                        </a:rPr>
                        <a:t>Medium BMI</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solidFill>
                      <a:srgbClr val="FFEBCD"/>
                    </a:solidFill>
                  </a:tcPr>
                </a:tc>
                <a:tc>
                  <a:txBody>
                    <a:bodyPr/>
                    <a:lstStyle/>
                    <a:p>
                      <a:pPr indent="0" lvl="0" marL="0" marR="0" rtl="0" algn="ctr">
                        <a:lnSpc>
                          <a:spcPct val="140000"/>
                        </a:lnSpc>
                        <a:spcBef>
                          <a:spcPts val="0"/>
                        </a:spcBef>
                        <a:spcAft>
                          <a:spcPts val="0"/>
                        </a:spcAft>
                        <a:buNone/>
                      </a:pPr>
                      <a:r>
                        <a:rPr b="1" lang="en-US" sz="2100" u="none" cap="none" strike="noStrike">
                          <a:solidFill>
                            <a:srgbClr val="2F2F2F"/>
                          </a:solidFill>
                          <a:latin typeface="Public Sans"/>
                          <a:ea typeface="Public Sans"/>
                          <a:cs typeface="Public Sans"/>
                          <a:sym typeface="Public Sans"/>
                        </a:rPr>
                        <a:t>Standard Deviation BMI</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solidFill>
                      <a:srgbClr val="FFEBCD"/>
                    </a:solidFill>
                  </a:tcPr>
                </a:tc>
                <a:tc>
                  <a:txBody>
                    <a:bodyPr/>
                    <a:lstStyle/>
                    <a:p>
                      <a:pPr indent="0" lvl="0" marL="0" marR="0" rtl="0" algn="ctr">
                        <a:lnSpc>
                          <a:spcPct val="140000"/>
                        </a:lnSpc>
                        <a:spcBef>
                          <a:spcPts val="0"/>
                        </a:spcBef>
                        <a:spcAft>
                          <a:spcPts val="0"/>
                        </a:spcAft>
                        <a:buNone/>
                      </a:pPr>
                      <a:r>
                        <a:rPr b="1" lang="en-US" sz="2100" u="none" cap="none" strike="noStrike">
                          <a:solidFill>
                            <a:srgbClr val="2F2F2F"/>
                          </a:solidFill>
                          <a:latin typeface="Public Sans"/>
                          <a:ea typeface="Public Sans"/>
                          <a:cs typeface="Public Sans"/>
                          <a:sym typeface="Public Sans"/>
                        </a:rPr>
                        <a:t>Varience BMI</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solidFill>
                      <a:srgbClr val="FFEBCD"/>
                    </a:solidFill>
                  </a:tcPr>
                </a:tc>
              </a:tr>
              <a:tr h="1028875">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N=No</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31.9</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31.4</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6.44</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41.5</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r>
              <a:tr h="1028875">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Y=Yes</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32.9</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32.8</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7.46</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100" u="none" cap="none" strike="noStrike">
                          <a:solidFill>
                            <a:srgbClr val="2F2F2F"/>
                          </a:solidFill>
                          <a:latin typeface="Public Sans"/>
                          <a:ea typeface="Public Sans"/>
                          <a:cs typeface="Public Sans"/>
                          <a:sym typeface="Public Sans"/>
                        </a:rPr>
                        <a:t>55.7</a:t>
                      </a:r>
                      <a:endParaRPr sz="1100" u="none" cap="none" strike="noStrike"/>
                    </a:p>
                  </a:txBody>
                  <a:tcPr marT="0" marB="0" marR="0" marL="0" anchor="ctr">
                    <a:lnL cap="flat" cmpd="sng" w="38100">
                      <a:solidFill>
                        <a:srgbClr val="FFD699"/>
                      </a:solidFill>
                      <a:prstDash val="solid"/>
                      <a:round/>
                      <a:headEnd len="sm" w="sm" type="none"/>
                      <a:tailEnd len="sm" w="sm" type="none"/>
                    </a:lnL>
                    <a:lnR cap="flat" cmpd="sng" w="38100">
                      <a:solidFill>
                        <a:srgbClr val="FFD699"/>
                      </a:solidFill>
                      <a:prstDash val="solid"/>
                      <a:round/>
                      <a:headEnd len="sm" w="sm" type="none"/>
                      <a:tailEnd len="sm" w="sm" type="none"/>
                    </a:lnR>
                    <a:lnT cap="flat" cmpd="sng" w="38100">
                      <a:solidFill>
                        <a:srgbClr val="FFD699"/>
                      </a:solidFill>
                      <a:prstDash val="solid"/>
                      <a:round/>
                      <a:headEnd len="sm" w="sm" type="none"/>
                      <a:tailEnd len="sm" w="sm" type="none"/>
                    </a:lnT>
                    <a:lnB cap="flat" cmpd="sng" w="38100">
                      <a:solidFill>
                        <a:srgbClr val="FFD699"/>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83" name="Shape 283"/>
        <p:cNvGrpSpPr/>
        <p:nvPr/>
      </p:nvGrpSpPr>
      <p:grpSpPr>
        <a:xfrm>
          <a:off x="0" y="0"/>
          <a:ext cx="0" cy="0"/>
          <a:chOff x="0" y="0"/>
          <a:chExt cx="0" cy="0"/>
        </a:xfrm>
      </p:grpSpPr>
      <p:grpSp>
        <p:nvGrpSpPr>
          <p:cNvPr id="284" name="Google Shape;284;p10"/>
          <p:cNvGrpSpPr/>
          <p:nvPr/>
        </p:nvGrpSpPr>
        <p:grpSpPr>
          <a:xfrm rot="5400000">
            <a:off x="-4616347" y="4616347"/>
            <a:ext cx="10287000" cy="1054306"/>
            <a:chOff x="0" y="-57150"/>
            <a:chExt cx="2709333" cy="277677"/>
          </a:xfrm>
        </p:grpSpPr>
        <p:sp>
          <p:nvSpPr>
            <p:cNvPr id="285" name="Google Shape;285;p10"/>
            <p:cNvSpPr/>
            <p:nvPr/>
          </p:nvSpPr>
          <p:spPr>
            <a:xfrm>
              <a:off x="0" y="0"/>
              <a:ext cx="2709333" cy="220527"/>
            </a:xfrm>
            <a:custGeom>
              <a:rect b="b" l="l" r="r" t="t"/>
              <a:pathLst>
                <a:path extrusionOk="0" h="220527" w="2709333">
                  <a:moveTo>
                    <a:pt x="203200" y="0"/>
                  </a:moveTo>
                  <a:lnTo>
                    <a:pt x="2506133" y="0"/>
                  </a:lnTo>
                  <a:lnTo>
                    <a:pt x="2709333" y="220527"/>
                  </a:lnTo>
                  <a:lnTo>
                    <a:pt x="0" y="220527"/>
                  </a:lnTo>
                  <a:lnTo>
                    <a:pt x="203200" y="0"/>
                  </a:lnTo>
                  <a:close/>
                </a:path>
              </a:pathLst>
            </a:custGeom>
            <a:solidFill>
              <a:srgbClr val="EA6F08"/>
            </a:solidFill>
            <a:ln>
              <a:noFill/>
            </a:ln>
          </p:spPr>
        </p:sp>
        <p:sp>
          <p:nvSpPr>
            <p:cNvPr id="286" name="Google Shape;286;p10"/>
            <p:cNvSpPr txBox="1"/>
            <p:nvPr/>
          </p:nvSpPr>
          <p:spPr>
            <a:xfrm>
              <a:off x="127000" y="-57150"/>
              <a:ext cx="2455333" cy="2776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7" name="Google Shape;287;p10"/>
          <p:cNvGrpSpPr/>
          <p:nvPr/>
        </p:nvGrpSpPr>
        <p:grpSpPr>
          <a:xfrm>
            <a:off x="0" y="9305216"/>
            <a:ext cx="9193840" cy="981784"/>
            <a:chOff x="0" y="-57150"/>
            <a:chExt cx="2421423" cy="258577"/>
          </a:xfrm>
        </p:grpSpPr>
        <p:sp>
          <p:nvSpPr>
            <p:cNvPr id="288" name="Google Shape;288;p10"/>
            <p:cNvSpPr/>
            <p:nvPr/>
          </p:nvSpPr>
          <p:spPr>
            <a:xfrm>
              <a:off x="0" y="0"/>
              <a:ext cx="2421423" cy="201427"/>
            </a:xfrm>
            <a:custGeom>
              <a:rect b="b" l="l" r="r" t="t"/>
              <a:pathLst>
                <a:path extrusionOk="0" h="201427" w="2421423">
                  <a:moveTo>
                    <a:pt x="203200" y="0"/>
                  </a:moveTo>
                  <a:lnTo>
                    <a:pt x="2218223" y="0"/>
                  </a:lnTo>
                  <a:lnTo>
                    <a:pt x="2421423" y="201427"/>
                  </a:lnTo>
                  <a:lnTo>
                    <a:pt x="0" y="201427"/>
                  </a:lnTo>
                  <a:lnTo>
                    <a:pt x="203200" y="0"/>
                  </a:lnTo>
                  <a:close/>
                </a:path>
              </a:pathLst>
            </a:custGeom>
            <a:solidFill>
              <a:srgbClr val="F39D13"/>
            </a:solidFill>
            <a:ln>
              <a:noFill/>
            </a:ln>
          </p:spPr>
        </p:sp>
        <p:sp>
          <p:nvSpPr>
            <p:cNvPr id="289" name="Google Shape;289;p10"/>
            <p:cNvSpPr txBox="1"/>
            <p:nvPr/>
          </p:nvSpPr>
          <p:spPr>
            <a:xfrm>
              <a:off x="127000" y="-57150"/>
              <a:ext cx="2167423"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0" name="Google Shape;290;p10"/>
          <p:cNvGrpSpPr/>
          <p:nvPr/>
        </p:nvGrpSpPr>
        <p:grpSpPr>
          <a:xfrm>
            <a:off x="6107740" y="9305216"/>
            <a:ext cx="3086100" cy="3303091"/>
            <a:chOff x="0" y="-57150"/>
            <a:chExt cx="812800" cy="869950"/>
          </a:xfrm>
        </p:grpSpPr>
        <p:sp>
          <p:nvSpPr>
            <p:cNvPr id="291" name="Google Shape;291;p10"/>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39D13"/>
            </a:solidFill>
            <a:ln>
              <a:noFill/>
            </a:ln>
          </p:spPr>
        </p:sp>
        <p:sp>
          <p:nvSpPr>
            <p:cNvPr id="292" name="Google Shape;292;p10"/>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3" name="Google Shape;293;p10"/>
          <p:cNvGrpSpPr/>
          <p:nvPr/>
        </p:nvGrpSpPr>
        <p:grpSpPr>
          <a:xfrm rot="5400000">
            <a:off x="-4775836" y="4775836"/>
            <a:ext cx="10287000" cy="735328"/>
            <a:chOff x="0" y="-57150"/>
            <a:chExt cx="2709333" cy="193667"/>
          </a:xfrm>
        </p:grpSpPr>
        <p:sp>
          <p:nvSpPr>
            <p:cNvPr id="294" name="Google Shape;294;p10"/>
            <p:cNvSpPr/>
            <p:nvPr/>
          </p:nvSpPr>
          <p:spPr>
            <a:xfrm>
              <a:off x="0" y="0"/>
              <a:ext cx="2709333" cy="136517"/>
            </a:xfrm>
            <a:custGeom>
              <a:rect b="b" l="l" r="r" t="t"/>
              <a:pathLst>
                <a:path extrusionOk="0" h="136517" w="2709333">
                  <a:moveTo>
                    <a:pt x="203200" y="0"/>
                  </a:moveTo>
                  <a:lnTo>
                    <a:pt x="2506133" y="0"/>
                  </a:lnTo>
                  <a:lnTo>
                    <a:pt x="2709333" y="136517"/>
                  </a:lnTo>
                  <a:lnTo>
                    <a:pt x="0" y="136517"/>
                  </a:lnTo>
                  <a:lnTo>
                    <a:pt x="203200" y="0"/>
                  </a:lnTo>
                  <a:close/>
                </a:path>
              </a:pathLst>
            </a:custGeom>
            <a:solidFill>
              <a:srgbClr val="EA6F08"/>
            </a:solidFill>
            <a:ln>
              <a:noFill/>
            </a:ln>
          </p:spPr>
        </p:sp>
        <p:sp>
          <p:nvSpPr>
            <p:cNvPr id="295" name="Google Shape;295;p10"/>
            <p:cNvSpPr txBox="1"/>
            <p:nvPr/>
          </p:nvSpPr>
          <p:spPr>
            <a:xfrm>
              <a:off x="127000" y="-57150"/>
              <a:ext cx="2455333" cy="19366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6" name="Google Shape;296;p10"/>
          <p:cNvGrpSpPr/>
          <p:nvPr/>
        </p:nvGrpSpPr>
        <p:grpSpPr>
          <a:xfrm rot="10800000">
            <a:off x="0" y="-9244"/>
            <a:ext cx="9228174" cy="981784"/>
            <a:chOff x="0" y="-57150"/>
            <a:chExt cx="2430466" cy="258577"/>
          </a:xfrm>
        </p:grpSpPr>
        <p:sp>
          <p:nvSpPr>
            <p:cNvPr id="297" name="Google Shape;297;p10"/>
            <p:cNvSpPr/>
            <p:nvPr/>
          </p:nvSpPr>
          <p:spPr>
            <a:xfrm>
              <a:off x="0" y="0"/>
              <a:ext cx="2430466" cy="201427"/>
            </a:xfrm>
            <a:custGeom>
              <a:rect b="b" l="l" r="r" t="t"/>
              <a:pathLst>
                <a:path extrusionOk="0" h="201427" w="2430466">
                  <a:moveTo>
                    <a:pt x="203200" y="0"/>
                  </a:moveTo>
                  <a:lnTo>
                    <a:pt x="2227266" y="0"/>
                  </a:lnTo>
                  <a:lnTo>
                    <a:pt x="2430466" y="201427"/>
                  </a:lnTo>
                  <a:lnTo>
                    <a:pt x="0" y="201427"/>
                  </a:lnTo>
                  <a:lnTo>
                    <a:pt x="203200" y="0"/>
                  </a:lnTo>
                  <a:close/>
                </a:path>
              </a:pathLst>
            </a:custGeom>
            <a:solidFill>
              <a:srgbClr val="F08B0B"/>
            </a:solidFill>
            <a:ln>
              <a:noFill/>
            </a:ln>
          </p:spPr>
        </p:sp>
        <p:sp>
          <p:nvSpPr>
            <p:cNvPr id="298" name="Google Shape;298;p10"/>
            <p:cNvSpPr txBox="1"/>
            <p:nvPr/>
          </p:nvSpPr>
          <p:spPr>
            <a:xfrm>
              <a:off x="127000" y="-57150"/>
              <a:ext cx="2176466"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9" name="Google Shape;299;p10"/>
          <p:cNvGrpSpPr/>
          <p:nvPr/>
        </p:nvGrpSpPr>
        <p:grpSpPr>
          <a:xfrm rot="10800000">
            <a:off x="6142074" y="-2330551"/>
            <a:ext cx="3086100" cy="3303091"/>
            <a:chOff x="0" y="-57150"/>
            <a:chExt cx="812800" cy="869950"/>
          </a:xfrm>
        </p:grpSpPr>
        <p:sp>
          <p:nvSpPr>
            <p:cNvPr id="300" name="Google Shape;300;p10"/>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08B0B"/>
            </a:solidFill>
            <a:ln>
              <a:noFill/>
            </a:ln>
          </p:spPr>
        </p:sp>
        <p:sp>
          <p:nvSpPr>
            <p:cNvPr id="301" name="Google Shape;301;p10"/>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2" name="Google Shape;302;p10"/>
          <p:cNvSpPr/>
          <p:nvPr/>
        </p:nvSpPr>
        <p:spPr>
          <a:xfrm>
            <a:off x="418657" y="377775"/>
            <a:ext cx="15653086" cy="9531451"/>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0"/>
          <p:cNvSpPr/>
          <p:nvPr/>
        </p:nvSpPr>
        <p:spPr>
          <a:xfrm>
            <a:off x="10551930" y="2713486"/>
            <a:ext cx="6995288" cy="6995288"/>
          </a:xfrm>
          <a:custGeom>
            <a:rect b="b" l="l" r="r" t="t"/>
            <a:pathLst>
              <a:path extrusionOk="0" h="6995288" w="6995288">
                <a:moveTo>
                  <a:pt x="0" y="0"/>
                </a:moveTo>
                <a:lnTo>
                  <a:pt x="6995287" y="0"/>
                </a:lnTo>
                <a:lnTo>
                  <a:pt x="6995287" y="6995288"/>
                </a:lnTo>
                <a:lnTo>
                  <a:pt x="0" y="6995288"/>
                </a:lnTo>
                <a:lnTo>
                  <a:pt x="0" y="0"/>
                </a:lnTo>
                <a:close/>
              </a:path>
            </a:pathLst>
          </a:custGeom>
          <a:blipFill rotWithShape="1">
            <a:blip r:embed="rId3">
              <a:alphaModFix/>
            </a:blip>
            <a:stretch>
              <a:fillRect b="0" l="0" r="0" t="0"/>
            </a:stretch>
          </a:blipFill>
          <a:ln>
            <a:noFill/>
          </a:ln>
        </p:spPr>
      </p:sp>
      <p:sp>
        <p:nvSpPr>
          <p:cNvPr id="304" name="Google Shape;304;p10"/>
          <p:cNvSpPr/>
          <p:nvPr/>
        </p:nvSpPr>
        <p:spPr>
          <a:xfrm>
            <a:off x="1246993" y="536532"/>
            <a:ext cx="7710076" cy="4283375"/>
          </a:xfrm>
          <a:custGeom>
            <a:rect b="b" l="l" r="r" t="t"/>
            <a:pathLst>
              <a:path extrusionOk="0" h="4283375" w="7710076">
                <a:moveTo>
                  <a:pt x="0" y="0"/>
                </a:moveTo>
                <a:lnTo>
                  <a:pt x="7710076" y="0"/>
                </a:lnTo>
                <a:lnTo>
                  <a:pt x="7710076" y="4283375"/>
                </a:lnTo>
                <a:lnTo>
                  <a:pt x="0" y="4283375"/>
                </a:lnTo>
                <a:lnTo>
                  <a:pt x="0" y="0"/>
                </a:lnTo>
                <a:close/>
              </a:path>
            </a:pathLst>
          </a:custGeom>
          <a:blipFill rotWithShape="1">
            <a:blip r:embed="rId4">
              <a:alphaModFix/>
            </a:blip>
            <a:stretch>
              <a:fillRect b="0" l="0" r="0" t="0"/>
            </a:stretch>
          </a:blipFill>
          <a:ln>
            <a:noFill/>
          </a:ln>
        </p:spPr>
      </p:sp>
      <p:sp>
        <p:nvSpPr>
          <p:cNvPr id="305" name="Google Shape;305;p10"/>
          <p:cNvSpPr txBox="1"/>
          <p:nvPr/>
        </p:nvSpPr>
        <p:spPr>
          <a:xfrm>
            <a:off x="11019849" y="1801902"/>
            <a:ext cx="6527368" cy="5118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200" u="none" cap="none" strike="noStrike">
                <a:solidFill>
                  <a:srgbClr val="2F2F2F"/>
                </a:solidFill>
                <a:latin typeface="Barlow Medium"/>
                <a:ea typeface="Barlow Medium"/>
                <a:cs typeface="Barlow Medium"/>
                <a:sym typeface="Barlow Medium"/>
              </a:rPr>
              <a:t>Key Factor 3: Protein Concentration</a:t>
            </a:r>
            <a:endParaRPr/>
          </a:p>
        </p:txBody>
      </p:sp>
      <p:sp>
        <p:nvSpPr>
          <p:cNvPr id="306" name="Google Shape;306;p10"/>
          <p:cNvSpPr txBox="1"/>
          <p:nvPr/>
        </p:nvSpPr>
        <p:spPr>
          <a:xfrm>
            <a:off x="11019849" y="363627"/>
            <a:ext cx="6527368" cy="1466850"/>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b="1" i="0" lang="en-US" sz="9600" u="none" cap="none" strike="noStrike">
                <a:solidFill>
                  <a:srgbClr val="EA6F08"/>
                </a:solidFill>
                <a:latin typeface="Barlow Medium"/>
                <a:ea typeface="Barlow Medium"/>
                <a:cs typeface="Barlow Medium"/>
                <a:sym typeface="Barlow Medium"/>
              </a:rPr>
              <a:t>Results</a:t>
            </a:r>
            <a:endParaRPr/>
          </a:p>
        </p:txBody>
      </p:sp>
      <p:grpSp>
        <p:nvGrpSpPr>
          <p:cNvPr id="307" name="Google Shape;307;p10"/>
          <p:cNvGrpSpPr/>
          <p:nvPr/>
        </p:nvGrpSpPr>
        <p:grpSpPr>
          <a:xfrm>
            <a:off x="1247001" y="5065175"/>
            <a:ext cx="8137486" cy="4284197"/>
            <a:chOff x="0" y="-28575"/>
            <a:chExt cx="9330909" cy="5712263"/>
          </a:xfrm>
        </p:grpSpPr>
        <p:sp>
          <p:nvSpPr>
            <p:cNvPr id="308" name="Google Shape;308;p10"/>
            <p:cNvSpPr txBox="1"/>
            <p:nvPr/>
          </p:nvSpPr>
          <p:spPr>
            <a:xfrm>
              <a:off x="9" y="4361888"/>
              <a:ext cx="9330900" cy="132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800" u="none" cap="none" strike="noStrike">
                  <a:solidFill>
                    <a:srgbClr val="2F2F2F"/>
                  </a:solidFill>
                  <a:latin typeface="Barlow"/>
                  <a:ea typeface="Barlow"/>
                  <a:cs typeface="Barlow"/>
                  <a:sym typeface="Barlow"/>
                </a:rPr>
                <a:t>Protein concentration can serve as a key biomarker for treatment decisions.</a:t>
              </a:r>
              <a:endParaRPr/>
            </a:p>
          </p:txBody>
        </p:sp>
        <p:sp>
          <p:nvSpPr>
            <p:cNvPr id="309" name="Google Shape;309;p10"/>
            <p:cNvSpPr txBox="1"/>
            <p:nvPr/>
          </p:nvSpPr>
          <p:spPr>
            <a:xfrm>
              <a:off x="0" y="-28575"/>
              <a:ext cx="9330900" cy="3218100"/>
            </a:xfrm>
            <a:prstGeom prst="rect">
              <a:avLst/>
            </a:prstGeom>
            <a:noFill/>
            <a:ln>
              <a:noFill/>
            </a:ln>
          </p:spPr>
          <p:txBody>
            <a:bodyPr anchorCtr="0" anchor="t" bIns="0" lIns="0" spcFirstLastPara="1" rIns="0" wrap="square" tIns="0">
              <a:spAutoFit/>
            </a:bodyPr>
            <a:lstStyle/>
            <a:p>
              <a:pPr indent="-345440" lvl="1" marL="690881" marR="0" rtl="0" algn="l">
                <a:lnSpc>
                  <a:spcPct val="130000"/>
                </a:lnSpc>
                <a:spcBef>
                  <a:spcPts val="0"/>
                </a:spcBef>
                <a:spcAft>
                  <a:spcPts val="0"/>
                </a:spcAft>
                <a:buClr>
                  <a:srgbClr val="2F2F2F"/>
                </a:buClr>
                <a:buSzPts val="3200"/>
                <a:buFont typeface="Arial"/>
                <a:buChar char="•"/>
              </a:pPr>
              <a:r>
                <a:rPr b="1" i="0" lang="en-US" sz="3200" u="none" cap="none" strike="noStrike">
                  <a:solidFill>
                    <a:srgbClr val="2F2F2F"/>
                  </a:solidFill>
                  <a:latin typeface="Barlow Medium"/>
                  <a:ea typeface="Barlow Medium"/>
                  <a:cs typeface="Barlow Medium"/>
                  <a:sym typeface="Barlow Medium"/>
                </a:rPr>
                <a:t>Lower protein concentration predicts better response to Miraculon-B.</a:t>
              </a:r>
              <a:endParaRPr/>
            </a:p>
            <a:p>
              <a:pPr indent="-345440" lvl="1" marL="690880" marR="0" rtl="0" algn="l">
                <a:lnSpc>
                  <a:spcPct val="130000"/>
                </a:lnSpc>
                <a:spcBef>
                  <a:spcPts val="0"/>
                </a:spcBef>
                <a:spcAft>
                  <a:spcPts val="0"/>
                </a:spcAft>
                <a:buClr>
                  <a:srgbClr val="2F2F2F"/>
                </a:buClr>
                <a:buSzPts val="3200"/>
                <a:buFont typeface="Arial"/>
                <a:buChar char="•"/>
              </a:pPr>
              <a:r>
                <a:rPr b="1" i="0" lang="en-US" sz="3200" u="none" cap="none" strike="noStrike">
                  <a:solidFill>
                    <a:srgbClr val="2F2F2F"/>
                  </a:solidFill>
                  <a:latin typeface="Barlow Medium"/>
                  <a:ea typeface="Barlow Medium"/>
                  <a:cs typeface="Barlow Medium"/>
                  <a:sym typeface="Barlow Medium"/>
                </a:rPr>
                <a:t>This correlation is critical for identifying patients who are most likely to benefit.</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699"/>
        </a:solidFill>
      </p:bgPr>
    </p:bg>
    <p:spTree>
      <p:nvGrpSpPr>
        <p:cNvPr id="317" name="Shape 317"/>
        <p:cNvGrpSpPr/>
        <p:nvPr/>
      </p:nvGrpSpPr>
      <p:grpSpPr>
        <a:xfrm>
          <a:off x="0" y="0"/>
          <a:ext cx="0" cy="0"/>
          <a:chOff x="0" y="0"/>
          <a:chExt cx="0" cy="0"/>
        </a:xfrm>
      </p:grpSpPr>
      <p:sp>
        <p:nvSpPr>
          <p:cNvPr id="318" name="Google Shape;318;p11"/>
          <p:cNvSpPr/>
          <p:nvPr/>
        </p:nvSpPr>
        <p:spPr>
          <a:xfrm>
            <a:off x="10514709" y="2955099"/>
            <a:ext cx="6548781" cy="6303201"/>
          </a:xfrm>
          <a:custGeom>
            <a:rect b="b" l="l" r="r" t="t"/>
            <a:pathLst>
              <a:path extrusionOk="0" h="6303201" w="6548781">
                <a:moveTo>
                  <a:pt x="0" y="0"/>
                </a:moveTo>
                <a:lnTo>
                  <a:pt x="6548780" y="0"/>
                </a:lnTo>
                <a:lnTo>
                  <a:pt x="6548780" y="6303201"/>
                </a:lnTo>
                <a:lnTo>
                  <a:pt x="0" y="6303201"/>
                </a:lnTo>
                <a:lnTo>
                  <a:pt x="0" y="0"/>
                </a:lnTo>
                <a:close/>
              </a:path>
            </a:pathLst>
          </a:custGeom>
          <a:blipFill rotWithShape="1">
            <a:blip r:embed="rId3">
              <a:alphaModFix/>
            </a:blip>
            <a:stretch>
              <a:fillRect b="0" l="0" r="0" t="0"/>
            </a:stretch>
          </a:blipFill>
          <a:ln>
            <a:noFill/>
          </a:ln>
        </p:spPr>
      </p:sp>
      <p:sp>
        <p:nvSpPr>
          <p:cNvPr id="319" name="Google Shape;319;p11"/>
          <p:cNvSpPr/>
          <p:nvPr/>
        </p:nvSpPr>
        <p:spPr>
          <a:xfrm>
            <a:off x="1028700" y="2859954"/>
            <a:ext cx="6555407" cy="6301385"/>
          </a:xfrm>
          <a:custGeom>
            <a:rect b="b" l="l" r="r" t="t"/>
            <a:pathLst>
              <a:path extrusionOk="0" h="6301385" w="6555407">
                <a:moveTo>
                  <a:pt x="0" y="0"/>
                </a:moveTo>
                <a:lnTo>
                  <a:pt x="6555407" y="0"/>
                </a:lnTo>
                <a:lnTo>
                  <a:pt x="6555407" y="6301385"/>
                </a:lnTo>
                <a:lnTo>
                  <a:pt x="0" y="6301385"/>
                </a:lnTo>
                <a:lnTo>
                  <a:pt x="0" y="0"/>
                </a:lnTo>
                <a:close/>
              </a:path>
            </a:pathLst>
          </a:custGeom>
          <a:blipFill rotWithShape="1">
            <a:blip r:embed="rId4">
              <a:alphaModFix/>
            </a:blip>
            <a:stretch>
              <a:fillRect b="0" l="0" r="0" t="0"/>
            </a:stretch>
          </a:blipFill>
          <a:ln>
            <a:noFill/>
          </a:ln>
        </p:spPr>
      </p:sp>
      <p:sp>
        <p:nvSpPr>
          <p:cNvPr id="320" name="Google Shape;320;p11"/>
          <p:cNvSpPr txBox="1"/>
          <p:nvPr/>
        </p:nvSpPr>
        <p:spPr>
          <a:xfrm>
            <a:off x="1028700" y="467611"/>
            <a:ext cx="16230600" cy="2392343"/>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None/>
            </a:pPr>
            <a:r>
              <a:rPr b="1" i="0" lang="en-US" sz="10041" u="none" cap="none" strike="noStrike">
                <a:solidFill>
                  <a:srgbClr val="EA6F08"/>
                </a:solidFill>
                <a:latin typeface="Raleway Medium"/>
                <a:ea typeface="Raleway Medium"/>
                <a:cs typeface="Raleway Medium"/>
                <a:sym typeface="Raleway Medium"/>
              </a:rPr>
              <a:t>Modeling Insights: Predicting Treatment Response</a:t>
            </a:r>
            <a:endParaRPr/>
          </a:p>
        </p:txBody>
      </p:sp>
      <p:sp>
        <p:nvSpPr>
          <p:cNvPr id="321" name="Google Shape;321;p11"/>
          <p:cNvSpPr txBox="1"/>
          <p:nvPr/>
        </p:nvSpPr>
        <p:spPr>
          <a:xfrm>
            <a:off x="10369846" y="9267825"/>
            <a:ext cx="7635008" cy="77279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200" u="none" cap="none" strike="noStrike">
                <a:solidFill>
                  <a:srgbClr val="2F2F2F"/>
                </a:solidFill>
                <a:latin typeface="Raleway SemiBold"/>
                <a:ea typeface="Raleway SemiBold"/>
                <a:cs typeface="Raleway SemiBold"/>
                <a:sym typeface="Raleway SemiBold"/>
              </a:rPr>
              <a:t>The SVM model successfully separates responders (orange) from non-responders (gray).</a:t>
            </a:r>
            <a:endParaRPr/>
          </a:p>
        </p:txBody>
      </p:sp>
      <p:sp>
        <p:nvSpPr>
          <p:cNvPr id="322" name="Google Shape;322;p11"/>
          <p:cNvSpPr txBox="1"/>
          <p:nvPr/>
        </p:nvSpPr>
        <p:spPr>
          <a:xfrm>
            <a:off x="1028700" y="9267825"/>
            <a:ext cx="7635008" cy="77279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200" u="none" cap="none" strike="noStrike">
                <a:solidFill>
                  <a:srgbClr val="2F2F2F"/>
                </a:solidFill>
                <a:latin typeface="Raleway SemiBold"/>
                <a:ea typeface="Raleway SemiBold"/>
                <a:cs typeface="Raleway SemiBold"/>
                <a:sym typeface="Raleway SemiBold"/>
              </a:rPr>
              <a:t>BMI and protein concentration are the top predictors of response.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F1"/>
        </a:solidFill>
      </p:bgPr>
    </p:bg>
    <p:spTree>
      <p:nvGrpSpPr>
        <p:cNvPr id="330" name="Shape 330"/>
        <p:cNvGrpSpPr/>
        <p:nvPr/>
      </p:nvGrpSpPr>
      <p:grpSpPr>
        <a:xfrm>
          <a:off x="0" y="0"/>
          <a:ext cx="0" cy="0"/>
          <a:chOff x="0" y="0"/>
          <a:chExt cx="0" cy="0"/>
        </a:xfrm>
      </p:grpSpPr>
      <p:grpSp>
        <p:nvGrpSpPr>
          <p:cNvPr id="331" name="Google Shape;331;p12"/>
          <p:cNvGrpSpPr/>
          <p:nvPr/>
        </p:nvGrpSpPr>
        <p:grpSpPr>
          <a:xfrm>
            <a:off x="1028700" y="3125768"/>
            <a:ext cx="5293498" cy="5847346"/>
            <a:chOff x="0" y="0"/>
            <a:chExt cx="7057997" cy="7796462"/>
          </a:xfrm>
        </p:grpSpPr>
        <p:grpSp>
          <p:nvGrpSpPr>
            <p:cNvPr id="332" name="Google Shape;332;p12"/>
            <p:cNvGrpSpPr/>
            <p:nvPr/>
          </p:nvGrpSpPr>
          <p:grpSpPr>
            <a:xfrm>
              <a:off x="0" y="1010401"/>
              <a:ext cx="7057997" cy="6786061"/>
              <a:chOff x="0" y="-38100"/>
              <a:chExt cx="1394172" cy="1340457"/>
            </a:xfrm>
          </p:grpSpPr>
          <p:sp>
            <p:nvSpPr>
              <p:cNvPr id="333" name="Google Shape;333;p12"/>
              <p:cNvSpPr/>
              <p:nvPr/>
            </p:nvSpPr>
            <p:spPr>
              <a:xfrm>
                <a:off x="0" y="0"/>
                <a:ext cx="1394172" cy="1302357"/>
              </a:xfrm>
              <a:custGeom>
                <a:rect b="b" l="l" r="r" t="t"/>
                <a:pathLst>
                  <a:path extrusionOk="0"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FFD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txBox="1"/>
              <p:nvPr/>
            </p:nvSpPr>
            <p:spPr>
              <a:xfrm>
                <a:off x="0" y="-38100"/>
                <a:ext cx="1394172" cy="13404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5" name="Google Shape;335;p12"/>
            <p:cNvGrpSpPr/>
            <p:nvPr/>
          </p:nvGrpSpPr>
          <p:grpSpPr>
            <a:xfrm>
              <a:off x="2548145" y="0"/>
              <a:ext cx="1961707" cy="1961707"/>
              <a:chOff x="0" y="0"/>
              <a:chExt cx="812800" cy="812800"/>
            </a:xfrm>
          </p:grpSpPr>
          <p:sp>
            <p:nvSpPr>
              <p:cNvPr id="336" name="Google Shape;336;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8" name="Google Shape;338;p12"/>
            <p:cNvSpPr/>
            <p:nvPr/>
          </p:nvSpPr>
          <p:spPr>
            <a:xfrm>
              <a:off x="3100087" y="394498"/>
              <a:ext cx="846481" cy="964650"/>
            </a:xfrm>
            <a:custGeom>
              <a:rect b="b" l="l" r="r" t="t"/>
              <a:pathLst>
                <a:path extrusionOk="0" h="964650" w="846481">
                  <a:moveTo>
                    <a:pt x="0" y="0"/>
                  </a:moveTo>
                  <a:lnTo>
                    <a:pt x="846481" y="0"/>
                  </a:lnTo>
                  <a:lnTo>
                    <a:pt x="846481" y="964650"/>
                  </a:lnTo>
                  <a:lnTo>
                    <a:pt x="0" y="964650"/>
                  </a:lnTo>
                  <a:lnTo>
                    <a:pt x="0" y="0"/>
                  </a:lnTo>
                  <a:close/>
                </a:path>
              </a:pathLst>
            </a:custGeom>
            <a:blipFill rotWithShape="1">
              <a:blip r:embed="rId3">
                <a:alphaModFix/>
              </a:blip>
              <a:stretch>
                <a:fillRect b="0" l="0" r="0" t="0"/>
              </a:stretch>
            </a:blipFill>
            <a:ln>
              <a:noFill/>
            </a:ln>
          </p:spPr>
        </p:sp>
      </p:grpSp>
      <p:grpSp>
        <p:nvGrpSpPr>
          <p:cNvPr id="339" name="Google Shape;339;p12"/>
          <p:cNvGrpSpPr/>
          <p:nvPr/>
        </p:nvGrpSpPr>
        <p:grpSpPr>
          <a:xfrm>
            <a:off x="6497251" y="3125768"/>
            <a:ext cx="5293498" cy="5847346"/>
            <a:chOff x="0" y="0"/>
            <a:chExt cx="7057997" cy="7796462"/>
          </a:xfrm>
        </p:grpSpPr>
        <p:grpSp>
          <p:nvGrpSpPr>
            <p:cNvPr id="340" name="Google Shape;340;p12"/>
            <p:cNvGrpSpPr/>
            <p:nvPr/>
          </p:nvGrpSpPr>
          <p:grpSpPr>
            <a:xfrm>
              <a:off x="0" y="1010401"/>
              <a:ext cx="7057997" cy="6786061"/>
              <a:chOff x="0" y="-38100"/>
              <a:chExt cx="1394172" cy="1340457"/>
            </a:xfrm>
          </p:grpSpPr>
          <p:sp>
            <p:nvSpPr>
              <p:cNvPr id="341" name="Google Shape;341;p12"/>
              <p:cNvSpPr/>
              <p:nvPr/>
            </p:nvSpPr>
            <p:spPr>
              <a:xfrm>
                <a:off x="0" y="0"/>
                <a:ext cx="1394172" cy="1302357"/>
              </a:xfrm>
              <a:custGeom>
                <a:rect b="b" l="l" r="r" t="t"/>
                <a:pathLst>
                  <a:path extrusionOk="0"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FFD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2"/>
              <p:cNvSpPr txBox="1"/>
              <p:nvPr/>
            </p:nvSpPr>
            <p:spPr>
              <a:xfrm>
                <a:off x="0" y="-38100"/>
                <a:ext cx="1394172" cy="13404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3" name="Google Shape;343;p12"/>
            <p:cNvGrpSpPr/>
            <p:nvPr/>
          </p:nvGrpSpPr>
          <p:grpSpPr>
            <a:xfrm>
              <a:off x="2548145" y="0"/>
              <a:ext cx="1961707" cy="1961707"/>
              <a:chOff x="0" y="0"/>
              <a:chExt cx="812800" cy="812800"/>
            </a:xfrm>
          </p:grpSpPr>
          <p:sp>
            <p:nvSpPr>
              <p:cNvPr id="344" name="Google Shape;34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6" name="Google Shape;346;p12"/>
            <p:cNvSpPr/>
            <p:nvPr/>
          </p:nvSpPr>
          <p:spPr>
            <a:xfrm>
              <a:off x="3055133" y="394498"/>
              <a:ext cx="947730" cy="1097227"/>
            </a:xfrm>
            <a:custGeom>
              <a:rect b="b" l="l" r="r" t="t"/>
              <a:pathLst>
                <a:path extrusionOk="0" h="1097227" w="947730">
                  <a:moveTo>
                    <a:pt x="0" y="0"/>
                  </a:moveTo>
                  <a:lnTo>
                    <a:pt x="947730" y="0"/>
                  </a:lnTo>
                  <a:lnTo>
                    <a:pt x="947730" y="1097227"/>
                  </a:lnTo>
                  <a:lnTo>
                    <a:pt x="0" y="1097227"/>
                  </a:lnTo>
                  <a:lnTo>
                    <a:pt x="0" y="0"/>
                  </a:lnTo>
                  <a:close/>
                </a:path>
              </a:pathLst>
            </a:custGeom>
            <a:blipFill rotWithShape="1">
              <a:blip r:embed="rId4">
                <a:alphaModFix/>
              </a:blip>
              <a:stretch>
                <a:fillRect b="0" l="0" r="0" t="0"/>
              </a:stretch>
            </a:blipFill>
            <a:ln>
              <a:noFill/>
            </a:ln>
          </p:spPr>
        </p:sp>
      </p:grpSp>
      <p:grpSp>
        <p:nvGrpSpPr>
          <p:cNvPr id="347" name="Google Shape;347;p12"/>
          <p:cNvGrpSpPr/>
          <p:nvPr/>
        </p:nvGrpSpPr>
        <p:grpSpPr>
          <a:xfrm>
            <a:off x="11965802" y="3125768"/>
            <a:ext cx="5293498" cy="5847346"/>
            <a:chOff x="0" y="0"/>
            <a:chExt cx="7057997" cy="7796462"/>
          </a:xfrm>
        </p:grpSpPr>
        <p:grpSp>
          <p:nvGrpSpPr>
            <p:cNvPr id="348" name="Google Shape;348;p12"/>
            <p:cNvGrpSpPr/>
            <p:nvPr/>
          </p:nvGrpSpPr>
          <p:grpSpPr>
            <a:xfrm>
              <a:off x="0" y="1010401"/>
              <a:ext cx="7057997" cy="6786061"/>
              <a:chOff x="0" y="-38100"/>
              <a:chExt cx="1394172" cy="1340457"/>
            </a:xfrm>
          </p:grpSpPr>
          <p:sp>
            <p:nvSpPr>
              <p:cNvPr id="349" name="Google Shape;349;p12"/>
              <p:cNvSpPr/>
              <p:nvPr/>
            </p:nvSpPr>
            <p:spPr>
              <a:xfrm>
                <a:off x="0" y="0"/>
                <a:ext cx="1394172" cy="1302357"/>
              </a:xfrm>
              <a:custGeom>
                <a:rect b="b" l="l" r="r" t="t"/>
                <a:pathLst>
                  <a:path extrusionOk="0"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FFD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2"/>
              <p:cNvSpPr txBox="1"/>
              <p:nvPr/>
            </p:nvSpPr>
            <p:spPr>
              <a:xfrm>
                <a:off x="0" y="-38100"/>
                <a:ext cx="1394172" cy="13404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1" name="Google Shape;351;p12"/>
            <p:cNvGrpSpPr/>
            <p:nvPr/>
          </p:nvGrpSpPr>
          <p:grpSpPr>
            <a:xfrm>
              <a:off x="2547895" y="0"/>
              <a:ext cx="1961707" cy="1961707"/>
              <a:chOff x="0" y="0"/>
              <a:chExt cx="812800" cy="812800"/>
            </a:xfrm>
          </p:grpSpPr>
          <p:sp>
            <p:nvSpPr>
              <p:cNvPr id="352" name="Google Shape;352;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354" name="Google Shape;354;p12"/>
          <p:cNvSpPr/>
          <p:nvPr/>
        </p:nvSpPr>
        <p:spPr>
          <a:xfrm>
            <a:off x="14303395" y="3421641"/>
            <a:ext cx="637362" cy="825064"/>
          </a:xfrm>
          <a:custGeom>
            <a:rect b="b" l="l" r="r" t="t"/>
            <a:pathLst>
              <a:path extrusionOk="0" h="825064" w="637362">
                <a:moveTo>
                  <a:pt x="0" y="0"/>
                </a:moveTo>
                <a:lnTo>
                  <a:pt x="637362" y="0"/>
                </a:lnTo>
                <a:lnTo>
                  <a:pt x="637362" y="825065"/>
                </a:lnTo>
                <a:lnTo>
                  <a:pt x="0" y="825065"/>
                </a:lnTo>
                <a:lnTo>
                  <a:pt x="0" y="0"/>
                </a:lnTo>
                <a:close/>
              </a:path>
            </a:pathLst>
          </a:custGeom>
          <a:blipFill rotWithShape="1">
            <a:blip r:embed="rId5">
              <a:alphaModFix/>
            </a:blip>
            <a:stretch>
              <a:fillRect b="0" l="0" r="0" t="0"/>
            </a:stretch>
          </a:blipFill>
          <a:ln>
            <a:noFill/>
          </a:ln>
        </p:spPr>
      </p:sp>
      <p:sp>
        <p:nvSpPr>
          <p:cNvPr id="355" name="Google Shape;355;p12"/>
          <p:cNvSpPr txBox="1"/>
          <p:nvPr/>
        </p:nvSpPr>
        <p:spPr>
          <a:xfrm>
            <a:off x="1028700" y="1304925"/>
            <a:ext cx="16230600" cy="1249343"/>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None/>
            </a:pPr>
            <a:r>
              <a:rPr b="1" i="0" lang="en-US" sz="10041" u="none" cap="none" strike="noStrike">
                <a:solidFill>
                  <a:srgbClr val="E55E11"/>
                </a:solidFill>
                <a:latin typeface="Raleway Medium"/>
                <a:ea typeface="Raleway Medium"/>
                <a:cs typeface="Raleway Medium"/>
                <a:sym typeface="Raleway Medium"/>
              </a:rPr>
              <a:t>Conclusion</a:t>
            </a:r>
            <a:endParaRPr/>
          </a:p>
        </p:txBody>
      </p:sp>
      <p:sp>
        <p:nvSpPr>
          <p:cNvPr id="356" name="Google Shape;356;p12"/>
          <p:cNvSpPr txBox="1"/>
          <p:nvPr/>
        </p:nvSpPr>
        <p:spPr>
          <a:xfrm>
            <a:off x="1627876" y="4514004"/>
            <a:ext cx="4097850" cy="1209675"/>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None/>
            </a:pPr>
            <a:r>
              <a:rPr b="1" i="0" lang="en-US" sz="5000" u="none" cap="none" strike="noStrike">
                <a:solidFill>
                  <a:srgbClr val="E55E11"/>
                </a:solidFill>
                <a:latin typeface="Raleway Medium"/>
                <a:ea typeface="Raleway Medium"/>
                <a:cs typeface="Raleway Medium"/>
                <a:sym typeface="Raleway Medium"/>
              </a:rPr>
              <a:t>Key Takeaways:</a:t>
            </a:r>
            <a:endParaRPr/>
          </a:p>
        </p:txBody>
      </p:sp>
      <p:sp>
        <p:nvSpPr>
          <p:cNvPr id="357" name="Google Shape;357;p12"/>
          <p:cNvSpPr txBox="1"/>
          <p:nvPr/>
        </p:nvSpPr>
        <p:spPr>
          <a:xfrm>
            <a:off x="7096427" y="4799754"/>
            <a:ext cx="4095146" cy="638175"/>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None/>
            </a:pPr>
            <a:r>
              <a:rPr b="1" i="0" lang="en-US" sz="5000" u="none" cap="none" strike="noStrike">
                <a:solidFill>
                  <a:srgbClr val="E55E11"/>
                </a:solidFill>
                <a:latin typeface="Raleway Medium"/>
                <a:ea typeface="Raleway Medium"/>
                <a:cs typeface="Raleway Medium"/>
                <a:sym typeface="Raleway Medium"/>
              </a:rPr>
              <a:t>Implications:</a:t>
            </a:r>
            <a:endParaRPr/>
          </a:p>
        </p:txBody>
      </p:sp>
      <p:sp>
        <p:nvSpPr>
          <p:cNvPr id="358" name="Google Shape;358;p12"/>
          <p:cNvSpPr txBox="1"/>
          <p:nvPr/>
        </p:nvSpPr>
        <p:spPr>
          <a:xfrm>
            <a:off x="12564978" y="4799754"/>
            <a:ext cx="4095146" cy="638175"/>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None/>
            </a:pPr>
            <a:r>
              <a:rPr b="1" i="0" lang="en-US" sz="5000" u="none" cap="none" strike="noStrike">
                <a:solidFill>
                  <a:srgbClr val="E55E11"/>
                </a:solidFill>
                <a:latin typeface="Raleway Medium"/>
                <a:ea typeface="Raleway Medium"/>
                <a:cs typeface="Raleway Medium"/>
                <a:sym typeface="Raleway Medium"/>
              </a:rPr>
              <a:t>Next Steps:</a:t>
            </a:r>
            <a:endParaRPr/>
          </a:p>
        </p:txBody>
      </p:sp>
      <p:sp>
        <p:nvSpPr>
          <p:cNvPr id="359" name="Google Shape;359;p12"/>
          <p:cNvSpPr txBox="1"/>
          <p:nvPr/>
        </p:nvSpPr>
        <p:spPr>
          <a:xfrm>
            <a:off x="1627876" y="6142779"/>
            <a:ext cx="4095146" cy="2516505"/>
          </a:xfrm>
          <a:prstGeom prst="rect">
            <a:avLst/>
          </a:prstGeom>
          <a:noFill/>
          <a:ln>
            <a:noFill/>
          </a:ln>
        </p:spPr>
        <p:txBody>
          <a:bodyPr anchorCtr="0" anchor="t" bIns="0" lIns="0" spcFirstLastPara="1" rIns="0" wrap="square" tIns="0">
            <a:spAutoFit/>
          </a:bodyPr>
          <a:lstStyle/>
          <a:p>
            <a:pPr indent="-194312" lvl="1" marL="388623" marR="0" rtl="0" algn="l">
              <a:lnSpc>
                <a:spcPct val="140000"/>
              </a:lnSpc>
              <a:spcBef>
                <a:spcPts val="0"/>
              </a:spcBef>
              <a:spcAft>
                <a:spcPts val="0"/>
              </a:spcAft>
              <a:buClr>
                <a:srgbClr val="E55E11"/>
              </a:buClr>
              <a:buSzPts val="1800"/>
              <a:buFont typeface="Arial"/>
              <a:buChar char="•"/>
            </a:pPr>
            <a:r>
              <a:rPr b="1" i="0" lang="en-US" sz="1800" u="none" cap="none" strike="noStrike">
                <a:solidFill>
                  <a:srgbClr val="E55E11"/>
                </a:solidFill>
                <a:latin typeface="Raleway SemiBold"/>
                <a:ea typeface="Raleway SemiBold"/>
                <a:cs typeface="Raleway SemiBold"/>
                <a:sym typeface="Raleway SemiBold"/>
              </a:rPr>
              <a:t>Miraculon-B improves response rates from 33% (control) to 55% (drug).</a:t>
            </a:r>
            <a:endParaRPr/>
          </a:p>
          <a:p>
            <a:pPr indent="0" lvl="0" marL="0" marR="0" rtl="0" algn="l">
              <a:lnSpc>
                <a:spcPct val="140000"/>
              </a:lnSpc>
              <a:spcBef>
                <a:spcPts val="0"/>
              </a:spcBef>
              <a:spcAft>
                <a:spcPts val="0"/>
              </a:spcAft>
              <a:buNone/>
            </a:pPr>
            <a:r>
              <a:t/>
            </a:r>
            <a:endParaRPr b="1" i="0" sz="1800" u="none" cap="none" strike="noStrike">
              <a:solidFill>
                <a:srgbClr val="E55E11"/>
              </a:solidFill>
              <a:latin typeface="Raleway SemiBold"/>
              <a:ea typeface="Raleway SemiBold"/>
              <a:cs typeface="Raleway SemiBold"/>
              <a:sym typeface="Raleway SemiBold"/>
            </a:endParaRPr>
          </a:p>
          <a:p>
            <a:pPr indent="-194312" lvl="1" marL="388623" marR="0" rtl="0" algn="l">
              <a:lnSpc>
                <a:spcPct val="140000"/>
              </a:lnSpc>
              <a:spcBef>
                <a:spcPts val="0"/>
              </a:spcBef>
              <a:spcAft>
                <a:spcPts val="0"/>
              </a:spcAft>
              <a:buClr>
                <a:srgbClr val="E55E11"/>
              </a:buClr>
              <a:buSzPts val="1800"/>
              <a:buFont typeface="Arial"/>
              <a:buChar char="•"/>
            </a:pPr>
            <a:r>
              <a:rPr b="1" i="0" lang="en-US" sz="1800" u="none" cap="none" strike="noStrike">
                <a:solidFill>
                  <a:srgbClr val="E55E11"/>
                </a:solidFill>
                <a:latin typeface="Raleway SemiBold"/>
                <a:ea typeface="Raleway SemiBold"/>
                <a:cs typeface="Raleway SemiBold"/>
                <a:sym typeface="Raleway SemiBold"/>
              </a:rPr>
              <a:t>Key predictors of response are younger age, higher BMI, and lower protein concentration.</a:t>
            </a:r>
            <a:endParaRPr/>
          </a:p>
          <a:p>
            <a:pPr indent="0" lvl="0" marL="0" marR="0" rtl="0" algn="l">
              <a:lnSpc>
                <a:spcPct val="140000"/>
              </a:lnSpc>
              <a:spcBef>
                <a:spcPts val="0"/>
              </a:spcBef>
              <a:spcAft>
                <a:spcPts val="0"/>
              </a:spcAft>
              <a:buNone/>
            </a:pPr>
            <a:r>
              <a:t/>
            </a:r>
            <a:endParaRPr b="1" i="0" sz="1800" u="none" cap="none" strike="noStrike">
              <a:solidFill>
                <a:srgbClr val="E55E11"/>
              </a:solidFill>
              <a:latin typeface="Raleway SemiBold"/>
              <a:ea typeface="Raleway SemiBold"/>
              <a:cs typeface="Raleway SemiBold"/>
              <a:sym typeface="Raleway SemiBold"/>
            </a:endParaRPr>
          </a:p>
        </p:txBody>
      </p:sp>
      <p:sp>
        <p:nvSpPr>
          <p:cNvPr id="360" name="Google Shape;360;p12"/>
          <p:cNvSpPr txBox="1"/>
          <p:nvPr/>
        </p:nvSpPr>
        <p:spPr>
          <a:xfrm>
            <a:off x="7096427" y="6142779"/>
            <a:ext cx="4095146" cy="1887855"/>
          </a:xfrm>
          <a:prstGeom prst="rect">
            <a:avLst/>
          </a:prstGeom>
          <a:noFill/>
          <a:ln>
            <a:noFill/>
          </a:ln>
        </p:spPr>
        <p:txBody>
          <a:bodyPr anchorCtr="0" anchor="t" bIns="0" lIns="0" spcFirstLastPara="1" rIns="0" wrap="square" tIns="0">
            <a:spAutoFit/>
          </a:bodyPr>
          <a:lstStyle/>
          <a:p>
            <a:pPr indent="-194312" lvl="1" marL="388623" marR="0" rtl="0" algn="l">
              <a:lnSpc>
                <a:spcPct val="140000"/>
              </a:lnSpc>
              <a:spcBef>
                <a:spcPts val="0"/>
              </a:spcBef>
              <a:spcAft>
                <a:spcPts val="0"/>
              </a:spcAft>
              <a:buClr>
                <a:srgbClr val="E55E11"/>
              </a:buClr>
              <a:buSzPts val="1800"/>
              <a:buFont typeface="Arial"/>
              <a:buChar char="•"/>
            </a:pPr>
            <a:r>
              <a:rPr b="1" i="0" lang="en-US" sz="1800" u="none" cap="none" strike="noStrike">
                <a:solidFill>
                  <a:srgbClr val="E55E11"/>
                </a:solidFill>
                <a:latin typeface="Raleway SemiBold"/>
                <a:ea typeface="Raleway SemiBold"/>
                <a:cs typeface="Raleway SemiBold"/>
                <a:sym typeface="Raleway SemiBold"/>
              </a:rPr>
              <a:t>Enables personalized treatments, improving patient outcomes.</a:t>
            </a:r>
            <a:endParaRPr/>
          </a:p>
          <a:p>
            <a:pPr indent="0" lvl="0" marL="0" marR="0" rtl="0" algn="l">
              <a:lnSpc>
                <a:spcPct val="140000"/>
              </a:lnSpc>
              <a:spcBef>
                <a:spcPts val="0"/>
              </a:spcBef>
              <a:spcAft>
                <a:spcPts val="0"/>
              </a:spcAft>
              <a:buNone/>
            </a:pPr>
            <a:r>
              <a:t/>
            </a:r>
            <a:endParaRPr b="1" i="0" sz="1800" u="none" cap="none" strike="noStrike">
              <a:solidFill>
                <a:srgbClr val="E55E11"/>
              </a:solidFill>
              <a:latin typeface="Raleway SemiBold"/>
              <a:ea typeface="Raleway SemiBold"/>
              <a:cs typeface="Raleway SemiBold"/>
              <a:sym typeface="Raleway SemiBold"/>
            </a:endParaRPr>
          </a:p>
          <a:p>
            <a:pPr indent="-194312" lvl="1" marL="388623" marR="0" rtl="0" algn="l">
              <a:lnSpc>
                <a:spcPct val="140000"/>
              </a:lnSpc>
              <a:spcBef>
                <a:spcPts val="0"/>
              </a:spcBef>
              <a:spcAft>
                <a:spcPts val="0"/>
              </a:spcAft>
              <a:buClr>
                <a:srgbClr val="E55E11"/>
              </a:buClr>
              <a:buSzPts val="1800"/>
              <a:buFont typeface="Arial"/>
              <a:buChar char="•"/>
            </a:pPr>
            <a:r>
              <a:rPr b="1" i="0" lang="en-US" sz="1800" u="none" cap="none" strike="noStrike">
                <a:solidFill>
                  <a:srgbClr val="E55E11"/>
                </a:solidFill>
                <a:latin typeface="Raleway SemiBold"/>
                <a:ea typeface="Raleway SemiBold"/>
                <a:cs typeface="Raleway SemiBold"/>
                <a:sym typeface="Raleway SemiBold"/>
              </a:rPr>
              <a:t>Supports GSK’s leadership in precision medicine.</a:t>
            </a:r>
            <a:endParaRPr/>
          </a:p>
          <a:p>
            <a:pPr indent="0" lvl="0" marL="0" marR="0" rtl="0" algn="l">
              <a:lnSpc>
                <a:spcPct val="140000"/>
              </a:lnSpc>
              <a:spcBef>
                <a:spcPts val="0"/>
              </a:spcBef>
              <a:spcAft>
                <a:spcPts val="0"/>
              </a:spcAft>
              <a:buNone/>
            </a:pPr>
            <a:r>
              <a:t/>
            </a:r>
            <a:endParaRPr b="1" i="0" sz="1800" u="none" cap="none" strike="noStrike">
              <a:solidFill>
                <a:srgbClr val="E55E11"/>
              </a:solidFill>
              <a:latin typeface="Raleway SemiBold"/>
              <a:ea typeface="Raleway SemiBold"/>
              <a:cs typeface="Raleway SemiBold"/>
              <a:sym typeface="Raleway SemiBold"/>
            </a:endParaRPr>
          </a:p>
        </p:txBody>
      </p:sp>
      <p:sp>
        <p:nvSpPr>
          <p:cNvPr id="361" name="Google Shape;361;p12"/>
          <p:cNvSpPr txBox="1"/>
          <p:nvPr/>
        </p:nvSpPr>
        <p:spPr>
          <a:xfrm>
            <a:off x="12564978" y="6142779"/>
            <a:ext cx="4095146" cy="1887855"/>
          </a:xfrm>
          <a:prstGeom prst="rect">
            <a:avLst/>
          </a:prstGeom>
          <a:noFill/>
          <a:ln>
            <a:noFill/>
          </a:ln>
        </p:spPr>
        <p:txBody>
          <a:bodyPr anchorCtr="0" anchor="t" bIns="0" lIns="0" spcFirstLastPara="1" rIns="0" wrap="square" tIns="0">
            <a:spAutoFit/>
          </a:bodyPr>
          <a:lstStyle/>
          <a:p>
            <a:pPr indent="-194312" lvl="1" marL="388623" marR="0" rtl="0" algn="l">
              <a:lnSpc>
                <a:spcPct val="140000"/>
              </a:lnSpc>
              <a:spcBef>
                <a:spcPts val="0"/>
              </a:spcBef>
              <a:spcAft>
                <a:spcPts val="0"/>
              </a:spcAft>
              <a:buClr>
                <a:srgbClr val="E55E11"/>
              </a:buClr>
              <a:buSzPts val="1800"/>
              <a:buFont typeface="Arial"/>
              <a:buChar char="•"/>
            </a:pPr>
            <a:r>
              <a:rPr b="1" i="0" lang="en-US" sz="1800" u="none" cap="none" strike="noStrike">
                <a:solidFill>
                  <a:srgbClr val="E55E11"/>
                </a:solidFill>
                <a:latin typeface="Raleway SemiBold"/>
                <a:ea typeface="Raleway SemiBold"/>
                <a:cs typeface="Raleway SemiBold"/>
                <a:sym typeface="Raleway SemiBold"/>
              </a:rPr>
              <a:t>Validate findings with larger datasets.</a:t>
            </a:r>
            <a:endParaRPr/>
          </a:p>
          <a:p>
            <a:pPr indent="0" lvl="0" marL="0" marR="0" rtl="0" algn="l">
              <a:lnSpc>
                <a:spcPct val="140000"/>
              </a:lnSpc>
              <a:spcBef>
                <a:spcPts val="0"/>
              </a:spcBef>
              <a:spcAft>
                <a:spcPts val="0"/>
              </a:spcAft>
              <a:buNone/>
            </a:pPr>
            <a:r>
              <a:t/>
            </a:r>
            <a:endParaRPr b="1" i="0" sz="1800" u="none" cap="none" strike="noStrike">
              <a:solidFill>
                <a:srgbClr val="E55E11"/>
              </a:solidFill>
              <a:latin typeface="Raleway SemiBold"/>
              <a:ea typeface="Raleway SemiBold"/>
              <a:cs typeface="Raleway SemiBold"/>
              <a:sym typeface="Raleway SemiBold"/>
            </a:endParaRPr>
          </a:p>
          <a:p>
            <a:pPr indent="-194312" lvl="1" marL="388623" marR="0" rtl="0" algn="l">
              <a:lnSpc>
                <a:spcPct val="140000"/>
              </a:lnSpc>
              <a:spcBef>
                <a:spcPts val="0"/>
              </a:spcBef>
              <a:spcAft>
                <a:spcPts val="0"/>
              </a:spcAft>
              <a:buClr>
                <a:srgbClr val="E55E11"/>
              </a:buClr>
              <a:buSzPts val="1800"/>
              <a:buFont typeface="Arial"/>
              <a:buChar char="•"/>
            </a:pPr>
            <a:r>
              <a:rPr b="1" i="0" lang="en-US" sz="1800" u="none" cap="none" strike="noStrike">
                <a:solidFill>
                  <a:srgbClr val="E55E11"/>
                </a:solidFill>
                <a:latin typeface="Raleway SemiBold"/>
                <a:ea typeface="Raleway SemiBold"/>
                <a:cs typeface="Raleway SemiBold"/>
                <a:sym typeface="Raleway SemiBold"/>
              </a:rPr>
              <a:t>Develop a clinician-facing decision-support tool.</a:t>
            </a:r>
            <a:endParaRPr/>
          </a:p>
          <a:p>
            <a:pPr indent="0" lvl="0" marL="0" marR="0" rtl="0" algn="l">
              <a:lnSpc>
                <a:spcPct val="140000"/>
              </a:lnSpc>
              <a:spcBef>
                <a:spcPts val="0"/>
              </a:spcBef>
              <a:spcAft>
                <a:spcPts val="0"/>
              </a:spcAft>
              <a:buNone/>
            </a:pPr>
            <a:r>
              <a:t/>
            </a:r>
            <a:endParaRPr b="1" i="0" sz="1800" u="none" cap="none" strike="noStrike">
              <a:solidFill>
                <a:srgbClr val="E55E11"/>
              </a:solidFill>
              <a:latin typeface="Raleway SemiBold"/>
              <a:ea typeface="Raleway SemiBold"/>
              <a:cs typeface="Raleway SemiBold"/>
              <a:sym typeface="Raleway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F1"/>
        </a:solidFill>
      </p:bgPr>
    </p:bg>
    <p:spTree>
      <p:nvGrpSpPr>
        <p:cNvPr id="365" name="Shape 365"/>
        <p:cNvGrpSpPr/>
        <p:nvPr/>
      </p:nvGrpSpPr>
      <p:grpSpPr>
        <a:xfrm>
          <a:off x="0" y="0"/>
          <a:ext cx="0" cy="0"/>
          <a:chOff x="0" y="0"/>
          <a:chExt cx="0" cy="0"/>
        </a:xfrm>
      </p:grpSpPr>
      <p:sp>
        <p:nvSpPr>
          <p:cNvPr id="366" name="Google Shape;366;p13"/>
          <p:cNvSpPr/>
          <p:nvPr/>
        </p:nvSpPr>
        <p:spPr>
          <a:xfrm rot="10800000">
            <a:off x="-923791" y="-783256"/>
            <a:ext cx="11853512" cy="11853512"/>
          </a:xfrm>
          <a:custGeom>
            <a:rect b="b" l="l" r="r" t="t"/>
            <a:pathLst>
              <a:path extrusionOk="0" h="11853512" w="11853512">
                <a:moveTo>
                  <a:pt x="0" y="0"/>
                </a:moveTo>
                <a:lnTo>
                  <a:pt x="11853513" y="0"/>
                </a:lnTo>
                <a:lnTo>
                  <a:pt x="11853513" y="11853512"/>
                </a:lnTo>
                <a:lnTo>
                  <a:pt x="0" y="11853512"/>
                </a:lnTo>
                <a:lnTo>
                  <a:pt x="0" y="0"/>
                </a:lnTo>
                <a:close/>
              </a:path>
            </a:pathLst>
          </a:custGeom>
          <a:blipFill rotWithShape="1">
            <a:blip r:embed="rId3">
              <a:alphaModFix/>
            </a:blip>
            <a:stretch>
              <a:fillRect b="0" l="0" r="0" t="0"/>
            </a:stretch>
          </a:blipFill>
          <a:ln>
            <a:noFill/>
          </a:ln>
        </p:spPr>
      </p:sp>
      <p:sp>
        <p:nvSpPr>
          <p:cNvPr id="367" name="Google Shape;367;p13"/>
          <p:cNvSpPr txBox="1"/>
          <p:nvPr/>
        </p:nvSpPr>
        <p:spPr>
          <a:xfrm>
            <a:off x="1219200" y="2646761"/>
            <a:ext cx="8144502" cy="5212553"/>
          </a:xfrm>
          <a:prstGeom prst="rect">
            <a:avLst/>
          </a:prstGeom>
          <a:noFill/>
          <a:ln>
            <a:noFill/>
          </a:ln>
        </p:spPr>
        <p:txBody>
          <a:bodyPr anchorCtr="0" anchor="t" bIns="0" lIns="0" spcFirstLastPara="1" rIns="0" wrap="square" tIns="0">
            <a:spAutoFit/>
          </a:bodyPr>
          <a:lstStyle/>
          <a:p>
            <a:pPr indent="0" lvl="1" marL="0" marR="0" rtl="0" algn="l">
              <a:lnSpc>
                <a:spcPct val="90001"/>
              </a:lnSpc>
              <a:spcBef>
                <a:spcPts val="0"/>
              </a:spcBef>
              <a:spcAft>
                <a:spcPts val="0"/>
              </a:spcAft>
              <a:buNone/>
            </a:pPr>
            <a:r>
              <a:rPr b="1" i="0" lang="en-US" sz="14812" u="none" cap="none" strike="noStrike">
                <a:solidFill>
                  <a:srgbClr val="2F2F2F"/>
                </a:solidFill>
                <a:latin typeface="Raleway Medium"/>
                <a:ea typeface="Raleway Medium"/>
                <a:cs typeface="Raleway Medium"/>
                <a:sym typeface="Raleway Medium"/>
              </a:rPr>
              <a:t>Thank you very much!</a:t>
            </a:r>
            <a:endParaRPr/>
          </a:p>
        </p:txBody>
      </p:sp>
      <p:sp>
        <p:nvSpPr>
          <p:cNvPr id="368" name="Google Shape;368;p13"/>
          <p:cNvSpPr txBox="1"/>
          <p:nvPr/>
        </p:nvSpPr>
        <p:spPr>
          <a:xfrm>
            <a:off x="1219200" y="1104900"/>
            <a:ext cx="9179504" cy="381003"/>
          </a:xfrm>
          <a:prstGeom prst="rect">
            <a:avLst/>
          </a:prstGeom>
          <a:noFill/>
          <a:ln>
            <a:noFill/>
          </a:ln>
        </p:spPr>
        <p:txBody>
          <a:bodyPr anchorCtr="0" anchor="t" bIns="0" lIns="0" spcFirstLastPara="1" rIns="0" wrap="square" tIns="0">
            <a:spAutoFit/>
          </a:bodyPr>
          <a:lstStyle/>
          <a:p>
            <a:pPr indent="0" lvl="1" marL="0" marR="0" rtl="0" algn="l">
              <a:lnSpc>
                <a:spcPct val="90000"/>
              </a:lnSpc>
              <a:spcBef>
                <a:spcPts val="0"/>
              </a:spcBef>
              <a:spcAft>
                <a:spcPts val="0"/>
              </a:spcAft>
              <a:buNone/>
            </a:pPr>
            <a:r>
              <a:rPr b="1" i="0" lang="en-US" sz="3000" u="none" cap="none" strike="noStrike">
                <a:solidFill>
                  <a:srgbClr val="2F2F2F"/>
                </a:solidFill>
                <a:latin typeface="Raleway Medium"/>
                <a:ea typeface="Raleway Medium"/>
                <a:cs typeface="Raleway Medium"/>
                <a:sym typeface="Raleway Medium"/>
              </a:rPr>
              <a:t>Presented by Alexandria Noikovitch</a:t>
            </a:r>
            <a:endParaRPr/>
          </a:p>
        </p:txBody>
      </p:sp>
      <p:sp>
        <p:nvSpPr>
          <p:cNvPr id="369" name="Google Shape;369;p13"/>
          <p:cNvSpPr/>
          <p:nvPr/>
        </p:nvSpPr>
        <p:spPr>
          <a:xfrm>
            <a:off x="11867657" y="1376536"/>
            <a:ext cx="5561408" cy="7533927"/>
          </a:xfrm>
          <a:custGeom>
            <a:rect b="b" l="l" r="r" t="t"/>
            <a:pathLst>
              <a:path extrusionOk="0" h="7533927" w="5561408">
                <a:moveTo>
                  <a:pt x="0" y="0"/>
                </a:moveTo>
                <a:lnTo>
                  <a:pt x="5561408" y="0"/>
                </a:lnTo>
                <a:lnTo>
                  <a:pt x="5561408" y="7533928"/>
                </a:lnTo>
                <a:lnTo>
                  <a:pt x="0" y="7533928"/>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