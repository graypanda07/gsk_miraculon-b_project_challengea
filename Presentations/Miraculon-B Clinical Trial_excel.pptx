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embeddedFontLst>
    <p:embeddedFont>
      <p:font typeface="Raleway SemiBold"/>
      <p:regular r:id="rId16"/>
      <p:bold r:id="rId17"/>
      <p:italic r:id="rId18"/>
      <p:boldItalic r:id="rId19"/>
    </p:embeddedFont>
    <p:embeddedFont>
      <p:font typeface="Roboto"/>
      <p:regular r:id="rId20"/>
      <p:bold r:id="rId21"/>
      <p:italic r:id="rId22"/>
      <p:boldItalic r:id="rId23"/>
    </p:embeddedFont>
    <p:embeddedFont>
      <p:font typeface="Lato"/>
      <p:regular r:id="rId24"/>
      <p:bold r:id="rId25"/>
      <p:italic r:id="rId26"/>
      <p:boldItalic r:id="rId27"/>
    </p:embeddedFont>
    <p:embeddedFont>
      <p:font typeface="Barlow Medium"/>
      <p:regular r:id="rId28"/>
      <p:bold r:id="rId29"/>
      <p:italic r:id="rId30"/>
      <p:boldItalic r:id="rId31"/>
    </p:embeddedFont>
    <p:embeddedFont>
      <p:font typeface="Raleway Medium"/>
      <p:regular r:id="rId32"/>
      <p:bold r:id="rId33"/>
      <p:italic r:id="rId34"/>
      <p:boldItalic r:id="rId35"/>
    </p:embeddedFont>
    <p:embeddedFont>
      <p:font typeface="Open Sans ExtraBold"/>
      <p:bold r:id="rId36"/>
      <p:boldItalic r:id="rId37"/>
    </p:embeddedFont>
    <p:embeddedFont>
      <p:font typeface="Barlow Light"/>
      <p:regular r:id="rId38"/>
      <p:bold r:id="rId39"/>
      <p:italic r:id="rId40"/>
      <p:boldItalic r:id="rId41"/>
    </p:embeddedFont>
    <p:embeddedFont>
      <p:font typeface="Barlow"/>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6" roundtripDataSignature="AMtx7miuf3Bmx27gBjVhSOHrM7LnnXBX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Light-italic.fntdata"/><Relationship Id="rId20" Type="http://schemas.openxmlformats.org/officeDocument/2006/relationships/font" Target="fonts/Roboto-regular.fntdata"/><Relationship Id="rId42" Type="http://schemas.openxmlformats.org/officeDocument/2006/relationships/font" Target="fonts/Barlow-regular.fntdata"/><Relationship Id="rId41" Type="http://schemas.openxmlformats.org/officeDocument/2006/relationships/font" Target="fonts/BarlowLight-boldItalic.fntdata"/><Relationship Id="rId22" Type="http://schemas.openxmlformats.org/officeDocument/2006/relationships/font" Target="fonts/Roboto-italic.fntdata"/><Relationship Id="rId44" Type="http://schemas.openxmlformats.org/officeDocument/2006/relationships/font" Target="fonts/Barlow-italic.fntdata"/><Relationship Id="rId21" Type="http://schemas.openxmlformats.org/officeDocument/2006/relationships/font" Target="fonts/Roboto-bold.fntdata"/><Relationship Id="rId43" Type="http://schemas.openxmlformats.org/officeDocument/2006/relationships/font" Target="fonts/Barlow-bold.fntdata"/><Relationship Id="rId24" Type="http://schemas.openxmlformats.org/officeDocument/2006/relationships/font" Target="fonts/Lato-regular.fntdata"/><Relationship Id="rId46" Type="http://customschemas.google.com/relationships/presentationmetadata" Target="metadata"/><Relationship Id="rId23" Type="http://schemas.openxmlformats.org/officeDocument/2006/relationships/font" Target="fonts/Roboto-boldItalic.fntdata"/><Relationship Id="rId45" Type="http://schemas.openxmlformats.org/officeDocument/2006/relationships/font" Target="fonts/Barlow-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8" Type="http://schemas.openxmlformats.org/officeDocument/2006/relationships/font" Target="fonts/BarlowMedium-regular.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Barlow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arlowMedium-boldItalic.fntdata"/><Relationship Id="rId30" Type="http://schemas.openxmlformats.org/officeDocument/2006/relationships/font" Target="fonts/BarlowMedium-italic.fntdata"/><Relationship Id="rId11" Type="http://schemas.openxmlformats.org/officeDocument/2006/relationships/slide" Target="slides/slide6.xml"/><Relationship Id="rId33" Type="http://schemas.openxmlformats.org/officeDocument/2006/relationships/font" Target="fonts/RalewayMedium-bold.fntdata"/><Relationship Id="rId10" Type="http://schemas.openxmlformats.org/officeDocument/2006/relationships/slide" Target="slides/slide5.xml"/><Relationship Id="rId32" Type="http://schemas.openxmlformats.org/officeDocument/2006/relationships/font" Target="fonts/RalewayMedium-regular.fntdata"/><Relationship Id="rId13" Type="http://schemas.openxmlformats.org/officeDocument/2006/relationships/slide" Target="slides/slide8.xml"/><Relationship Id="rId35" Type="http://schemas.openxmlformats.org/officeDocument/2006/relationships/font" Target="fonts/RalewayMedium-boldItalic.fntdata"/><Relationship Id="rId12" Type="http://schemas.openxmlformats.org/officeDocument/2006/relationships/slide" Target="slides/slide7.xml"/><Relationship Id="rId34" Type="http://schemas.openxmlformats.org/officeDocument/2006/relationships/font" Target="fonts/RalewayMedium-italic.fntdata"/><Relationship Id="rId15" Type="http://schemas.openxmlformats.org/officeDocument/2006/relationships/slide" Target="slides/slide10.xml"/><Relationship Id="rId37" Type="http://schemas.openxmlformats.org/officeDocument/2006/relationships/font" Target="fonts/OpenSansExtraBold-boldItalic.fntdata"/><Relationship Id="rId14" Type="http://schemas.openxmlformats.org/officeDocument/2006/relationships/slide" Target="slides/slide9.xml"/><Relationship Id="rId36" Type="http://schemas.openxmlformats.org/officeDocument/2006/relationships/font" Target="fonts/OpenSansExtraBold-bold.fntdata"/><Relationship Id="rId17" Type="http://schemas.openxmlformats.org/officeDocument/2006/relationships/font" Target="fonts/RalewaySemiBold-bold.fntdata"/><Relationship Id="rId39" Type="http://schemas.openxmlformats.org/officeDocument/2006/relationships/font" Target="fonts/BarlowLight-bold.fntdata"/><Relationship Id="rId16" Type="http://schemas.openxmlformats.org/officeDocument/2006/relationships/font" Target="fonts/RalewaySemiBold-regular.fntdata"/><Relationship Id="rId38" Type="http://schemas.openxmlformats.org/officeDocument/2006/relationships/font" Target="fonts/BarlowLight-regular.fntdata"/><Relationship Id="rId19" Type="http://schemas.openxmlformats.org/officeDocument/2006/relationships/font" Target="fonts/RalewaySemiBold-boldItalic.fntdata"/><Relationship Id="rId18" Type="http://schemas.openxmlformats.org/officeDocument/2006/relationships/font" Target="fonts/Raleway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Good afternoon, my name is Alexandria Noikovitch, and today, I’ll share key insights from our analysis of the Miraculon-B clinical trial. Our focus was to identify which patients are most likely to benefit from this treatment and how these findings can support GSK’s mission of delivering targeted, effective therapies.</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03" name="Google Shape;103;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04" name="Google Shape;104;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By addressing these questions, we aim to provide actionable insights that help deliver personalized care and maximize the drug’s impact.</a:t>
            </a:r>
            <a:endParaRPr/>
          </a:p>
        </p:txBody>
      </p:sp>
      <p:sp>
        <p:nvSpPr>
          <p:cNvPr id="106" name="Google Shape;106;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07" name="Google Shape;107;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28" name="Google Shape;128;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29" name="Google Shape;129;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answer these questions, we used both quantitative and qualitative methods. On the quantitative side, we analyzed statistical patterns like averages, variation, and response rates. We applied statistical tests to identify meaningful differences and used machine learning models, such as Random Forest and Support Vector Machines, to validate our findings and improve prediction accuracy.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 the qualitative side, we considered the broader clinical context, analyzing how these factors interact and their potential implications for personalized care. Together, these approaches ensure that our findings are both statistically robust and clinically meaningful.</a:t>
            </a:r>
            <a:endParaRPr/>
          </a:p>
        </p:txBody>
      </p:sp>
      <p:sp>
        <p:nvSpPr>
          <p:cNvPr id="131" name="Google Shape;131;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32" name="Google Shape;132;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68" name="Google Shape;168;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69" name="Google Shape;169;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Now let's explore the findings.</a:t>
            </a:r>
            <a:endParaRPr/>
          </a:p>
        </p:txBody>
      </p:sp>
      <p:sp>
        <p:nvSpPr>
          <p:cNvPr id="171" name="Google Shape;171;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72" name="Google Shape;172;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81" name="Google Shape;181;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82" name="Google Shape;182;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One of the first steps was comparing Miraculon-B to the standard of care. The results are clear: Miraculon-B had significantly higher response rates.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the control group, 33% of patients responded positively, as shown by the smaller orange bar. In contrast, 55% of patients in the Miraculon-B group responded positively. This means nearly twice as many patients benefited from the drug.*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difference is statistically significant, confirming that Miraculon-B offers a superior treatment option. These results demonstrate the potential for Miraculon-B to outperform current treatments, making it a valuable solution for patients and clinicians alike.</a:t>
            </a:r>
            <a:endParaRPr/>
          </a:p>
        </p:txBody>
      </p:sp>
      <p:sp>
        <p:nvSpPr>
          <p:cNvPr id="184" name="Google Shape;184;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85" name="Google Shape;185;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97" name="Google Shape;197;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98" name="Google Shape;198;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then looked at specific factors that influence response, starting with age. Our analysis showed that younger patients are significantly more likely to respond to Miraculon-B.</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Using a statistical test called a T-test, we compared the average age of responders and non-responders. The results showed a meaningful difference, with responders being younger on average.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As shown in this boxplot, the median age for responders is lower than for non-responders, making age an important predictor when deciding which patients may benefit most from the treatment.</a:t>
            </a:r>
            <a:endParaRPr/>
          </a:p>
        </p:txBody>
      </p:sp>
      <p:sp>
        <p:nvSpPr>
          <p:cNvPr id="200" name="Google Shape;200;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01" name="Google Shape;201;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31" name="Google Shape;231;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32" name="Google Shape;232;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Next, we analyzed BMI, or Body Mass Index, and found it to be a strong predictor of treatment response. Patients with higher BMI values were significantly more likely to respond to Miraculon-B.</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finding was validated using an ANOVA test, which confirmed the difference in BMI between responders and non-responders.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this boxplot, you can see that responders have higher BMI values than non-responders. By considering BMI in treatment decisions, we can identify patients who are most likely to benefit, ensuring better outcomes and more efficient use of the drug.</a:t>
            </a:r>
            <a:endParaRPr/>
          </a:p>
        </p:txBody>
      </p:sp>
      <p:sp>
        <p:nvSpPr>
          <p:cNvPr id="234" name="Google Shape;234;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35" name="Google Shape;235;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66" name="Google Shape;266;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67" name="Google Shape;267;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third factor is protein concentration, a potential biomarker. Our analysis revealed that patients with lower protein concentrations are significantly more likely to respond positively to Miraculon-B.</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Correlation analysis confirmed this relationship, showing a strong negative link between protein levels and response likelihood.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boxplot illustrates how responders consistently have lower protein concentrations compared to non-responders. This makes protein concentration a critical biomarker for tailoring treatment plans and delivering personalized care.</a:t>
            </a:r>
            <a:endParaRPr/>
          </a:p>
        </p:txBody>
      </p:sp>
      <p:sp>
        <p:nvSpPr>
          <p:cNvPr id="269" name="Google Shape;269;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70" name="Google Shape;270;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99" name="Google Shape;299;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00" name="Google Shape;300;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conclusion, Miraculon-B has been shown to significantly improve response rates compared to the standard of care. Our analysis identified three key predictors—age, BMI, and protein concentration—which can guide personalized treatment decisions. These findings not only enhance patient outcomes but also strengthen GSK’s position in advancing precision medicine.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Looking ahead, we recommend validating these insights with larger datasets and developing a decision-support tool to help clinicians apply these findings in practice.</a:t>
            </a:r>
            <a:endParaRPr/>
          </a:p>
        </p:txBody>
      </p:sp>
      <p:sp>
        <p:nvSpPr>
          <p:cNvPr id="302" name="Google Shape;302;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03" name="Google Shape;303;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p:nvPr>
            <p:ph idx="2" type="pic"/>
          </p:nvPr>
        </p:nvSpPr>
        <p:spPr>
          <a:xfrm>
            <a:off x="1792288" y="612775"/>
            <a:ext cx="5486400" cy="4114800"/>
          </a:xfrm>
          <a:prstGeom prst="rect">
            <a:avLst/>
          </a:prstGeom>
          <a:noFill/>
          <a:ln>
            <a:noFill/>
          </a:ln>
        </p:spPr>
      </p:sp>
      <p:sp>
        <p:nvSpPr>
          <p:cNvPr id="68" name="Google Shape;68;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0276" l="-15191" r="0" t="-26414"/>
            </a:stretch>
          </a:blipFill>
          <a:ln>
            <a:noFill/>
          </a:ln>
        </p:spPr>
      </p:sp>
      <p:sp>
        <p:nvSpPr>
          <p:cNvPr id="93" name="Google Shape;93;p1"/>
          <p:cNvSpPr/>
          <p:nvPr/>
        </p:nvSpPr>
        <p:spPr>
          <a:xfrm>
            <a:off x="8439843" y="6531608"/>
            <a:ext cx="1408314" cy="89780"/>
          </a:xfrm>
          <a:custGeom>
            <a:rect b="b" l="l" r="r" t="t"/>
            <a:pathLst>
              <a:path extrusionOk="0" h="89780" w="1408314">
                <a:moveTo>
                  <a:pt x="0" y="0"/>
                </a:moveTo>
                <a:lnTo>
                  <a:pt x="1408314" y="0"/>
                </a:lnTo>
                <a:lnTo>
                  <a:pt x="1408314" y="89780"/>
                </a:lnTo>
                <a:lnTo>
                  <a:pt x="0" y="89780"/>
                </a:lnTo>
                <a:lnTo>
                  <a:pt x="0" y="0"/>
                </a:lnTo>
                <a:close/>
              </a:path>
            </a:pathLst>
          </a:custGeom>
          <a:blipFill rotWithShape="1">
            <a:blip r:embed="rId4">
              <a:alphaModFix/>
            </a:blip>
            <a:stretch>
              <a:fillRect b="0" l="0" r="0" t="0"/>
            </a:stretch>
          </a:blipFill>
          <a:ln>
            <a:noFill/>
          </a:ln>
        </p:spPr>
      </p:sp>
      <p:sp>
        <p:nvSpPr>
          <p:cNvPr id="94" name="Google Shape;94;p1"/>
          <p:cNvSpPr/>
          <p:nvPr/>
        </p:nvSpPr>
        <p:spPr>
          <a:xfrm>
            <a:off x="15985352" y="219297"/>
            <a:ext cx="2003607" cy="1127029"/>
          </a:xfrm>
          <a:custGeom>
            <a:rect b="b" l="l" r="r" t="t"/>
            <a:pathLst>
              <a:path extrusionOk="0" h="1127029" w="2003607">
                <a:moveTo>
                  <a:pt x="0" y="0"/>
                </a:moveTo>
                <a:lnTo>
                  <a:pt x="2003607" y="0"/>
                </a:lnTo>
                <a:lnTo>
                  <a:pt x="2003607" y="1127029"/>
                </a:lnTo>
                <a:lnTo>
                  <a:pt x="0" y="1127029"/>
                </a:lnTo>
                <a:lnTo>
                  <a:pt x="0" y="0"/>
                </a:lnTo>
                <a:close/>
              </a:path>
            </a:pathLst>
          </a:custGeom>
          <a:blipFill rotWithShape="1">
            <a:blip r:embed="rId5">
              <a:alphaModFix/>
            </a:blip>
            <a:stretch>
              <a:fillRect b="0" l="0" r="0" t="0"/>
            </a:stretch>
          </a:blipFill>
          <a:ln>
            <a:noFill/>
          </a:ln>
        </p:spPr>
      </p:sp>
      <p:sp>
        <p:nvSpPr>
          <p:cNvPr id="95" name="Google Shape;95;p1"/>
          <p:cNvSpPr/>
          <p:nvPr/>
        </p:nvSpPr>
        <p:spPr>
          <a:xfrm>
            <a:off x="15685286" y="1346326"/>
            <a:ext cx="2303673" cy="898433"/>
          </a:xfrm>
          <a:custGeom>
            <a:rect b="b" l="l" r="r" t="t"/>
            <a:pathLst>
              <a:path extrusionOk="0" h="898433" w="2303673">
                <a:moveTo>
                  <a:pt x="0" y="0"/>
                </a:moveTo>
                <a:lnTo>
                  <a:pt x="2303673" y="0"/>
                </a:lnTo>
                <a:lnTo>
                  <a:pt x="2303673" y="898432"/>
                </a:lnTo>
                <a:lnTo>
                  <a:pt x="0" y="898432"/>
                </a:lnTo>
                <a:lnTo>
                  <a:pt x="0" y="0"/>
                </a:lnTo>
                <a:close/>
              </a:path>
            </a:pathLst>
          </a:custGeom>
          <a:blipFill rotWithShape="1">
            <a:blip r:embed="rId6">
              <a:alphaModFix/>
            </a:blip>
            <a:stretch>
              <a:fillRect b="0" l="0" r="0" t="0"/>
            </a:stretch>
          </a:blipFill>
          <a:ln>
            <a:noFill/>
          </a:ln>
        </p:spPr>
      </p:sp>
      <p:sp>
        <p:nvSpPr>
          <p:cNvPr id="96" name="Google Shape;96;p1"/>
          <p:cNvSpPr txBox="1"/>
          <p:nvPr/>
        </p:nvSpPr>
        <p:spPr>
          <a:xfrm>
            <a:off x="6270393" y="2962412"/>
            <a:ext cx="5747214" cy="243205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0" i="0" lang="en-US" sz="6999" u="none" cap="none" strike="noStrike">
                <a:solidFill>
                  <a:srgbClr val="F5F5F5"/>
                </a:solidFill>
                <a:latin typeface="Open Sans ExtraBold"/>
                <a:ea typeface="Open Sans ExtraBold"/>
                <a:cs typeface="Open Sans ExtraBold"/>
                <a:sym typeface="Open Sans ExtraBold"/>
              </a:rPr>
              <a:t>Miraculon-B </a:t>
            </a:r>
            <a:endParaRPr b="0" i="0" sz="1400" u="none" cap="none" strike="noStrike">
              <a:solidFill>
                <a:srgbClr val="000000"/>
              </a:solidFill>
              <a:latin typeface="Arial"/>
              <a:ea typeface="Arial"/>
              <a:cs typeface="Arial"/>
              <a:sym typeface="Arial"/>
            </a:endParaRPr>
          </a:p>
          <a:p>
            <a:pPr indent="0" lvl="0" marL="0" marR="0" rtl="0" algn="l">
              <a:lnSpc>
                <a:spcPct val="140005"/>
              </a:lnSpc>
              <a:spcBef>
                <a:spcPts val="0"/>
              </a:spcBef>
              <a:spcAft>
                <a:spcPts val="0"/>
              </a:spcAft>
              <a:buClr>
                <a:srgbClr val="000000"/>
              </a:buClr>
              <a:buSzPts val="6999"/>
              <a:buFont typeface="Arial"/>
              <a:buNone/>
            </a:pPr>
            <a:r>
              <a:t/>
            </a:r>
            <a:endParaRPr b="0" i="0" sz="6999" u="none" cap="none" strike="noStrike">
              <a:solidFill>
                <a:srgbClr val="F5F5F5"/>
              </a:solidFill>
              <a:latin typeface="Open Sans ExtraBold"/>
              <a:ea typeface="Open Sans ExtraBold"/>
              <a:cs typeface="Open Sans ExtraBold"/>
              <a:sym typeface="Open Sans ExtraBold"/>
            </a:endParaRPr>
          </a:p>
        </p:txBody>
      </p:sp>
      <p:sp>
        <p:nvSpPr>
          <p:cNvPr id="97" name="Google Shape;97;p1"/>
          <p:cNvSpPr txBox="1"/>
          <p:nvPr/>
        </p:nvSpPr>
        <p:spPr>
          <a:xfrm>
            <a:off x="9522785" y="4294456"/>
            <a:ext cx="56160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0" i="0" lang="en-US" sz="6999" u="none" cap="none" strike="noStrike">
                <a:solidFill>
                  <a:srgbClr val="EA6F08"/>
                </a:solidFill>
                <a:latin typeface="Open Sans ExtraBold"/>
                <a:ea typeface="Open Sans ExtraBold"/>
                <a:cs typeface="Open Sans ExtraBold"/>
                <a:sym typeface="Open Sans ExtraBold"/>
              </a:rPr>
              <a:t>Insights</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5224016" y="5684270"/>
            <a:ext cx="7839969" cy="49085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0" i="0" lang="en-US" sz="2800" u="none" cap="none" strike="noStrike">
                <a:solidFill>
                  <a:srgbClr val="F5F5F5"/>
                </a:solidFill>
                <a:latin typeface="Lato"/>
                <a:ea typeface="Lato"/>
                <a:cs typeface="Lato"/>
                <a:sym typeface="Lato"/>
              </a:rPr>
              <a:t>Identifying Patients Who Benefit Most</a:t>
            </a:r>
            <a:endParaRPr b="0" i="0" sz="1400" u="none" cap="none" strike="noStrike">
              <a:solidFill>
                <a:srgbClr val="000000"/>
              </a:solidFill>
              <a:latin typeface="Arial"/>
              <a:ea typeface="Arial"/>
              <a:cs typeface="Arial"/>
              <a:sym typeface="Arial"/>
            </a:endParaRPr>
          </a:p>
        </p:txBody>
      </p:sp>
      <p:sp>
        <p:nvSpPr>
          <p:cNvPr id="99" name="Google Shape;99;p1"/>
          <p:cNvSpPr txBox="1"/>
          <p:nvPr/>
        </p:nvSpPr>
        <p:spPr>
          <a:xfrm>
            <a:off x="3735698" y="2785495"/>
            <a:ext cx="5906703" cy="2432050"/>
          </a:xfrm>
          <a:prstGeom prst="rect">
            <a:avLst/>
          </a:prstGeom>
          <a:noFill/>
          <a:ln>
            <a:noFill/>
          </a:ln>
        </p:spPr>
        <p:txBody>
          <a:bodyPr anchorCtr="0" anchor="t" bIns="0" lIns="0" spcFirstLastPara="1" rIns="0" wrap="square" tIns="0">
            <a:spAutoFit/>
          </a:bodyPr>
          <a:lstStyle/>
          <a:p>
            <a:pPr indent="0" lvl="0" marL="0" marR="0" rtl="0" algn="l">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40005"/>
              </a:lnSpc>
              <a:spcBef>
                <a:spcPts val="0"/>
              </a:spcBef>
              <a:spcAft>
                <a:spcPts val="0"/>
              </a:spcAft>
              <a:buClr>
                <a:srgbClr val="000000"/>
              </a:buClr>
              <a:buSzPts val="6999"/>
              <a:buFont typeface="Arial"/>
              <a:buNone/>
            </a:pPr>
            <a:r>
              <a:rPr b="0" i="0" lang="en-US" sz="6999" u="none" cap="none" strike="noStrike">
                <a:solidFill>
                  <a:srgbClr val="F5F5F5"/>
                </a:solidFill>
                <a:latin typeface="Open Sans ExtraBold"/>
                <a:ea typeface="Open Sans ExtraBold"/>
                <a:cs typeface="Open Sans ExtraBold"/>
                <a:sym typeface="Open Sans ExtraBold"/>
              </a:rPr>
              <a:t>Clinical Trial</a:t>
            </a:r>
            <a:endParaRPr b="0" i="0" sz="1400" u="none" cap="none" strike="noStrike">
              <a:solidFill>
                <a:srgbClr val="000000"/>
              </a:solidFill>
              <a:latin typeface="Arial"/>
              <a:ea typeface="Arial"/>
              <a:cs typeface="Arial"/>
              <a:sym typeface="Arial"/>
            </a:endParaRPr>
          </a:p>
        </p:txBody>
      </p:sp>
      <p:sp>
        <p:nvSpPr>
          <p:cNvPr id="100" name="Google Shape;100;p1"/>
          <p:cNvSpPr txBox="1"/>
          <p:nvPr/>
        </p:nvSpPr>
        <p:spPr>
          <a:xfrm>
            <a:off x="5224016" y="7087944"/>
            <a:ext cx="7839900" cy="2241000"/>
          </a:xfrm>
          <a:prstGeom prst="rect">
            <a:avLst/>
          </a:prstGeom>
          <a:noFill/>
          <a:ln>
            <a:noFill/>
          </a:ln>
        </p:spPr>
        <p:txBody>
          <a:bodyPr anchorCtr="0" anchor="t" bIns="0" lIns="0" spcFirstLastPara="1" rIns="0" wrap="square" tIns="0">
            <a:spAutoFit/>
          </a:bodyPr>
          <a:lstStyle/>
          <a:p>
            <a:pPr indent="0" lvl="0" marL="0" rtl="0" algn="ctr">
              <a:lnSpc>
                <a:spcPct val="140000"/>
              </a:lnSpc>
              <a:spcBef>
                <a:spcPts val="0"/>
              </a:spcBef>
              <a:spcAft>
                <a:spcPts val="0"/>
              </a:spcAft>
              <a:buClr>
                <a:schemeClr val="dk1"/>
              </a:buClr>
              <a:buFont typeface="Arial"/>
              <a:buNone/>
            </a:pPr>
            <a:r>
              <a:rPr lang="en-US" sz="2800">
                <a:solidFill>
                  <a:srgbClr val="EA6F08"/>
                </a:solidFill>
                <a:latin typeface="Lato"/>
                <a:ea typeface="Lato"/>
                <a:cs typeface="Lato"/>
                <a:sym typeface="Lato"/>
              </a:rPr>
              <a:t>Presented By: </a:t>
            </a:r>
            <a:endParaRPr>
              <a:solidFill>
                <a:schemeClr val="dk1"/>
              </a:solidFill>
            </a:endParaRPr>
          </a:p>
          <a:p>
            <a:pPr indent="0" lvl="0" marL="0" rtl="0" algn="ctr">
              <a:lnSpc>
                <a:spcPct val="140000"/>
              </a:lnSpc>
              <a:spcBef>
                <a:spcPts val="0"/>
              </a:spcBef>
              <a:spcAft>
                <a:spcPts val="0"/>
              </a:spcAft>
              <a:buClr>
                <a:schemeClr val="dk1"/>
              </a:buClr>
              <a:buFont typeface="Arial"/>
              <a:buNone/>
            </a:pPr>
            <a:r>
              <a:rPr lang="en-US" sz="2800">
                <a:solidFill>
                  <a:srgbClr val="EA6F08"/>
                </a:solidFill>
                <a:latin typeface="Lato"/>
                <a:ea typeface="Lato"/>
                <a:cs typeface="Lato"/>
                <a:sym typeface="Lato"/>
              </a:rPr>
              <a:t>Alexandria Noikovitch</a:t>
            </a:r>
            <a:endParaRPr>
              <a:solidFill>
                <a:schemeClr val="dk1"/>
              </a:solidFill>
            </a:endParaRPr>
          </a:p>
          <a:p>
            <a:pPr indent="0" lvl="0" marL="0" rtl="0" algn="ctr">
              <a:lnSpc>
                <a:spcPct val="140000"/>
              </a:lnSpc>
              <a:spcBef>
                <a:spcPts val="0"/>
              </a:spcBef>
              <a:spcAft>
                <a:spcPts val="0"/>
              </a:spcAft>
              <a:buClr>
                <a:schemeClr val="dk1"/>
              </a:buClr>
              <a:buFont typeface="Arial"/>
              <a:buNone/>
            </a:pPr>
            <a:r>
              <a:rPr lang="en-US" sz="2800">
                <a:solidFill>
                  <a:srgbClr val="EA6F08"/>
                </a:solidFill>
                <a:latin typeface="Lato"/>
                <a:ea typeface="Lato"/>
                <a:cs typeface="Lato"/>
                <a:sym typeface="Lato"/>
              </a:rPr>
              <a:t>University Of Portsmouth Graduate (2024)</a:t>
            </a:r>
            <a:endParaRPr>
              <a:solidFill>
                <a:schemeClr val="dk1"/>
              </a:solidFill>
            </a:endParaRPr>
          </a:p>
          <a:p>
            <a:pPr indent="0" lvl="0" marL="0" rtl="0" algn="ctr">
              <a:lnSpc>
                <a:spcPct val="140000"/>
              </a:lnSpc>
              <a:spcBef>
                <a:spcPts val="0"/>
              </a:spcBef>
              <a:spcAft>
                <a:spcPts val="0"/>
              </a:spcAft>
              <a:buClr>
                <a:schemeClr val="dk1"/>
              </a:buClr>
              <a:buFont typeface="Arial"/>
              <a:buNone/>
            </a:pPr>
            <a:r>
              <a:rPr lang="en-US" sz="2800">
                <a:solidFill>
                  <a:srgbClr val="EA6F08"/>
                </a:solidFill>
                <a:latin typeface="Lato"/>
                <a:ea typeface="Lato"/>
                <a:cs typeface="Lato"/>
                <a:sym typeface="Lato"/>
              </a:rPr>
              <a:t>Performed Using Excel Language</a:t>
            </a:r>
            <a:endParaRPr sz="2800">
              <a:solidFill>
                <a:srgbClr val="EA6F08"/>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grpSp>
        <p:nvGrpSpPr>
          <p:cNvPr id="109" name="Google Shape;109;p3"/>
          <p:cNvGrpSpPr/>
          <p:nvPr/>
        </p:nvGrpSpPr>
        <p:grpSpPr>
          <a:xfrm>
            <a:off x="2057400" y="1679083"/>
            <a:ext cx="5511784" cy="2049654"/>
            <a:chOff x="0" y="-28575"/>
            <a:chExt cx="7349046" cy="2732872"/>
          </a:xfrm>
        </p:grpSpPr>
        <p:sp>
          <p:nvSpPr>
            <p:cNvPr id="110" name="Google Shape;110;p3"/>
            <p:cNvSpPr txBox="1"/>
            <p:nvPr/>
          </p:nvSpPr>
          <p:spPr>
            <a:xfrm>
              <a:off x="0" y="884810"/>
              <a:ext cx="7349046" cy="1819487"/>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2799"/>
                <a:buFont typeface="Arial"/>
                <a:buNone/>
              </a:pPr>
              <a:r>
                <a:rPr b="0" i="0" lang="en-US" sz="2799" u="none" cap="none" strike="noStrike">
                  <a:solidFill>
                    <a:srgbClr val="000000"/>
                  </a:solidFill>
                  <a:latin typeface="Barlow Light"/>
                  <a:ea typeface="Barlow Light"/>
                  <a:cs typeface="Barlow Light"/>
                  <a:sym typeface="Barlow Light"/>
                </a:rPr>
                <a:t>Compare Miraculon-B response rates to the control group.</a:t>
              </a:r>
              <a:endParaRPr b="0" i="0" sz="1400" u="none" cap="none" strike="noStrike">
                <a:solidFill>
                  <a:srgbClr val="000000"/>
                </a:solidFill>
                <a:latin typeface="Arial"/>
                <a:ea typeface="Arial"/>
                <a:cs typeface="Arial"/>
                <a:sym typeface="Arial"/>
              </a:endParaRPr>
            </a:p>
            <a:p>
              <a:pPr indent="0" lvl="0" marL="0" marR="0" rtl="0" algn="l">
                <a:lnSpc>
                  <a:spcPct val="130046"/>
                </a:lnSpc>
                <a:spcBef>
                  <a:spcPts val="0"/>
                </a:spcBef>
                <a:spcAft>
                  <a:spcPts val="0"/>
                </a:spcAft>
                <a:buClr>
                  <a:srgbClr val="000000"/>
                </a:buClr>
                <a:buSzPts val="2799"/>
                <a:buFont typeface="Arial"/>
                <a:buNone/>
              </a:pPr>
              <a:r>
                <a:t/>
              </a:r>
              <a:endParaRPr b="0" i="0" sz="2799" u="none" cap="none" strike="noStrike">
                <a:solidFill>
                  <a:srgbClr val="000000"/>
                </a:solidFill>
                <a:latin typeface="Barlow Light"/>
                <a:ea typeface="Barlow Light"/>
                <a:cs typeface="Barlow Light"/>
                <a:sym typeface="Barlow Light"/>
              </a:endParaRPr>
            </a:p>
          </p:txBody>
        </p:sp>
        <p:sp>
          <p:nvSpPr>
            <p:cNvPr id="111" name="Google Shape;111;p3"/>
            <p:cNvSpPr txBox="1"/>
            <p:nvPr/>
          </p:nvSpPr>
          <p:spPr>
            <a:xfrm>
              <a:off x="0" y="-28575"/>
              <a:ext cx="7349046" cy="67288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i="0" lang="en-US" sz="3200" u="none" cap="none" strike="noStrike">
                  <a:solidFill>
                    <a:srgbClr val="000000"/>
                  </a:solidFill>
                  <a:latin typeface="Barlow Medium"/>
                  <a:ea typeface="Barlow Medium"/>
                  <a:cs typeface="Barlow Medium"/>
                  <a:sym typeface="Barlow Medium"/>
                </a:rPr>
                <a:t>Evaluate Effectiveness</a:t>
              </a:r>
              <a:endParaRPr b="0" i="0" sz="1400" u="none" cap="none" strike="noStrike">
                <a:solidFill>
                  <a:srgbClr val="000000"/>
                </a:solidFill>
                <a:latin typeface="Arial"/>
                <a:ea typeface="Arial"/>
                <a:cs typeface="Arial"/>
                <a:sym typeface="Arial"/>
              </a:endParaRPr>
            </a:p>
          </p:txBody>
        </p:sp>
      </p:grpSp>
      <p:grpSp>
        <p:nvGrpSpPr>
          <p:cNvPr id="112" name="Google Shape;112;p3"/>
          <p:cNvGrpSpPr/>
          <p:nvPr/>
        </p:nvGrpSpPr>
        <p:grpSpPr>
          <a:xfrm>
            <a:off x="4867329" y="3799204"/>
            <a:ext cx="5212350" cy="1683532"/>
            <a:chOff x="0" y="-28575"/>
            <a:chExt cx="6949800" cy="2244710"/>
          </a:xfrm>
        </p:grpSpPr>
        <p:sp>
          <p:nvSpPr>
            <p:cNvPr id="113" name="Google Shape;113;p3"/>
            <p:cNvSpPr txBox="1"/>
            <p:nvPr/>
          </p:nvSpPr>
          <p:spPr>
            <a:xfrm>
              <a:off x="0" y="894335"/>
              <a:ext cx="6949800" cy="132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800"/>
                <a:buFont typeface="Arial"/>
                <a:buNone/>
              </a:pPr>
              <a:r>
                <a:rPr b="0" i="0" lang="en-US" sz="2800" u="none" cap="none" strike="noStrike">
                  <a:solidFill>
                    <a:srgbClr val="000000"/>
                  </a:solidFill>
                  <a:latin typeface="Barlow Light"/>
                  <a:ea typeface="Barlow Light"/>
                  <a:cs typeface="Barlow Light"/>
                  <a:sym typeface="Barlow Light"/>
                </a:rPr>
                <a:t>Analyse how age, BMI, and protein levels impact treatment response.</a:t>
              </a:r>
              <a:endParaRPr b="0" i="0" sz="1400" u="none" cap="none" strike="noStrike">
                <a:solidFill>
                  <a:srgbClr val="000000"/>
                </a:solidFill>
                <a:latin typeface="Arial"/>
                <a:ea typeface="Arial"/>
                <a:cs typeface="Arial"/>
                <a:sym typeface="Arial"/>
              </a:endParaRPr>
            </a:p>
          </p:txBody>
        </p:sp>
        <p:sp>
          <p:nvSpPr>
            <p:cNvPr id="114" name="Google Shape;114;p3"/>
            <p:cNvSpPr txBox="1"/>
            <p:nvPr/>
          </p:nvSpPr>
          <p:spPr>
            <a:xfrm>
              <a:off x="0" y="-28575"/>
              <a:ext cx="6949800" cy="656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i="0" lang="en-US" sz="3200" u="none" cap="none" strike="noStrike">
                  <a:solidFill>
                    <a:srgbClr val="000000"/>
                  </a:solidFill>
                  <a:latin typeface="Barlow Medium"/>
                  <a:ea typeface="Barlow Medium"/>
                  <a:cs typeface="Barlow Medium"/>
                  <a:sym typeface="Barlow Medium"/>
                </a:rPr>
                <a:t>Identify </a:t>
              </a:r>
              <a:r>
                <a:rPr b="1" lang="en-US" sz="3200">
                  <a:latin typeface="Barlow Medium"/>
                  <a:ea typeface="Barlow Medium"/>
                  <a:cs typeface="Barlow Medium"/>
                  <a:sym typeface="Barlow Medium"/>
                </a:rPr>
                <a:t>Patient Subgroups</a:t>
              </a:r>
              <a:endParaRPr b="0" i="0" sz="1400" u="none" cap="none" strike="noStrike">
                <a:solidFill>
                  <a:srgbClr val="000000"/>
                </a:solidFill>
                <a:latin typeface="Arial"/>
                <a:ea typeface="Arial"/>
                <a:cs typeface="Arial"/>
                <a:sym typeface="Arial"/>
              </a:endParaRPr>
            </a:p>
          </p:txBody>
        </p:sp>
      </p:grpSp>
      <p:grpSp>
        <p:nvGrpSpPr>
          <p:cNvPr id="115" name="Google Shape;115;p3"/>
          <p:cNvGrpSpPr/>
          <p:nvPr/>
        </p:nvGrpSpPr>
        <p:grpSpPr>
          <a:xfrm>
            <a:off x="11908012" y="7410167"/>
            <a:ext cx="5574825" cy="1483882"/>
            <a:chOff x="0" y="237625"/>
            <a:chExt cx="7433100" cy="1978510"/>
          </a:xfrm>
        </p:grpSpPr>
        <p:sp>
          <p:nvSpPr>
            <p:cNvPr id="116" name="Google Shape;116;p3"/>
            <p:cNvSpPr txBox="1"/>
            <p:nvPr/>
          </p:nvSpPr>
          <p:spPr>
            <a:xfrm>
              <a:off x="0" y="894335"/>
              <a:ext cx="7433100" cy="132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800"/>
                <a:buFont typeface="Arial"/>
                <a:buNone/>
              </a:pPr>
              <a:r>
                <a:rPr lang="en-US" sz="2800">
                  <a:latin typeface="Barlow Light"/>
                  <a:ea typeface="Barlow Light"/>
                  <a:cs typeface="Barlow Light"/>
                  <a:sym typeface="Barlow Light"/>
                </a:rPr>
                <a:t>Use data analysis and charts to identify important clinical insights. </a:t>
              </a:r>
              <a:endParaRPr b="0" i="0" sz="1400" u="none" cap="none" strike="noStrike">
                <a:solidFill>
                  <a:srgbClr val="000000"/>
                </a:solidFill>
                <a:latin typeface="Arial"/>
                <a:ea typeface="Arial"/>
                <a:cs typeface="Arial"/>
                <a:sym typeface="Arial"/>
              </a:endParaRPr>
            </a:p>
          </p:txBody>
        </p:sp>
        <p:sp>
          <p:nvSpPr>
            <p:cNvPr id="117" name="Google Shape;117;p3"/>
            <p:cNvSpPr txBox="1"/>
            <p:nvPr/>
          </p:nvSpPr>
          <p:spPr>
            <a:xfrm>
              <a:off x="0" y="237625"/>
              <a:ext cx="7433100" cy="656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lang="en-US" sz="3200">
                  <a:latin typeface="Barlow Medium"/>
                  <a:ea typeface="Barlow Medium"/>
                  <a:cs typeface="Barlow Medium"/>
                  <a:sym typeface="Barlow Medium"/>
                </a:rPr>
                <a:t>Support Decision-Making </a:t>
              </a:r>
              <a:endParaRPr b="0" i="0" sz="1400" u="none" cap="none" strike="noStrike">
                <a:solidFill>
                  <a:srgbClr val="000000"/>
                </a:solidFill>
                <a:latin typeface="Arial"/>
                <a:ea typeface="Arial"/>
                <a:cs typeface="Arial"/>
                <a:sym typeface="Arial"/>
              </a:endParaRPr>
            </a:p>
          </p:txBody>
        </p:sp>
      </p:grpSp>
      <p:sp>
        <p:nvSpPr>
          <p:cNvPr id="118" name="Google Shape;118;p3"/>
          <p:cNvSpPr txBox="1"/>
          <p:nvPr/>
        </p:nvSpPr>
        <p:spPr>
          <a:xfrm>
            <a:off x="10353884" y="1019175"/>
            <a:ext cx="6905416" cy="1462087"/>
          </a:xfrm>
          <a:prstGeom prst="rect">
            <a:avLst/>
          </a:prstGeom>
          <a:noFill/>
          <a:ln>
            <a:noFill/>
          </a:ln>
        </p:spPr>
        <p:txBody>
          <a:bodyPr anchorCtr="0" anchor="t" bIns="0" lIns="0" spcFirstLastPara="1" rIns="0" wrap="square" tIns="0">
            <a:spAutoFit/>
          </a:bodyPr>
          <a:lstStyle/>
          <a:p>
            <a:pPr indent="0" lvl="0" marL="0" marR="0" rtl="0" algn="r">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Objectives</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11238326" y="7495784"/>
            <a:ext cx="455517" cy="344536"/>
          </a:xfrm>
          <a:custGeom>
            <a:rect b="b" l="l" r="r" t="t"/>
            <a:pathLst>
              <a:path extrusionOk="0" h="344536" w="455517">
                <a:moveTo>
                  <a:pt x="0" y="0"/>
                </a:moveTo>
                <a:lnTo>
                  <a:pt x="455517" y="0"/>
                </a:lnTo>
                <a:lnTo>
                  <a:pt x="455517" y="344536"/>
                </a:lnTo>
                <a:lnTo>
                  <a:pt x="0" y="344536"/>
                </a:lnTo>
                <a:lnTo>
                  <a:pt x="0" y="0"/>
                </a:lnTo>
                <a:close/>
              </a:path>
            </a:pathLst>
          </a:custGeom>
          <a:blipFill rotWithShape="1">
            <a:blip r:embed="rId3">
              <a:alphaModFix/>
            </a:blip>
            <a:stretch>
              <a:fillRect b="0" l="0" r="0" t="0"/>
            </a:stretch>
          </a:blipFill>
          <a:ln>
            <a:noFill/>
          </a:ln>
        </p:spPr>
      </p:sp>
      <p:sp>
        <p:nvSpPr>
          <p:cNvPr id="120" name="Google Shape;120;p3"/>
          <p:cNvSpPr/>
          <p:nvPr/>
        </p:nvSpPr>
        <p:spPr>
          <a:xfrm>
            <a:off x="3864687" y="3799210"/>
            <a:ext cx="707310" cy="501547"/>
          </a:xfrm>
          <a:custGeom>
            <a:rect b="b" l="l" r="r" t="t"/>
            <a:pathLst>
              <a:path extrusionOk="0" h="501547" w="707310">
                <a:moveTo>
                  <a:pt x="0" y="0"/>
                </a:moveTo>
                <a:lnTo>
                  <a:pt x="707309" y="0"/>
                </a:lnTo>
                <a:lnTo>
                  <a:pt x="707309" y="501546"/>
                </a:lnTo>
                <a:lnTo>
                  <a:pt x="0" y="501546"/>
                </a:lnTo>
                <a:lnTo>
                  <a:pt x="0" y="0"/>
                </a:lnTo>
                <a:close/>
              </a:path>
            </a:pathLst>
          </a:custGeom>
          <a:blipFill rotWithShape="1">
            <a:blip r:embed="rId4">
              <a:alphaModFix/>
            </a:blip>
            <a:stretch>
              <a:fillRect b="0" l="0" r="0" t="0"/>
            </a:stretch>
          </a:blipFill>
          <a:ln>
            <a:noFill/>
          </a:ln>
        </p:spPr>
      </p:sp>
      <p:sp>
        <p:nvSpPr>
          <p:cNvPr id="121" name="Google Shape;121;p3"/>
          <p:cNvSpPr/>
          <p:nvPr/>
        </p:nvSpPr>
        <p:spPr>
          <a:xfrm>
            <a:off x="1438410" y="1700514"/>
            <a:ext cx="441519" cy="564734"/>
          </a:xfrm>
          <a:custGeom>
            <a:rect b="b" l="l" r="r" t="t"/>
            <a:pathLst>
              <a:path extrusionOk="0" h="564734" w="441519">
                <a:moveTo>
                  <a:pt x="0" y="0"/>
                </a:moveTo>
                <a:lnTo>
                  <a:pt x="441519" y="0"/>
                </a:lnTo>
                <a:lnTo>
                  <a:pt x="441519" y="564734"/>
                </a:lnTo>
                <a:lnTo>
                  <a:pt x="0" y="564734"/>
                </a:lnTo>
                <a:lnTo>
                  <a:pt x="0" y="0"/>
                </a:lnTo>
                <a:close/>
              </a:path>
            </a:pathLst>
          </a:custGeom>
          <a:blipFill rotWithShape="1">
            <a:blip r:embed="rId5">
              <a:alphaModFix/>
            </a:blip>
            <a:stretch>
              <a:fillRect b="0" l="0" r="0" t="0"/>
            </a:stretch>
          </a:blipFill>
          <a:ln>
            <a:noFill/>
          </a:ln>
        </p:spPr>
      </p:sp>
      <p:grpSp>
        <p:nvGrpSpPr>
          <p:cNvPr id="122" name="Google Shape;122;p3"/>
          <p:cNvGrpSpPr/>
          <p:nvPr/>
        </p:nvGrpSpPr>
        <p:grpSpPr>
          <a:xfrm>
            <a:off x="7459073" y="5729175"/>
            <a:ext cx="7846875" cy="1483875"/>
            <a:chOff x="-8" y="237636"/>
            <a:chExt cx="10462500" cy="1978500"/>
          </a:xfrm>
        </p:grpSpPr>
        <p:sp>
          <p:nvSpPr>
            <p:cNvPr id="123" name="Google Shape;123;p3"/>
            <p:cNvSpPr txBox="1"/>
            <p:nvPr/>
          </p:nvSpPr>
          <p:spPr>
            <a:xfrm>
              <a:off x="-6" y="894336"/>
              <a:ext cx="9309000" cy="132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800"/>
                <a:buFont typeface="Arial"/>
                <a:buNone/>
              </a:pPr>
              <a:r>
                <a:rPr lang="en-US" sz="2800">
                  <a:latin typeface="Barlow Light"/>
                  <a:ea typeface="Barlow Light"/>
                  <a:cs typeface="Barlow Light"/>
                  <a:sym typeface="Barlow Light"/>
                </a:rPr>
                <a:t>Investigate whether protein concentration can help predict patient response. </a:t>
              </a:r>
              <a:endParaRPr b="0" i="0" sz="1400" u="none" cap="none" strike="noStrike">
                <a:solidFill>
                  <a:srgbClr val="000000"/>
                </a:solidFill>
                <a:latin typeface="Arial"/>
                <a:ea typeface="Arial"/>
                <a:cs typeface="Arial"/>
                <a:sym typeface="Arial"/>
              </a:endParaRPr>
            </a:p>
          </p:txBody>
        </p:sp>
        <p:sp>
          <p:nvSpPr>
            <p:cNvPr id="124" name="Google Shape;124;p3"/>
            <p:cNvSpPr txBox="1"/>
            <p:nvPr/>
          </p:nvSpPr>
          <p:spPr>
            <a:xfrm>
              <a:off x="-8" y="237636"/>
              <a:ext cx="10462500" cy="656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lang="en-US" sz="3200">
                  <a:latin typeface="Barlow Medium"/>
                  <a:ea typeface="Barlow Medium"/>
                  <a:cs typeface="Barlow Medium"/>
                  <a:sym typeface="Barlow Medium"/>
                </a:rPr>
                <a:t>Explore Predictive Biomarkers </a:t>
              </a:r>
              <a:endParaRPr b="0" i="0" sz="1400" u="none" cap="none" strike="noStrike">
                <a:solidFill>
                  <a:srgbClr val="000000"/>
                </a:solidFill>
                <a:latin typeface="Arial"/>
                <a:ea typeface="Arial"/>
                <a:cs typeface="Arial"/>
                <a:sym typeface="Arial"/>
              </a:endParaRPr>
            </a:p>
          </p:txBody>
        </p:sp>
      </p:grpSp>
      <p:pic>
        <p:nvPicPr>
          <p:cNvPr descr="File:DNA Sequence Flat Icon Vector.svg - Wikimedia Commons" id="125" name="Google Shape;125;p3"/>
          <p:cNvPicPr preferRelativeResize="0"/>
          <p:nvPr/>
        </p:nvPicPr>
        <p:blipFill>
          <a:blip r:embed="rId6">
            <a:alphaModFix/>
          </a:blip>
          <a:stretch>
            <a:fillRect/>
          </a:stretch>
        </p:blipFill>
        <p:spPr>
          <a:xfrm>
            <a:off x="6814425" y="5729175"/>
            <a:ext cx="564726" cy="5647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E0E0"/>
        </a:solidFill>
      </p:bgPr>
    </p:bg>
    <p:spTree>
      <p:nvGrpSpPr>
        <p:cNvPr id="133" name="Shape 133"/>
        <p:cNvGrpSpPr/>
        <p:nvPr/>
      </p:nvGrpSpPr>
      <p:grpSpPr>
        <a:xfrm>
          <a:off x="0" y="0"/>
          <a:ext cx="0" cy="0"/>
          <a:chOff x="0" y="0"/>
          <a:chExt cx="0" cy="0"/>
        </a:xfrm>
      </p:grpSpPr>
      <p:sp>
        <p:nvSpPr>
          <p:cNvPr id="134" name="Google Shape;134;p4"/>
          <p:cNvSpPr/>
          <p:nvPr/>
        </p:nvSpPr>
        <p:spPr>
          <a:xfrm>
            <a:off x="8053500" y="2909925"/>
            <a:ext cx="10234500" cy="7377000"/>
          </a:xfrm>
          <a:prstGeom prst="rect">
            <a:avLst/>
          </a:prstGeom>
          <a:solidFill>
            <a:srgbClr val="F7C6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4"/>
          <p:cNvSpPr/>
          <p:nvPr/>
        </p:nvSpPr>
        <p:spPr>
          <a:xfrm>
            <a:off x="0" y="2909925"/>
            <a:ext cx="8053500" cy="73773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4"/>
          <p:cNvSpPr txBox="1"/>
          <p:nvPr/>
        </p:nvSpPr>
        <p:spPr>
          <a:xfrm>
            <a:off x="8289375" y="3067225"/>
            <a:ext cx="9531900" cy="7043700"/>
          </a:xfrm>
          <a:prstGeom prst="rect">
            <a:avLst/>
          </a:prstGeom>
          <a:noFill/>
          <a:ln>
            <a:noFill/>
          </a:ln>
        </p:spPr>
        <p:txBody>
          <a:bodyPr anchorCtr="0" anchor="t" bIns="0" lIns="0" spcFirstLastPara="1" rIns="0" wrap="square" tIns="0">
            <a:spAutoFit/>
          </a:bodyPr>
          <a:lstStyle/>
          <a:p>
            <a:pPr indent="-257810" lvl="1" marL="604519" marR="0" rtl="0" algn="l">
              <a:lnSpc>
                <a:spcPct val="130009"/>
              </a:lnSpc>
              <a:spcBef>
                <a:spcPts val="0"/>
              </a:spcBef>
              <a:spcAft>
                <a:spcPts val="0"/>
              </a:spcAft>
              <a:buClr>
                <a:srgbClr val="EA6F08"/>
              </a:buClr>
              <a:buSzPts val="2099"/>
              <a:buFont typeface="Arial"/>
              <a:buChar char="•"/>
            </a:pPr>
            <a:r>
              <a:rPr b="1" lang="en-US" sz="2099">
                <a:solidFill>
                  <a:srgbClr val="EA6F08"/>
                </a:solidFill>
                <a:latin typeface="Barlow"/>
                <a:ea typeface="Barlow"/>
                <a:cs typeface="Barlow"/>
                <a:sym typeface="Barlow"/>
              </a:rPr>
              <a:t>Import Datasets</a:t>
            </a:r>
            <a:endParaRPr b="1"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Font typeface="Barlow"/>
              <a:buChar char="⚬"/>
            </a:pPr>
            <a:r>
              <a:rPr lang="en-US" sz="2099">
                <a:solidFill>
                  <a:srgbClr val="EA6F08"/>
                </a:solidFill>
                <a:latin typeface="Barlow"/>
                <a:ea typeface="Barlow"/>
                <a:cs typeface="Barlow"/>
                <a:sym typeface="Barlow"/>
              </a:rPr>
              <a:t>Imported the clinical study and protein concentration datasets into Google Sheets for analysis.</a:t>
            </a:r>
            <a:endParaRPr sz="2099">
              <a:solidFill>
                <a:srgbClr val="EA6F08"/>
              </a:solidFill>
              <a:latin typeface="Barlow"/>
              <a:ea typeface="Barlow"/>
              <a:cs typeface="Barlow"/>
              <a:sym typeface="Barlow"/>
            </a:endParaRPr>
          </a:p>
          <a:p>
            <a:pPr indent="-361886" lvl="1" marL="914400" marR="0" rtl="0" algn="l">
              <a:lnSpc>
                <a:spcPct val="130009"/>
              </a:lnSpc>
              <a:spcBef>
                <a:spcPts val="0"/>
              </a:spcBef>
              <a:spcAft>
                <a:spcPts val="0"/>
              </a:spcAft>
              <a:buClr>
                <a:srgbClr val="EA6F08"/>
              </a:buClr>
              <a:buSzPts val="2099"/>
              <a:buFont typeface="Barlow"/>
              <a:buChar char="•"/>
            </a:pPr>
            <a:r>
              <a:rPr b="1" lang="en-US" sz="2099">
                <a:solidFill>
                  <a:srgbClr val="EA6F08"/>
                </a:solidFill>
                <a:latin typeface="Barlow"/>
                <a:ea typeface="Barlow"/>
                <a:cs typeface="Barlow"/>
                <a:sym typeface="Barlow"/>
              </a:rPr>
              <a:t>Remove Duplicate Records</a:t>
            </a:r>
            <a:endParaRPr b="1"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Font typeface="Barlow"/>
              <a:buChar char="⚬"/>
            </a:pPr>
            <a:r>
              <a:rPr lang="en-US" sz="2099">
                <a:solidFill>
                  <a:srgbClr val="EA6F08"/>
                </a:solidFill>
                <a:latin typeface="Barlow"/>
                <a:ea typeface="Barlow"/>
                <a:cs typeface="Barlow"/>
                <a:sym typeface="Barlow"/>
              </a:rPr>
              <a:t>Removed duplicate patient entries to improve data accuracy and consistency</a:t>
            </a:r>
            <a:endParaRPr sz="2099">
              <a:solidFill>
                <a:srgbClr val="EA6F08"/>
              </a:solidFill>
              <a:latin typeface="Barlow"/>
              <a:ea typeface="Barlow"/>
              <a:cs typeface="Barlow"/>
              <a:sym typeface="Barlow"/>
            </a:endParaRPr>
          </a:p>
          <a:p>
            <a:pPr indent="-361886" lvl="1" marL="914400" marR="0" rtl="0" algn="l">
              <a:lnSpc>
                <a:spcPct val="130009"/>
              </a:lnSpc>
              <a:spcBef>
                <a:spcPts val="0"/>
              </a:spcBef>
              <a:spcAft>
                <a:spcPts val="0"/>
              </a:spcAft>
              <a:buClr>
                <a:srgbClr val="EA6F08"/>
              </a:buClr>
              <a:buSzPts val="2099"/>
              <a:buFont typeface="Barlow"/>
              <a:buChar char="•"/>
            </a:pPr>
            <a:r>
              <a:rPr b="1" lang="en-US" sz="2099">
                <a:solidFill>
                  <a:srgbClr val="EA6F08"/>
                </a:solidFill>
                <a:latin typeface="Barlow"/>
                <a:ea typeface="Barlow"/>
                <a:cs typeface="Barlow"/>
                <a:sym typeface="Barlow"/>
              </a:rPr>
              <a:t>Exclude Under-18 Patients</a:t>
            </a:r>
            <a:endParaRPr b="1"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Font typeface="Barlow"/>
              <a:buChar char="⚬"/>
            </a:pPr>
            <a:r>
              <a:rPr lang="en-US" sz="2099">
                <a:solidFill>
                  <a:srgbClr val="EA6F08"/>
                </a:solidFill>
                <a:latin typeface="Barlow"/>
                <a:ea typeface="Barlow"/>
                <a:cs typeface="Barlow"/>
                <a:sym typeface="Barlow"/>
              </a:rPr>
              <a:t>Filtered OUt paediatric patients to focus only on adult trial participants.</a:t>
            </a:r>
            <a:endParaRPr sz="2099">
              <a:solidFill>
                <a:srgbClr val="EA6F08"/>
              </a:solidFill>
              <a:latin typeface="Barlow"/>
              <a:ea typeface="Barlow"/>
              <a:cs typeface="Barlow"/>
              <a:sym typeface="Barlow"/>
            </a:endParaRPr>
          </a:p>
          <a:p>
            <a:pPr indent="-361886" lvl="1" marL="914400" marR="0" rtl="0" algn="l">
              <a:lnSpc>
                <a:spcPct val="130009"/>
              </a:lnSpc>
              <a:spcBef>
                <a:spcPts val="0"/>
              </a:spcBef>
              <a:spcAft>
                <a:spcPts val="0"/>
              </a:spcAft>
              <a:buClr>
                <a:srgbClr val="EA6F08"/>
              </a:buClr>
              <a:buSzPts val="2099"/>
              <a:buFont typeface="Barlow"/>
              <a:buChar char="•"/>
            </a:pPr>
            <a:r>
              <a:rPr b="1" lang="en-US" sz="2099">
                <a:solidFill>
                  <a:srgbClr val="EA6F08"/>
                </a:solidFill>
                <a:latin typeface="Barlow"/>
                <a:ea typeface="Barlow"/>
                <a:cs typeface="Barlow"/>
                <a:sym typeface="Barlow"/>
              </a:rPr>
              <a:t>Handle Missing Values</a:t>
            </a:r>
            <a:endParaRPr b="1"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Font typeface="Barlow"/>
              <a:buChar char="⚬"/>
            </a:pPr>
            <a:r>
              <a:rPr lang="en-US" sz="2099">
                <a:solidFill>
                  <a:srgbClr val="EA6F08"/>
                </a:solidFill>
                <a:latin typeface="Barlow"/>
                <a:ea typeface="Barlow"/>
                <a:cs typeface="Barlow"/>
                <a:sym typeface="Barlow"/>
              </a:rPr>
              <a:t>Removed rows which contained missing or incomplete data where necessary.</a:t>
            </a:r>
            <a:endParaRPr sz="2099">
              <a:solidFill>
                <a:srgbClr val="EA6F08"/>
              </a:solidFill>
              <a:latin typeface="Barlow"/>
              <a:ea typeface="Barlow"/>
              <a:cs typeface="Barlow"/>
              <a:sym typeface="Barlow"/>
            </a:endParaRPr>
          </a:p>
          <a:p>
            <a:pPr indent="-361886" lvl="1" marL="914400" marR="0" rtl="0" algn="l">
              <a:lnSpc>
                <a:spcPct val="130009"/>
              </a:lnSpc>
              <a:spcBef>
                <a:spcPts val="0"/>
              </a:spcBef>
              <a:spcAft>
                <a:spcPts val="0"/>
              </a:spcAft>
              <a:buClr>
                <a:srgbClr val="EA6F08"/>
              </a:buClr>
              <a:buSzPts val="2099"/>
              <a:buFont typeface="Barlow"/>
              <a:buChar char="•"/>
            </a:pPr>
            <a:r>
              <a:rPr b="1" lang="en-US" sz="2099">
                <a:solidFill>
                  <a:srgbClr val="EA6F08"/>
                </a:solidFill>
                <a:latin typeface="Barlow"/>
                <a:ea typeface="Barlow"/>
                <a:cs typeface="Barlow"/>
                <a:sym typeface="Barlow"/>
              </a:rPr>
              <a:t>Calculate BMI</a:t>
            </a:r>
            <a:endParaRPr b="1"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Font typeface="Barlow"/>
              <a:buChar char="⚬"/>
            </a:pPr>
            <a:r>
              <a:rPr lang="en-US" sz="2099">
                <a:solidFill>
                  <a:srgbClr val="EA6F08"/>
                </a:solidFill>
                <a:latin typeface="Barlow"/>
                <a:ea typeface="Barlow"/>
                <a:cs typeface="Barlow"/>
                <a:sym typeface="Barlow"/>
              </a:rPr>
              <a:t>Calculated BMI using patient height and weight data.</a:t>
            </a:r>
            <a:endParaRPr sz="2099">
              <a:solidFill>
                <a:srgbClr val="EA6F08"/>
              </a:solidFill>
              <a:latin typeface="Barlow"/>
              <a:ea typeface="Barlow"/>
              <a:cs typeface="Barlow"/>
              <a:sym typeface="Barlow"/>
            </a:endParaRPr>
          </a:p>
          <a:p>
            <a:pPr indent="-361886" lvl="1" marL="914400" marR="0" rtl="0" algn="l">
              <a:lnSpc>
                <a:spcPct val="130009"/>
              </a:lnSpc>
              <a:spcBef>
                <a:spcPts val="0"/>
              </a:spcBef>
              <a:spcAft>
                <a:spcPts val="0"/>
              </a:spcAft>
              <a:buClr>
                <a:srgbClr val="EA6F08"/>
              </a:buClr>
              <a:buSzPts val="2099"/>
              <a:buFont typeface="Barlow"/>
              <a:buChar char="•"/>
            </a:pPr>
            <a:r>
              <a:rPr b="1" lang="en-US" sz="2099">
                <a:solidFill>
                  <a:srgbClr val="EA6F08"/>
                </a:solidFill>
                <a:latin typeface="Barlow"/>
                <a:ea typeface="Barlow"/>
                <a:cs typeface="Barlow"/>
                <a:sym typeface="Barlow"/>
              </a:rPr>
              <a:t>Merge Protein Data</a:t>
            </a:r>
            <a:endParaRPr b="1"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Font typeface="Barlow"/>
              <a:buChar char="⚬"/>
            </a:pPr>
            <a:r>
              <a:rPr lang="en-US" sz="2099">
                <a:solidFill>
                  <a:srgbClr val="EA6F08"/>
                </a:solidFill>
                <a:latin typeface="Barlow"/>
                <a:ea typeface="Barlow"/>
                <a:cs typeface="Barlow"/>
                <a:sym typeface="Barlow"/>
              </a:rPr>
              <a:t>Combined</a:t>
            </a:r>
            <a:r>
              <a:rPr lang="en-US" sz="2099">
                <a:solidFill>
                  <a:srgbClr val="EA6F08"/>
                </a:solidFill>
                <a:latin typeface="Barlow"/>
                <a:ea typeface="Barlow"/>
                <a:cs typeface="Barlow"/>
                <a:sym typeface="Barlow"/>
              </a:rPr>
              <a:t> protein concentration data with the clinical dataset using patient IDs. (Using XLOOKUP)</a:t>
            </a:r>
            <a:endParaRPr sz="2099">
              <a:solidFill>
                <a:srgbClr val="EA6F08"/>
              </a:solidFill>
              <a:latin typeface="Barlow"/>
              <a:ea typeface="Barlow"/>
              <a:cs typeface="Barlow"/>
              <a:sym typeface="Barlow"/>
            </a:endParaRPr>
          </a:p>
        </p:txBody>
      </p:sp>
      <p:sp>
        <p:nvSpPr>
          <p:cNvPr id="137" name="Google Shape;137;p4"/>
          <p:cNvSpPr txBox="1"/>
          <p:nvPr/>
        </p:nvSpPr>
        <p:spPr>
          <a:xfrm>
            <a:off x="1028700" y="813700"/>
            <a:ext cx="16352400" cy="1477800"/>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Clr>
                <a:srgbClr val="000000"/>
              </a:buClr>
              <a:buSzPts val="9600"/>
              <a:buFont typeface="Arial"/>
              <a:buNone/>
            </a:pPr>
            <a:r>
              <a:rPr b="1" lang="en-US" sz="9600">
                <a:solidFill>
                  <a:srgbClr val="EA6F08"/>
                </a:solidFill>
                <a:latin typeface="Barlow Medium"/>
                <a:ea typeface="Barlow Medium"/>
                <a:cs typeface="Barlow Medium"/>
                <a:sym typeface="Barlow Medium"/>
              </a:rPr>
              <a:t>Data Preparation &amp; Cleaning</a:t>
            </a:r>
            <a:endParaRPr b="0" i="0" sz="1400" u="none" cap="none" strike="noStrike">
              <a:solidFill>
                <a:srgbClr val="000000"/>
              </a:solidFill>
              <a:latin typeface="Arial"/>
              <a:ea typeface="Arial"/>
              <a:cs typeface="Arial"/>
              <a:sym typeface="Arial"/>
            </a:endParaRPr>
          </a:p>
        </p:txBody>
      </p:sp>
      <p:grpSp>
        <p:nvGrpSpPr>
          <p:cNvPr id="138" name="Google Shape;138;p4"/>
          <p:cNvGrpSpPr/>
          <p:nvPr/>
        </p:nvGrpSpPr>
        <p:grpSpPr>
          <a:xfrm>
            <a:off x="150851" y="3004300"/>
            <a:ext cx="3418200" cy="2081400"/>
            <a:chOff x="594488" y="1957150"/>
            <a:chExt cx="1709100" cy="1040700"/>
          </a:xfrm>
        </p:grpSpPr>
        <p:sp>
          <p:nvSpPr>
            <p:cNvPr id="139" name="Google Shape;139;p4"/>
            <p:cNvSpPr/>
            <p:nvPr/>
          </p:nvSpPr>
          <p:spPr>
            <a:xfrm>
              <a:off x="1151886" y="1957150"/>
              <a:ext cx="594300" cy="594300"/>
            </a:xfrm>
            <a:prstGeom prst="ellipse">
              <a:avLst/>
            </a:prstGeom>
            <a:noFill/>
            <a:ln cap="flat" cmpd="sng" w="76200">
              <a:solidFill>
                <a:srgbClr val="CCCCC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999999"/>
                </a:solidFill>
              </a:endParaRPr>
            </a:p>
          </p:txBody>
        </p:sp>
        <p:sp>
          <p:nvSpPr>
            <p:cNvPr id="140" name="Google Shape;140;p4"/>
            <p:cNvSpPr txBox="1"/>
            <p:nvPr/>
          </p:nvSpPr>
          <p:spPr>
            <a:xfrm>
              <a:off x="1230636" y="2046612"/>
              <a:ext cx="436800" cy="3210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3200"/>
                </a:spcAft>
                <a:buNone/>
              </a:pPr>
              <a:r>
                <a:rPr b="1" lang="en-US" sz="3000">
                  <a:solidFill>
                    <a:srgbClr val="999999"/>
                  </a:solidFill>
                  <a:latin typeface="Roboto"/>
                  <a:ea typeface="Roboto"/>
                  <a:cs typeface="Roboto"/>
                  <a:sym typeface="Roboto"/>
                </a:rPr>
                <a:t>1.</a:t>
              </a:r>
              <a:endParaRPr b="1" sz="3000">
                <a:solidFill>
                  <a:srgbClr val="999999"/>
                </a:solidFill>
                <a:latin typeface="Roboto"/>
                <a:ea typeface="Roboto"/>
                <a:cs typeface="Roboto"/>
                <a:sym typeface="Roboto"/>
              </a:endParaRPr>
            </a:p>
          </p:txBody>
        </p:sp>
        <p:sp>
          <p:nvSpPr>
            <p:cNvPr id="141" name="Google Shape;141;p4"/>
            <p:cNvSpPr txBox="1"/>
            <p:nvPr/>
          </p:nvSpPr>
          <p:spPr>
            <a:xfrm>
              <a:off x="594488" y="2551450"/>
              <a:ext cx="1709100" cy="446400"/>
            </a:xfrm>
            <a:prstGeom prst="rect">
              <a:avLst/>
            </a:prstGeom>
            <a:noFill/>
            <a:ln>
              <a:noFill/>
            </a:ln>
          </p:spPr>
          <p:txBody>
            <a:bodyPr anchorCtr="0" anchor="b" bIns="182850" lIns="182850" spcFirstLastPara="1" rIns="182850" wrap="square" tIns="182850">
              <a:noAutofit/>
            </a:bodyPr>
            <a:lstStyle/>
            <a:p>
              <a:pPr indent="0" lvl="0" marL="0" rtl="0" algn="ctr">
                <a:lnSpc>
                  <a:spcPct val="115000"/>
                </a:lnSpc>
                <a:spcBef>
                  <a:spcPts val="0"/>
                </a:spcBef>
                <a:spcAft>
                  <a:spcPts val="0"/>
                </a:spcAft>
                <a:buNone/>
              </a:pPr>
              <a:r>
                <a:rPr b="1" lang="en-US" sz="2000">
                  <a:solidFill>
                    <a:srgbClr val="999999"/>
                  </a:solidFill>
                  <a:latin typeface="Roboto"/>
                  <a:ea typeface="Roboto"/>
                  <a:cs typeface="Roboto"/>
                  <a:sym typeface="Roboto"/>
                </a:rPr>
                <a:t>Import Datasets</a:t>
              </a:r>
              <a:endParaRPr b="1" sz="2000">
                <a:solidFill>
                  <a:srgbClr val="999999"/>
                </a:solidFill>
                <a:latin typeface="Roboto"/>
                <a:ea typeface="Roboto"/>
                <a:cs typeface="Roboto"/>
                <a:sym typeface="Roboto"/>
              </a:endParaRPr>
            </a:p>
          </p:txBody>
        </p:sp>
      </p:grpSp>
      <p:sp>
        <p:nvSpPr>
          <p:cNvPr id="142" name="Google Shape;142;p4"/>
          <p:cNvSpPr/>
          <p:nvPr/>
        </p:nvSpPr>
        <p:spPr>
          <a:xfrm flipH="1" rot="-10129037">
            <a:off x="2795615" y="3924654"/>
            <a:ext cx="2649810" cy="80427"/>
          </a:xfrm>
          <a:prstGeom prst="roundRect">
            <a:avLst>
              <a:gd fmla="val 50000" name="adj"/>
            </a:avLst>
          </a:prstGeom>
          <a:solidFill>
            <a:srgbClr val="CCCCC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43" name="Google Shape;143;p4"/>
          <p:cNvSpPr/>
          <p:nvPr/>
        </p:nvSpPr>
        <p:spPr>
          <a:xfrm>
            <a:off x="5561720" y="3599725"/>
            <a:ext cx="1188600" cy="1188600"/>
          </a:xfrm>
          <a:prstGeom prst="ellipse">
            <a:avLst/>
          </a:prstGeom>
          <a:noFill/>
          <a:ln cap="flat" cmpd="sng" w="76200">
            <a:solidFill>
              <a:srgbClr val="FF990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FF9900"/>
              </a:solidFill>
            </a:endParaRPr>
          </a:p>
        </p:txBody>
      </p:sp>
      <p:sp>
        <p:nvSpPr>
          <p:cNvPr id="144" name="Google Shape;144;p4"/>
          <p:cNvSpPr txBox="1"/>
          <p:nvPr/>
        </p:nvSpPr>
        <p:spPr>
          <a:xfrm>
            <a:off x="4446926" y="4763600"/>
            <a:ext cx="3418200" cy="892800"/>
          </a:xfrm>
          <a:prstGeom prst="rect">
            <a:avLst/>
          </a:prstGeom>
          <a:noFill/>
          <a:ln>
            <a:noFill/>
          </a:ln>
        </p:spPr>
        <p:txBody>
          <a:bodyPr anchorCtr="0" anchor="b" bIns="182850" lIns="182850" spcFirstLastPara="1" rIns="182850" wrap="square" tIns="182850">
            <a:noAutofit/>
          </a:bodyPr>
          <a:lstStyle/>
          <a:p>
            <a:pPr indent="0" lvl="0" marL="0" rtl="0" algn="ctr">
              <a:lnSpc>
                <a:spcPct val="115000"/>
              </a:lnSpc>
              <a:spcBef>
                <a:spcPts val="0"/>
              </a:spcBef>
              <a:spcAft>
                <a:spcPts val="0"/>
              </a:spcAft>
              <a:buNone/>
            </a:pPr>
            <a:r>
              <a:rPr b="1" lang="en-US" sz="2000">
                <a:solidFill>
                  <a:srgbClr val="FF9900"/>
                </a:solidFill>
                <a:latin typeface="Roboto"/>
                <a:ea typeface="Roboto"/>
                <a:cs typeface="Roboto"/>
                <a:sym typeface="Roboto"/>
              </a:rPr>
              <a:t>Sit Remove Duplicate Records</a:t>
            </a:r>
            <a:endParaRPr b="1" sz="2000">
              <a:solidFill>
                <a:srgbClr val="FF9900"/>
              </a:solidFill>
              <a:latin typeface="Roboto"/>
              <a:ea typeface="Roboto"/>
              <a:cs typeface="Roboto"/>
              <a:sym typeface="Roboto"/>
            </a:endParaRPr>
          </a:p>
        </p:txBody>
      </p:sp>
      <p:sp>
        <p:nvSpPr>
          <p:cNvPr id="145" name="Google Shape;145;p4"/>
          <p:cNvSpPr txBox="1"/>
          <p:nvPr/>
        </p:nvSpPr>
        <p:spPr>
          <a:xfrm>
            <a:off x="5719220" y="3831599"/>
            <a:ext cx="873600" cy="6420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3200"/>
              </a:spcAft>
              <a:buNone/>
            </a:pPr>
            <a:r>
              <a:rPr b="1" lang="en-US" sz="3000">
                <a:solidFill>
                  <a:srgbClr val="FF9900"/>
                </a:solidFill>
                <a:latin typeface="Roboto"/>
                <a:ea typeface="Roboto"/>
                <a:cs typeface="Roboto"/>
                <a:sym typeface="Roboto"/>
              </a:rPr>
              <a:t>2.</a:t>
            </a:r>
            <a:endParaRPr b="1" sz="3000">
              <a:solidFill>
                <a:srgbClr val="FF9900"/>
              </a:solidFill>
              <a:latin typeface="Roboto"/>
              <a:ea typeface="Roboto"/>
              <a:cs typeface="Roboto"/>
              <a:sym typeface="Roboto"/>
            </a:endParaRPr>
          </a:p>
        </p:txBody>
      </p:sp>
      <p:sp>
        <p:nvSpPr>
          <p:cNvPr id="146" name="Google Shape;146;p4"/>
          <p:cNvSpPr/>
          <p:nvPr/>
        </p:nvSpPr>
        <p:spPr>
          <a:xfrm flipH="1" rot="9082658">
            <a:off x="2795676" y="5103370"/>
            <a:ext cx="2649704" cy="80280"/>
          </a:xfrm>
          <a:prstGeom prst="roundRect">
            <a:avLst>
              <a:gd fmla="val 50000" name="adj"/>
            </a:avLst>
          </a:prstGeom>
          <a:solidFill>
            <a:srgbClr val="FF9900"/>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nvGrpSpPr>
          <p:cNvPr id="147" name="Google Shape;147;p4"/>
          <p:cNvGrpSpPr/>
          <p:nvPr/>
        </p:nvGrpSpPr>
        <p:grpSpPr>
          <a:xfrm>
            <a:off x="1" y="5545275"/>
            <a:ext cx="3418200" cy="2300350"/>
            <a:chOff x="2699425" y="1957150"/>
            <a:chExt cx="1709100" cy="1150175"/>
          </a:xfrm>
        </p:grpSpPr>
        <p:sp>
          <p:nvSpPr>
            <p:cNvPr id="148" name="Google Shape;148;p4"/>
            <p:cNvSpPr/>
            <p:nvPr/>
          </p:nvSpPr>
          <p:spPr>
            <a:xfrm>
              <a:off x="3256823" y="1957150"/>
              <a:ext cx="594300" cy="594300"/>
            </a:xfrm>
            <a:prstGeom prst="ellipse">
              <a:avLst/>
            </a:prstGeom>
            <a:noFill/>
            <a:ln cap="flat" cmpd="sng" w="76200">
              <a:solidFill>
                <a:srgbClr val="CCCCC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999999"/>
                </a:solidFill>
              </a:endParaRPr>
            </a:p>
          </p:txBody>
        </p:sp>
        <p:sp>
          <p:nvSpPr>
            <p:cNvPr id="149" name="Google Shape;149;p4"/>
            <p:cNvSpPr txBox="1"/>
            <p:nvPr/>
          </p:nvSpPr>
          <p:spPr>
            <a:xfrm>
              <a:off x="2699425" y="2660925"/>
              <a:ext cx="1709100" cy="446400"/>
            </a:xfrm>
            <a:prstGeom prst="rect">
              <a:avLst/>
            </a:prstGeom>
            <a:noFill/>
            <a:ln>
              <a:noFill/>
            </a:ln>
          </p:spPr>
          <p:txBody>
            <a:bodyPr anchorCtr="0" anchor="b" bIns="182850" lIns="182850" spcFirstLastPara="1" rIns="182850" wrap="square" tIns="182850">
              <a:noAutofit/>
            </a:bodyPr>
            <a:lstStyle/>
            <a:p>
              <a:pPr indent="0" lvl="0" marL="0" rtl="0" algn="ctr">
                <a:lnSpc>
                  <a:spcPct val="115000"/>
                </a:lnSpc>
                <a:spcBef>
                  <a:spcPts val="0"/>
                </a:spcBef>
                <a:spcAft>
                  <a:spcPts val="0"/>
                </a:spcAft>
                <a:buNone/>
              </a:pPr>
              <a:r>
                <a:rPr b="1" lang="en-US" sz="2000">
                  <a:solidFill>
                    <a:srgbClr val="999999"/>
                  </a:solidFill>
                  <a:latin typeface="Roboto"/>
                  <a:ea typeface="Roboto"/>
                  <a:cs typeface="Roboto"/>
                  <a:sym typeface="Roboto"/>
                </a:rPr>
                <a:t>Exclude Under-18 </a:t>
              </a:r>
              <a:endParaRPr b="1" sz="2000">
                <a:solidFill>
                  <a:srgbClr val="999999"/>
                </a:solidFill>
                <a:latin typeface="Roboto"/>
                <a:ea typeface="Roboto"/>
                <a:cs typeface="Roboto"/>
                <a:sym typeface="Roboto"/>
              </a:endParaRPr>
            </a:p>
            <a:p>
              <a:pPr indent="0" lvl="0" marL="0" rtl="0" algn="ctr">
                <a:lnSpc>
                  <a:spcPct val="115000"/>
                </a:lnSpc>
                <a:spcBef>
                  <a:spcPts val="0"/>
                </a:spcBef>
                <a:spcAft>
                  <a:spcPts val="0"/>
                </a:spcAft>
                <a:buNone/>
              </a:pPr>
              <a:r>
                <a:rPr b="1" lang="en-US" sz="2000">
                  <a:solidFill>
                    <a:srgbClr val="999999"/>
                  </a:solidFill>
                  <a:latin typeface="Roboto"/>
                  <a:ea typeface="Roboto"/>
                  <a:cs typeface="Roboto"/>
                  <a:sym typeface="Roboto"/>
                </a:rPr>
                <a:t>Patients</a:t>
              </a:r>
              <a:endParaRPr b="1" sz="2000">
                <a:solidFill>
                  <a:srgbClr val="999999"/>
                </a:solidFill>
                <a:latin typeface="Roboto"/>
                <a:ea typeface="Roboto"/>
                <a:cs typeface="Roboto"/>
                <a:sym typeface="Roboto"/>
              </a:endParaRPr>
            </a:p>
          </p:txBody>
        </p:sp>
        <p:sp>
          <p:nvSpPr>
            <p:cNvPr id="150" name="Google Shape;150;p4"/>
            <p:cNvSpPr txBox="1"/>
            <p:nvPr/>
          </p:nvSpPr>
          <p:spPr>
            <a:xfrm>
              <a:off x="3335573" y="2033643"/>
              <a:ext cx="436800" cy="3210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3200"/>
                </a:spcAft>
                <a:buNone/>
              </a:pPr>
              <a:r>
                <a:rPr b="1" lang="en-US" sz="3000">
                  <a:solidFill>
                    <a:srgbClr val="999999"/>
                  </a:solidFill>
                  <a:latin typeface="Roboto"/>
                  <a:ea typeface="Roboto"/>
                  <a:cs typeface="Roboto"/>
                  <a:sym typeface="Roboto"/>
                </a:rPr>
                <a:t>3.</a:t>
              </a:r>
              <a:endParaRPr b="1" sz="3000">
                <a:solidFill>
                  <a:srgbClr val="999999"/>
                </a:solidFill>
                <a:latin typeface="Roboto"/>
                <a:ea typeface="Roboto"/>
                <a:cs typeface="Roboto"/>
                <a:sym typeface="Roboto"/>
              </a:endParaRPr>
            </a:p>
          </p:txBody>
        </p:sp>
      </p:grpSp>
      <p:sp>
        <p:nvSpPr>
          <p:cNvPr id="151" name="Google Shape;151;p4"/>
          <p:cNvSpPr/>
          <p:nvPr/>
        </p:nvSpPr>
        <p:spPr>
          <a:xfrm flipH="1" rot="-10129037">
            <a:off x="2795615" y="6483654"/>
            <a:ext cx="2649810" cy="80427"/>
          </a:xfrm>
          <a:prstGeom prst="roundRect">
            <a:avLst>
              <a:gd fmla="val 50000" name="adj"/>
            </a:avLst>
          </a:prstGeom>
          <a:solidFill>
            <a:srgbClr val="CCCCC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nvGrpSpPr>
          <p:cNvPr id="152" name="Google Shape;152;p4"/>
          <p:cNvGrpSpPr/>
          <p:nvPr/>
        </p:nvGrpSpPr>
        <p:grpSpPr>
          <a:xfrm>
            <a:off x="4446926" y="6158725"/>
            <a:ext cx="3418200" cy="2300350"/>
            <a:chOff x="2699425" y="1957150"/>
            <a:chExt cx="1709100" cy="1150175"/>
          </a:xfrm>
        </p:grpSpPr>
        <p:sp>
          <p:nvSpPr>
            <p:cNvPr id="153" name="Google Shape;153;p4"/>
            <p:cNvSpPr/>
            <p:nvPr/>
          </p:nvSpPr>
          <p:spPr>
            <a:xfrm>
              <a:off x="3256823" y="1957150"/>
              <a:ext cx="594300" cy="594300"/>
            </a:xfrm>
            <a:prstGeom prst="ellipse">
              <a:avLst/>
            </a:prstGeom>
            <a:noFill/>
            <a:ln cap="flat" cmpd="sng" w="76200">
              <a:solidFill>
                <a:srgbClr val="FF990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FF9900"/>
                </a:solidFill>
              </a:endParaRPr>
            </a:p>
          </p:txBody>
        </p:sp>
        <p:sp>
          <p:nvSpPr>
            <p:cNvPr id="154" name="Google Shape;154;p4"/>
            <p:cNvSpPr txBox="1"/>
            <p:nvPr/>
          </p:nvSpPr>
          <p:spPr>
            <a:xfrm>
              <a:off x="2699425" y="2660925"/>
              <a:ext cx="1709100" cy="446400"/>
            </a:xfrm>
            <a:prstGeom prst="rect">
              <a:avLst/>
            </a:prstGeom>
            <a:noFill/>
            <a:ln>
              <a:noFill/>
            </a:ln>
          </p:spPr>
          <p:txBody>
            <a:bodyPr anchorCtr="0" anchor="b" bIns="182850" lIns="182850" spcFirstLastPara="1" rIns="182850" wrap="square" tIns="182850">
              <a:noAutofit/>
            </a:bodyPr>
            <a:lstStyle/>
            <a:p>
              <a:pPr indent="0" lvl="0" marL="0" rtl="0" algn="ctr">
                <a:lnSpc>
                  <a:spcPct val="115000"/>
                </a:lnSpc>
                <a:spcBef>
                  <a:spcPts val="0"/>
                </a:spcBef>
                <a:spcAft>
                  <a:spcPts val="0"/>
                </a:spcAft>
                <a:buNone/>
              </a:pPr>
              <a:r>
                <a:rPr b="1" lang="en-US" sz="2000">
                  <a:solidFill>
                    <a:srgbClr val="FF9900"/>
                  </a:solidFill>
                  <a:latin typeface="Roboto"/>
                  <a:ea typeface="Roboto"/>
                  <a:cs typeface="Roboto"/>
                  <a:sym typeface="Roboto"/>
                </a:rPr>
                <a:t>Handle Missing Values</a:t>
              </a:r>
              <a:endParaRPr b="1" sz="2000">
                <a:solidFill>
                  <a:srgbClr val="FF9900"/>
                </a:solidFill>
                <a:latin typeface="Roboto"/>
                <a:ea typeface="Roboto"/>
                <a:cs typeface="Roboto"/>
                <a:sym typeface="Roboto"/>
              </a:endParaRPr>
            </a:p>
          </p:txBody>
        </p:sp>
        <p:sp>
          <p:nvSpPr>
            <p:cNvPr id="155" name="Google Shape;155;p4"/>
            <p:cNvSpPr txBox="1"/>
            <p:nvPr/>
          </p:nvSpPr>
          <p:spPr>
            <a:xfrm>
              <a:off x="3335573" y="2022956"/>
              <a:ext cx="436800" cy="3210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3200"/>
                </a:spcAft>
                <a:buNone/>
              </a:pPr>
              <a:r>
                <a:rPr b="1" lang="en-US" sz="3000">
                  <a:solidFill>
                    <a:srgbClr val="FF9900"/>
                  </a:solidFill>
                  <a:latin typeface="Roboto"/>
                  <a:ea typeface="Roboto"/>
                  <a:cs typeface="Roboto"/>
                  <a:sym typeface="Roboto"/>
                </a:rPr>
                <a:t>4</a:t>
              </a:r>
              <a:r>
                <a:rPr b="1" lang="en-US" sz="3000">
                  <a:solidFill>
                    <a:srgbClr val="FF9900"/>
                  </a:solidFill>
                  <a:latin typeface="Roboto"/>
                  <a:ea typeface="Roboto"/>
                  <a:cs typeface="Roboto"/>
                  <a:sym typeface="Roboto"/>
                </a:rPr>
                <a:t>.</a:t>
              </a:r>
              <a:endParaRPr b="1" sz="3000">
                <a:solidFill>
                  <a:srgbClr val="FF9900"/>
                </a:solidFill>
                <a:latin typeface="Roboto"/>
                <a:ea typeface="Roboto"/>
                <a:cs typeface="Roboto"/>
                <a:sym typeface="Roboto"/>
              </a:endParaRPr>
            </a:p>
          </p:txBody>
        </p:sp>
      </p:grpSp>
      <p:sp>
        <p:nvSpPr>
          <p:cNvPr id="156" name="Google Shape;156;p4"/>
          <p:cNvSpPr/>
          <p:nvPr/>
        </p:nvSpPr>
        <p:spPr>
          <a:xfrm flipH="1" rot="9082658">
            <a:off x="2795676" y="7662370"/>
            <a:ext cx="2649704" cy="80280"/>
          </a:xfrm>
          <a:prstGeom prst="roundRect">
            <a:avLst>
              <a:gd fmla="val 50000" name="adj"/>
            </a:avLst>
          </a:prstGeom>
          <a:solidFill>
            <a:srgbClr val="FF9900"/>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nvGrpSpPr>
          <p:cNvPr id="157" name="Google Shape;157;p4"/>
          <p:cNvGrpSpPr/>
          <p:nvPr/>
        </p:nvGrpSpPr>
        <p:grpSpPr>
          <a:xfrm>
            <a:off x="1" y="8104275"/>
            <a:ext cx="3418200" cy="2006650"/>
            <a:chOff x="2699425" y="1957150"/>
            <a:chExt cx="1709100" cy="1003325"/>
          </a:xfrm>
        </p:grpSpPr>
        <p:sp>
          <p:nvSpPr>
            <p:cNvPr id="158" name="Google Shape;158;p4"/>
            <p:cNvSpPr/>
            <p:nvPr/>
          </p:nvSpPr>
          <p:spPr>
            <a:xfrm>
              <a:off x="3256823" y="1957150"/>
              <a:ext cx="594300" cy="594300"/>
            </a:xfrm>
            <a:prstGeom prst="ellipse">
              <a:avLst/>
            </a:prstGeom>
            <a:noFill/>
            <a:ln cap="flat" cmpd="sng" w="76200">
              <a:solidFill>
                <a:srgbClr val="CCCCCC"/>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999999"/>
                </a:solidFill>
              </a:endParaRPr>
            </a:p>
          </p:txBody>
        </p:sp>
        <p:sp>
          <p:nvSpPr>
            <p:cNvPr id="159" name="Google Shape;159;p4"/>
            <p:cNvSpPr txBox="1"/>
            <p:nvPr/>
          </p:nvSpPr>
          <p:spPr>
            <a:xfrm>
              <a:off x="2699425" y="2514075"/>
              <a:ext cx="1709100" cy="446400"/>
            </a:xfrm>
            <a:prstGeom prst="rect">
              <a:avLst/>
            </a:prstGeom>
            <a:noFill/>
            <a:ln>
              <a:noFill/>
            </a:ln>
          </p:spPr>
          <p:txBody>
            <a:bodyPr anchorCtr="0" anchor="b" bIns="182850" lIns="182850" spcFirstLastPara="1" rIns="182850" wrap="square" tIns="182850">
              <a:noAutofit/>
            </a:bodyPr>
            <a:lstStyle/>
            <a:p>
              <a:pPr indent="0" lvl="0" marL="0" rtl="0" algn="ctr">
                <a:lnSpc>
                  <a:spcPct val="115000"/>
                </a:lnSpc>
                <a:spcBef>
                  <a:spcPts val="0"/>
                </a:spcBef>
                <a:spcAft>
                  <a:spcPts val="0"/>
                </a:spcAft>
                <a:buNone/>
              </a:pPr>
              <a:r>
                <a:rPr b="1" lang="en-US" sz="2000">
                  <a:solidFill>
                    <a:srgbClr val="999999"/>
                  </a:solidFill>
                  <a:latin typeface="Roboto"/>
                  <a:ea typeface="Roboto"/>
                  <a:cs typeface="Roboto"/>
                  <a:sym typeface="Roboto"/>
                </a:rPr>
                <a:t>Calculate BMI</a:t>
              </a:r>
              <a:endParaRPr b="1" sz="2000">
                <a:solidFill>
                  <a:srgbClr val="999999"/>
                </a:solidFill>
                <a:latin typeface="Roboto"/>
                <a:ea typeface="Roboto"/>
                <a:cs typeface="Roboto"/>
                <a:sym typeface="Roboto"/>
              </a:endParaRPr>
            </a:p>
          </p:txBody>
        </p:sp>
        <p:sp>
          <p:nvSpPr>
            <p:cNvPr id="160" name="Google Shape;160;p4"/>
            <p:cNvSpPr txBox="1"/>
            <p:nvPr/>
          </p:nvSpPr>
          <p:spPr>
            <a:xfrm>
              <a:off x="3335573" y="2057612"/>
              <a:ext cx="436800" cy="3210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3200"/>
                </a:spcAft>
                <a:buNone/>
              </a:pPr>
              <a:r>
                <a:rPr b="1" lang="en-US" sz="3000">
                  <a:solidFill>
                    <a:srgbClr val="999999"/>
                  </a:solidFill>
                  <a:latin typeface="Roboto"/>
                  <a:ea typeface="Roboto"/>
                  <a:cs typeface="Roboto"/>
                  <a:sym typeface="Roboto"/>
                </a:rPr>
                <a:t>5.</a:t>
              </a:r>
              <a:endParaRPr b="1" sz="3000">
                <a:solidFill>
                  <a:srgbClr val="999999"/>
                </a:solidFill>
                <a:latin typeface="Roboto"/>
                <a:ea typeface="Roboto"/>
                <a:cs typeface="Roboto"/>
                <a:sym typeface="Roboto"/>
              </a:endParaRPr>
            </a:p>
          </p:txBody>
        </p:sp>
      </p:grpSp>
      <p:sp>
        <p:nvSpPr>
          <p:cNvPr id="161" name="Google Shape;161;p4"/>
          <p:cNvSpPr/>
          <p:nvPr/>
        </p:nvSpPr>
        <p:spPr>
          <a:xfrm flipH="1" rot="-10129037">
            <a:off x="2649115" y="8823754"/>
            <a:ext cx="2649810" cy="80427"/>
          </a:xfrm>
          <a:prstGeom prst="roundRect">
            <a:avLst>
              <a:gd fmla="val 50000" name="adj"/>
            </a:avLst>
          </a:prstGeom>
          <a:solidFill>
            <a:srgbClr val="CCCCCC"/>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nvGrpSpPr>
          <p:cNvPr id="162" name="Google Shape;162;p4"/>
          <p:cNvGrpSpPr/>
          <p:nvPr/>
        </p:nvGrpSpPr>
        <p:grpSpPr>
          <a:xfrm>
            <a:off x="4300426" y="8498825"/>
            <a:ext cx="3418200" cy="1857150"/>
            <a:chOff x="2699425" y="1957150"/>
            <a:chExt cx="1709100" cy="928575"/>
          </a:xfrm>
        </p:grpSpPr>
        <p:sp>
          <p:nvSpPr>
            <p:cNvPr id="163" name="Google Shape;163;p4"/>
            <p:cNvSpPr/>
            <p:nvPr/>
          </p:nvSpPr>
          <p:spPr>
            <a:xfrm>
              <a:off x="3256823" y="1957150"/>
              <a:ext cx="594300" cy="594300"/>
            </a:xfrm>
            <a:prstGeom prst="ellipse">
              <a:avLst/>
            </a:prstGeom>
            <a:noFill/>
            <a:ln cap="flat" cmpd="sng" w="76200">
              <a:solidFill>
                <a:srgbClr val="FF9900"/>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solidFill>
                  <a:srgbClr val="FF9900"/>
                </a:solidFill>
              </a:endParaRPr>
            </a:p>
          </p:txBody>
        </p:sp>
        <p:sp>
          <p:nvSpPr>
            <p:cNvPr id="164" name="Google Shape;164;p4"/>
            <p:cNvSpPr txBox="1"/>
            <p:nvPr/>
          </p:nvSpPr>
          <p:spPr>
            <a:xfrm>
              <a:off x="2699425" y="2439325"/>
              <a:ext cx="1709100" cy="446400"/>
            </a:xfrm>
            <a:prstGeom prst="rect">
              <a:avLst/>
            </a:prstGeom>
            <a:noFill/>
            <a:ln>
              <a:noFill/>
            </a:ln>
          </p:spPr>
          <p:txBody>
            <a:bodyPr anchorCtr="0" anchor="b" bIns="182850" lIns="182850" spcFirstLastPara="1" rIns="182850" wrap="square" tIns="182850">
              <a:noAutofit/>
            </a:bodyPr>
            <a:lstStyle/>
            <a:p>
              <a:pPr indent="0" lvl="0" marL="0" rtl="0" algn="ctr">
                <a:lnSpc>
                  <a:spcPct val="115000"/>
                </a:lnSpc>
                <a:spcBef>
                  <a:spcPts val="0"/>
                </a:spcBef>
                <a:spcAft>
                  <a:spcPts val="0"/>
                </a:spcAft>
                <a:buNone/>
              </a:pPr>
              <a:r>
                <a:rPr b="1" lang="en-US" sz="2000">
                  <a:solidFill>
                    <a:srgbClr val="FF9900"/>
                  </a:solidFill>
                  <a:latin typeface="Roboto"/>
                  <a:ea typeface="Roboto"/>
                  <a:cs typeface="Roboto"/>
                  <a:sym typeface="Roboto"/>
                </a:rPr>
                <a:t>Merge Protein Data</a:t>
              </a:r>
              <a:endParaRPr b="1" sz="2000">
                <a:solidFill>
                  <a:srgbClr val="FF9900"/>
                </a:solidFill>
                <a:latin typeface="Roboto"/>
                <a:ea typeface="Roboto"/>
                <a:cs typeface="Roboto"/>
                <a:sym typeface="Roboto"/>
              </a:endParaRPr>
            </a:p>
          </p:txBody>
        </p:sp>
        <p:sp>
          <p:nvSpPr>
            <p:cNvPr id="165" name="Google Shape;165;p4"/>
            <p:cNvSpPr txBox="1"/>
            <p:nvPr/>
          </p:nvSpPr>
          <p:spPr>
            <a:xfrm>
              <a:off x="3335573" y="2046574"/>
              <a:ext cx="436800" cy="3210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3200"/>
                </a:spcAft>
                <a:buNone/>
              </a:pPr>
              <a:r>
                <a:rPr b="1" lang="en-US" sz="3000">
                  <a:solidFill>
                    <a:srgbClr val="FF9900"/>
                  </a:solidFill>
                  <a:latin typeface="Roboto"/>
                  <a:ea typeface="Roboto"/>
                  <a:cs typeface="Roboto"/>
                  <a:sym typeface="Roboto"/>
                </a:rPr>
                <a:t>6.</a:t>
              </a:r>
              <a:endParaRPr b="1" sz="3000">
                <a:solidFill>
                  <a:srgbClr val="FF9900"/>
                </a:solidFill>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699"/>
        </a:solidFill>
      </p:bgPr>
    </p:bg>
    <p:spTree>
      <p:nvGrpSpPr>
        <p:cNvPr id="173" name="Shape 173"/>
        <p:cNvGrpSpPr/>
        <p:nvPr/>
      </p:nvGrpSpPr>
      <p:grpSpPr>
        <a:xfrm>
          <a:off x="0" y="0"/>
          <a:ext cx="0" cy="0"/>
          <a:chOff x="0" y="0"/>
          <a:chExt cx="0" cy="0"/>
        </a:xfrm>
      </p:grpSpPr>
      <p:sp>
        <p:nvSpPr>
          <p:cNvPr id="174" name="Google Shape;174;p5"/>
          <p:cNvSpPr/>
          <p:nvPr/>
        </p:nvSpPr>
        <p:spPr>
          <a:xfrm>
            <a:off x="-119616" y="9525"/>
            <a:ext cx="10248424" cy="10287000"/>
          </a:xfrm>
          <a:custGeom>
            <a:rect b="b" l="l" r="r" t="t"/>
            <a:pathLst>
              <a:path extrusionOk="0" h="10287000" w="10248424">
                <a:moveTo>
                  <a:pt x="0" y="0"/>
                </a:moveTo>
                <a:lnTo>
                  <a:pt x="10248423" y="0"/>
                </a:lnTo>
                <a:lnTo>
                  <a:pt x="10248423" y="10287000"/>
                </a:lnTo>
                <a:lnTo>
                  <a:pt x="0" y="10287000"/>
                </a:lnTo>
                <a:lnTo>
                  <a:pt x="0" y="0"/>
                </a:lnTo>
                <a:close/>
              </a:path>
            </a:pathLst>
          </a:custGeom>
          <a:blipFill rotWithShape="1">
            <a:blip r:embed="rId3">
              <a:alphaModFix/>
            </a:blip>
            <a:stretch>
              <a:fillRect b="0" l="0" r="0" t="0"/>
            </a:stretch>
          </a:blipFill>
          <a:ln>
            <a:noFill/>
          </a:ln>
        </p:spPr>
      </p:sp>
      <p:sp>
        <p:nvSpPr>
          <p:cNvPr id="175" name="Google Shape;175;p5"/>
          <p:cNvSpPr/>
          <p:nvPr/>
        </p:nvSpPr>
        <p:spPr>
          <a:xfrm>
            <a:off x="9144000" y="0"/>
            <a:ext cx="9144000" cy="10287000"/>
          </a:xfrm>
          <a:custGeom>
            <a:rect b="b" l="l" r="r" t="t"/>
            <a:pathLst>
              <a:path extrusionOk="0" h="10287000" w="9144000">
                <a:moveTo>
                  <a:pt x="0" y="0"/>
                </a:moveTo>
                <a:lnTo>
                  <a:pt x="9144000" y="0"/>
                </a:lnTo>
                <a:lnTo>
                  <a:pt x="9144000" y="10287000"/>
                </a:lnTo>
                <a:lnTo>
                  <a:pt x="0" y="10287000"/>
                </a:lnTo>
                <a:lnTo>
                  <a:pt x="0" y="0"/>
                </a:lnTo>
                <a:close/>
              </a:path>
            </a:pathLst>
          </a:custGeom>
          <a:blipFill rotWithShape="1">
            <a:blip r:embed="rId4">
              <a:alphaModFix/>
            </a:blip>
            <a:stretch>
              <a:fillRect b="0" l="-31358" r="-37387" t="0"/>
            </a:stretch>
          </a:blipFill>
          <a:ln>
            <a:noFill/>
          </a:ln>
        </p:spPr>
      </p:sp>
      <p:grpSp>
        <p:nvGrpSpPr>
          <p:cNvPr id="176" name="Google Shape;176;p5"/>
          <p:cNvGrpSpPr/>
          <p:nvPr/>
        </p:nvGrpSpPr>
        <p:grpSpPr>
          <a:xfrm>
            <a:off x="1028700" y="3022837"/>
            <a:ext cx="7364942" cy="4632902"/>
            <a:chOff x="0" y="-9525"/>
            <a:chExt cx="9819923" cy="6177203"/>
          </a:xfrm>
        </p:grpSpPr>
        <p:sp>
          <p:nvSpPr>
            <p:cNvPr id="177" name="Google Shape;177;p5"/>
            <p:cNvSpPr txBox="1"/>
            <p:nvPr/>
          </p:nvSpPr>
          <p:spPr>
            <a:xfrm>
              <a:off x="0" y="4371898"/>
              <a:ext cx="9819923" cy="17957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4200"/>
                <a:buFont typeface="Arial"/>
                <a:buNone/>
              </a:pPr>
              <a:r>
                <a:rPr b="0" i="0" lang="en-US" sz="4200" u="none" cap="none" strike="noStrike">
                  <a:solidFill>
                    <a:srgbClr val="EA6F08"/>
                  </a:solidFill>
                  <a:latin typeface="Barlow Light"/>
                  <a:ea typeface="Barlow Light"/>
                  <a:cs typeface="Barlow Light"/>
                  <a:sym typeface="Barlow Light"/>
                </a:rPr>
                <a:t>Actual results, data presentation, and analysis</a:t>
              </a:r>
              <a:endParaRPr b="0" i="0" sz="1400" u="none" cap="none" strike="noStrike">
                <a:solidFill>
                  <a:srgbClr val="000000"/>
                </a:solidFill>
                <a:latin typeface="Arial"/>
                <a:ea typeface="Arial"/>
                <a:cs typeface="Arial"/>
                <a:sym typeface="Arial"/>
              </a:endParaRPr>
            </a:p>
          </p:txBody>
        </p:sp>
        <p:sp>
          <p:nvSpPr>
            <p:cNvPr id="178" name="Google Shape;178;p5"/>
            <p:cNvSpPr txBox="1"/>
            <p:nvPr/>
          </p:nvSpPr>
          <p:spPr>
            <a:xfrm>
              <a:off x="0" y="-9525"/>
              <a:ext cx="9819923" cy="3895725"/>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Experiment Results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6"/>
          <p:cNvSpPr/>
          <p:nvPr/>
        </p:nvSpPr>
        <p:spPr>
          <a:xfrm>
            <a:off x="7395277" y="0"/>
            <a:ext cx="10892723" cy="10287000"/>
          </a:xfrm>
          <a:prstGeom prst="rect">
            <a:avLst/>
          </a:prstGeom>
          <a:solidFill>
            <a:srgbClr val="F7C6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8" name="Google Shape;188;p6"/>
          <p:cNvGrpSpPr/>
          <p:nvPr/>
        </p:nvGrpSpPr>
        <p:grpSpPr>
          <a:xfrm>
            <a:off x="749857" y="821031"/>
            <a:ext cx="6527475" cy="2610444"/>
            <a:chOff x="17" y="-276892"/>
            <a:chExt cx="8703300" cy="3480592"/>
          </a:xfrm>
        </p:grpSpPr>
        <p:sp>
          <p:nvSpPr>
            <p:cNvPr id="189" name="Google Shape;189;p6"/>
            <p:cNvSpPr txBox="1"/>
            <p:nvPr/>
          </p:nvSpPr>
          <p:spPr>
            <a:xfrm>
              <a:off x="181075" y="1693200"/>
              <a:ext cx="8522100" cy="1510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i="0" lang="en-US" sz="3200" u="none" cap="none" strike="noStrike">
                  <a:solidFill>
                    <a:srgbClr val="2F2F2F"/>
                  </a:solidFill>
                  <a:latin typeface="Barlow Medium"/>
                  <a:ea typeface="Barlow Medium"/>
                  <a:cs typeface="Barlow Medium"/>
                  <a:sym typeface="Barlow Medium"/>
                </a:rPr>
                <a:t>Overview of the Drug’s effectiveness</a:t>
              </a:r>
              <a:endParaRPr b="0" i="0" sz="1400" u="none" cap="none" strike="noStrike">
                <a:solidFill>
                  <a:srgbClr val="000000"/>
                </a:solidFill>
                <a:latin typeface="Arial"/>
                <a:ea typeface="Arial"/>
                <a:cs typeface="Arial"/>
                <a:sym typeface="Arial"/>
              </a:endParaRPr>
            </a:p>
          </p:txBody>
        </p:sp>
        <p:sp>
          <p:nvSpPr>
            <p:cNvPr id="190" name="Google Shape;190;p6"/>
            <p:cNvSpPr txBox="1"/>
            <p:nvPr/>
          </p:nvSpPr>
          <p:spPr>
            <a:xfrm>
              <a:off x="17" y="-276892"/>
              <a:ext cx="8703300" cy="1970100"/>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Results</a:t>
              </a:r>
              <a:endParaRPr b="0" i="0" sz="1400" u="none" cap="none" strike="noStrike">
                <a:solidFill>
                  <a:srgbClr val="000000"/>
                </a:solidFill>
                <a:latin typeface="Arial"/>
                <a:ea typeface="Arial"/>
                <a:cs typeface="Arial"/>
                <a:sym typeface="Arial"/>
              </a:endParaRPr>
            </a:p>
          </p:txBody>
        </p:sp>
      </p:grpSp>
      <p:grpSp>
        <p:nvGrpSpPr>
          <p:cNvPr id="191" name="Google Shape;191;p6"/>
          <p:cNvGrpSpPr/>
          <p:nvPr/>
        </p:nvGrpSpPr>
        <p:grpSpPr>
          <a:xfrm>
            <a:off x="749783" y="4220208"/>
            <a:ext cx="6527588" cy="5442356"/>
            <a:chOff x="18" y="-489367"/>
            <a:chExt cx="7969220" cy="7256475"/>
          </a:xfrm>
        </p:grpSpPr>
        <p:sp>
          <p:nvSpPr>
            <p:cNvPr id="192" name="Google Shape;192;p6"/>
            <p:cNvSpPr txBox="1"/>
            <p:nvPr/>
          </p:nvSpPr>
          <p:spPr>
            <a:xfrm>
              <a:off x="39" y="1328408"/>
              <a:ext cx="7969200" cy="54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2500">
                  <a:solidFill>
                    <a:srgbClr val="2F2F2F"/>
                  </a:solidFill>
                  <a:latin typeface="Barlow Light"/>
                  <a:ea typeface="Barlow Light"/>
                  <a:cs typeface="Barlow Light"/>
                  <a:sym typeface="Barlow Light"/>
                </a:rPr>
                <a:t>The chart compares responders and non-responders in the CONTROL and DRUG groups. The CONTROL group had more non-responders (254) than responders (124), while the DRUG group had more responders (208) than non-responders (171). This suggests that patients receiving Miraculon-B were more likely to respond positively to treatment.</a:t>
              </a:r>
              <a:endParaRPr sz="2500">
                <a:solidFill>
                  <a:srgbClr val="2F2F2F"/>
                </a:solidFill>
                <a:latin typeface="Barlow Light"/>
                <a:ea typeface="Barlow Light"/>
                <a:cs typeface="Barlow Light"/>
                <a:sym typeface="Barlow Light"/>
              </a:endParaRPr>
            </a:p>
            <a:p>
              <a:pPr indent="0" lvl="0" marL="0" marR="0" rtl="0" algn="l">
                <a:lnSpc>
                  <a:spcPct val="130000"/>
                </a:lnSpc>
                <a:spcBef>
                  <a:spcPts val="1200"/>
                </a:spcBef>
                <a:spcAft>
                  <a:spcPts val="0"/>
                </a:spcAft>
                <a:buClr>
                  <a:srgbClr val="000000"/>
                </a:buClr>
                <a:buSzPts val="2000"/>
                <a:buFont typeface="Arial"/>
                <a:buNone/>
              </a:pPr>
              <a:r>
                <a:t/>
              </a:r>
              <a:endParaRPr sz="2500">
                <a:solidFill>
                  <a:srgbClr val="2F2F2F"/>
                </a:solidFill>
                <a:latin typeface="Barlow Light"/>
                <a:ea typeface="Barlow Light"/>
                <a:cs typeface="Barlow Light"/>
                <a:sym typeface="Barlow Light"/>
              </a:endParaRPr>
            </a:p>
          </p:txBody>
        </p:sp>
        <p:sp>
          <p:nvSpPr>
            <p:cNvPr id="193" name="Google Shape;193;p6"/>
            <p:cNvSpPr txBox="1"/>
            <p:nvPr/>
          </p:nvSpPr>
          <p:spPr>
            <a:xfrm>
              <a:off x="18" y="-489367"/>
              <a:ext cx="7969200" cy="132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1" lang="en-US" sz="2800">
                  <a:solidFill>
                    <a:srgbClr val="2F2F2F"/>
                  </a:solidFill>
                  <a:latin typeface="Barlow"/>
                  <a:ea typeface="Barlow"/>
                  <a:cs typeface="Barlow"/>
                  <a:sym typeface="Barlow"/>
                </a:rPr>
                <a:t>Miraculon-B performed better than the standard treatment. </a:t>
              </a:r>
              <a:endParaRPr b="1" i="0" sz="1600" u="none" cap="none" strike="noStrike">
                <a:solidFill>
                  <a:srgbClr val="000000"/>
                </a:solidFill>
              </a:endParaRPr>
            </a:p>
          </p:txBody>
        </p:sp>
      </p:grpSp>
      <p:pic>
        <p:nvPicPr>
          <p:cNvPr id="194" name="Google Shape;194;p6" title="Chart"/>
          <p:cNvPicPr preferRelativeResize="0"/>
          <p:nvPr/>
        </p:nvPicPr>
        <p:blipFill>
          <a:blip r:embed="rId3">
            <a:alphaModFix/>
          </a:blip>
          <a:stretch>
            <a:fillRect/>
          </a:stretch>
        </p:blipFill>
        <p:spPr>
          <a:xfrm>
            <a:off x="7816288" y="2036165"/>
            <a:ext cx="10050699" cy="6214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02" name="Shape 202"/>
        <p:cNvGrpSpPr/>
        <p:nvPr/>
      </p:nvGrpSpPr>
      <p:grpSpPr>
        <a:xfrm>
          <a:off x="0" y="0"/>
          <a:ext cx="0" cy="0"/>
          <a:chOff x="0" y="0"/>
          <a:chExt cx="0" cy="0"/>
        </a:xfrm>
      </p:grpSpPr>
      <p:grpSp>
        <p:nvGrpSpPr>
          <p:cNvPr id="203" name="Google Shape;203;p8"/>
          <p:cNvGrpSpPr/>
          <p:nvPr/>
        </p:nvGrpSpPr>
        <p:grpSpPr>
          <a:xfrm rot="5400000">
            <a:off x="-4616347" y="4616347"/>
            <a:ext cx="10287000" cy="1054306"/>
            <a:chOff x="0" y="-57150"/>
            <a:chExt cx="2709333" cy="277677"/>
          </a:xfrm>
        </p:grpSpPr>
        <p:sp>
          <p:nvSpPr>
            <p:cNvPr id="204" name="Google Shape;204;p8"/>
            <p:cNvSpPr/>
            <p:nvPr/>
          </p:nvSpPr>
          <p:spPr>
            <a:xfrm>
              <a:off x="0" y="0"/>
              <a:ext cx="2709333" cy="220527"/>
            </a:xfrm>
            <a:custGeom>
              <a:rect b="b" l="l" r="r" t="t"/>
              <a:pathLst>
                <a:path extrusionOk="0" h="220527" w="2709333">
                  <a:moveTo>
                    <a:pt x="203200" y="0"/>
                  </a:moveTo>
                  <a:lnTo>
                    <a:pt x="2506133" y="0"/>
                  </a:lnTo>
                  <a:lnTo>
                    <a:pt x="2709333" y="220527"/>
                  </a:lnTo>
                  <a:lnTo>
                    <a:pt x="0" y="220527"/>
                  </a:lnTo>
                  <a:lnTo>
                    <a:pt x="203200" y="0"/>
                  </a:lnTo>
                  <a:close/>
                </a:path>
              </a:pathLst>
            </a:custGeom>
            <a:solidFill>
              <a:srgbClr val="EA6F08"/>
            </a:solidFill>
            <a:ln>
              <a:noFill/>
            </a:ln>
          </p:spPr>
        </p:sp>
        <p:sp>
          <p:nvSpPr>
            <p:cNvPr id="205" name="Google Shape;205;p8"/>
            <p:cNvSpPr txBox="1"/>
            <p:nvPr/>
          </p:nvSpPr>
          <p:spPr>
            <a:xfrm>
              <a:off x="127000" y="-57150"/>
              <a:ext cx="2455333" cy="2776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6" name="Google Shape;206;p8"/>
          <p:cNvGrpSpPr/>
          <p:nvPr/>
        </p:nvGrpSpPr>
        <p:grpSpPr>
          <a:xfrm>
            <a:off x="0" y="9305216"/>
            <a:ext cx="9193840" cy="981784"/>
            <a:chOff x="0" y="-57150"/>
            <a:chExt cx="2421423" cy="258577"/>
          </a:xfrm>
        </p:grpSpPr>
        <p:sp>
          <p:nvSpPr>
            <p:cNvPr id="207" name="Google Shape;207;p8"/>
            <p:cNvSpPr/>
            <p:nvPr/>
          </p:nvSpPr>
          <p:spPr>
            <a:xfrm>
              <a:off x="0" y="0"/>
              <a:ext cx="2421423" cy="201427"/>
            </a:xfrm>
            <a:custGeom>
              <a:rect b="b" l="l" r="r" t="t"/>
              <a:pathLst>
                <a:path extrusionOk="0" h="201427" w="2421423">
                  <a:moveTo>
                    <a:pt x="203200" y="0"/>
                  </a:moveTo>
                  <a:lnTo>
                    <a:pt x="2218223" y="0"/>
                  </a:lnTo>
                  <a:lnTo>
                    <a:pt x="2421423" y="201427"/>
                  </a:lnTo>
                  <a:lnTo>
                    <a:pt x="0" y="201427"/>
                  </a:lnTo>
                  <a:lnTo>
                    <a:pt x="203200" y="0"/>
                  </a:lnTo>
                  <a:close/>
                </a:path>
              </a:pathLst>
            </a:custGeom>
            <a:solidFill>
              <a:srgbClr val="F39D13"/>
            </a:solidFill>
            <a:ln>
              <a:noFill/>
            </a:ln>
          </p:spPr>
        </p:sp>
        <p:sp>
          <p:nvSpPr>
            <p:cNvPr id="208" name="Google Shape;208;p8"/>
            <p:cNvSpPr txBox="1"/>
            <p:nvPr/>
          </p:nvSpPr>
          <p:spPr>
            <a:xfrm>
              <a:off x="127000" y="-57150"/>
              <a:ext cx="2167423"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9" name="Google Shape;209;p8"/>
          <p:cNvGrpSpPr/>
          <p:nvPr/>
        </p:nvGrpSpPr>
        <p:grpSpPr>
          <a:xfrm>
            <a:off x="6107740" y="9305216"/>
            <a:ext cx="3086100" cy="3303091"/>
            <a:chOff x="0" y="-57150"/>
            <a:chExt cx="812800" cy="869950"/>
          </a:xfrm>
        </p:grpSpPr>
        <p:sp>
          <p:nvSpPr>
            <p:cNvPr id="210" name="Google Shape;210;p8"/>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39D13"/>
            </a:solidFill>
            <a:ln>
              <a:noFill/>
            </a:ln>
          </p:spPr>
        </p:sp>
        <p:sp>
          <p:nvSpPr>
            <p:cNvPr id="211" name="Google Shape;211;p8"/>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2" name="Google Shape;212;p8"/>
          <p:cNvGrpSpPr/>
          <p:nvPr/>
        </p:nvGrpSpPr>
        <p:grpSpPr>
          <a:xfrm rot="5400000">
            <a:off x="-4775836" y="4775836"/>
            <a:ext cx="10287000" cy="735328"/>
            <a:chOff x="0" y="-57150"/>
            <a:chExt cx="2709333" cy="193667"/>
          </a:xfrm>
        </p:grpSpPr>
        <p:sp>
          <p:nvSpPr>
            <p:cNvPr id="213" name="Google Shape;213;p8"/>
            <p:cNvSpPr/>
            <p:nvPr/>
          </p:nvSpPr>
          <p:spPr>
            <a:xfrm>
              <a:off x="0" y="0"/>
              <a:ext cx="2709333" cy="136517"/>
            </a:xfrm>
            <a:custGeom>
              <a:rect b="b" l="l" r="r" t="t"/>
              <a:pathLst>
                <a:path extrusionOk="0" h="136517" w="2709333">
                  <a:moveTo>
                    <a:pt x="203200" y="0"/>
                  </a:moveTo>
                  <a:lnTo>
                    <a:pt x="2506133" y="0"/>
                  </a:lnTo>
                  <a:lnTo>
                    <a:pt x="2709333" y="136517"/>
                  </a:lnTo>
                  <a:lnTo>
                    <a:pt x="0" y="136517"/>
                  </a:lnTo>
                  <a:lnTo>
                    <a:pt x="203200" y="0"/>
                  </a:lnTo>
                  <a:close/>
                </a:path>
              </a:pathLst>
            </a:custGeom>
            <a:solidFill>
              <a:srgbClr val="EA6F08"/>
            </a:solidFill>
            <a:ln>
              <a:noFill/>
            </a:ln>
          </p:spPr>
        </p:sp>
        <p:sp>
          <p:nvSpPr>
            <p:cNvPr id="214" name="Google Shape;214;p8"/>
            <p:cNvSpPr txBox="1"/>
            <p:nvPr/>
          </p:nvSpPr>
          <p:spPr>
            <a:xfrm>
              <a:off x="127000" y="-57150"/>
              <a:ext cx="2455333" cy="19366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8"/>
          <p:cNvGrpSpPr/>
          <p:nvPr/>
        </p:nvGrpSpPr>
        <p:grpSpPr>
          <a:xfrm rot="10800000">
            <a:off x="0" y="-9244"/>
            <a:ext cx="9228174" cy="981784"/>
            <a:chOff x="0" y="-57150"/>
            <a:chExt cx="2430466" cy="258577"/>
          </a:xfrm>
        </p:grpSpPr>
        <p:sp>
          <p:nvSpPr>
            <p:cNvPr id="216" name="Google Shape;216;p8"/>
            <p:cNvSpPr/>
            <p:nvPr/>
          </p:nvSpPr>
          <p:spPr>
            <a:xfrm>
              <a:off x="0" y="0"/>
              <a:ext cx="2430466" cy="201427"/>
            </a:xfrm>
            <a:custGeom>
              <a:rect b="b" l="l" r="r" t="t"/>
              <a:pathLst>
                <a:path extrusionOk="0" h="201427" w="2430466">
                  <a:moveTo>
                    <a:pt x="203200" y="0"/>
                  </a:moveTo>
                  <a:lnTo>
                    <a:pt x="2227266" y="0"/>
                  </a:lnTo>
                  <a:lnTo>
                    <a:pt x="2430466" y="201427"/>
                  </a:lnTo>
                  <a:lnTo>
                    <a:pt x="0" y="201427"/>
                  </a:lnTo>
                  <a:lnTo>
                    <a:pt x="203200" y="0"/>
                  </a:lnTo>
                  <a:close/>
                </a:path>
              </a:pathLst>
            </a:custGeom>
            <a:solidFill>
              <a:srgbClr val="F08B0B"/>
            </a:solidFill>
            <a:ln>
              <a:noFill/>
            </a:ln>
          </p:spPr>
        </p:sp>
        <p:sp>
          <p:nvSpPr>
            <p:cNvPr id="217" name="Google Shape;217;p8"/>
            <p:cNvSpPr txBox="1"/>
            <p:nvPr/>
          </p:nvSpPr>
          <p:spPr>
            <a:xfrm>
              <a:off x="127000" y="-57150"/>
              <a:ext cx="2176466"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8" name="Google Shape;218;p8"/>
          <p:cNvGrpSpPr/>
          <p:nvPr/>
        </p:nvGrpSpPr>
        <p:grpSpPr>
          <a:xfrm rot="10800000">
            <a:off x="6142074" y="-2330551"/>
            <a:ext cx="3086100" cy="3303091"/>
            <a:chOff x="0" y="-57150"/>
            <a:chExt cx="812800" cy="869950"/>
          </a:xfrm>
        </p:grpSpPr>
        <p:sp>
          <p:nvSpPr>
            <p:cNvPr id="219" name="Google Shape;219;p8"/>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08B0B"/>
            </a:solidFill>
            <a:ln>
              <a:noFill/>
            </a:ln>
          </p:spPr>
        </p:sp>
        <p:sp>
          <p:nvSpPr>
            <p:cNvPr id="220" name="Google Shape;220;p8"/>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1" name="Google Shape;221;p8"/>
          <p:cNvSpPr/>
          <p:nvPr/>
        </p:nvSpPr>
        <p:spPr>
          <a:xfrm>
            <a:off x="418657" y="382677"/>
            <a:ext cx="17419651" cy="9531451"/>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2" name="Google Shape;222;p8"/>
          <p:cNvGrpSpPr/>
          <p:nvPr/>
        </p:nvGrpSpPr>
        <p:grpSpPr>
          <a:xfrm>
            <a:off x="10984550" y="366000"/>
            <a:ext cx="7013030" cy="2053768"/>
            <a:chOff x="-3316106" y="-9536"/>
            <a:chExt cx="9350706" cy="2738357"/>
          </a:xfrm>
        </p:grpSpPr>
        <p:sp>
          <p:nvSpPr>
            <p:cNvPr id="223" name="Google Shape;223;p8"/>
            <p:cNvSpPr txBox="1"/>
            <p:nvPr/>
          </p:nvSpPr>
          <p:spPr>
            <a:xfrm>
              <a:off x="-2668700" y="2072121"/>
              <a:ext cx="8703300" cy="656700"/>
            </a:xfrm>
            <a:prstGeom prst="rect">
              <a:avLst/>
            </a:prstGeom>
            <a:noFill/>
            <a:ln>
              <a:noFill/>
            </a:ln>
          </p:spPr>
          <p:txBody>
            <a:bodyPr anchorCtr="0" anchor="t" bIns="0" lIns="0" spcFirstLastPara="1" rIns="0" wrap="square" tIns="0">
              <a:spAutoFit/>
            </a:bodyPr>
            <a:lstStyle/>
            <a:p>
              <a:pPr indent="0" lvl="0" marL="0" marR="0" rtl="0" algn="r">
                <a:lnSpc>
                  <a:spcPct val="130000"/>
                </a:lnSpc>
                <a:spcBef>
                  <a:spcPts val="0"/>
                </a:spcBef>
                <a:spcAft>
                  <a:spcPts val="0"/>
                </a:spcAft>
                <a:buClr>
                  <a:srgbClr val="000000"/>
                </a:buClr>
                <a:buSzPts val="3200"/>
                <a:buFont typeface="Arial"/>
                <a:buNone/>
              </a:pPr>
              <a:r>
                <a:rPr b="1" lang="en-US" sz="3200">
                  <a:solidFill>
                    <a:srgbClr val="2F2F2F"/>
                  </a:solidFill>
                  <a:latin typeface="Barlow Medium"/>
                  <a:ea typeface="Barlow Medium"/>
                  <a:cs typeface="Barlow Medium"/>
                  <a:sym typeface="Barlow Medium"/>
                </a:rPr>
                <a:t>Protein Concentration Analysis </a:t>
              </a:r>
              <a:endParaRPr b="0" i="0" sz="1400" u="none" cap="none" strike="noStrike">
                <a:solidFill>
                  <a:srgbClr val="000000"/>
                </a:solidFill>
                <a:latin typeface="Arial"/>
                <a:ea typeface="Arial"/>
                <a:cs typeface="Arial"/>
                <a:sym typeface="Arial"/>
              </a:endParaRPr>
            </a:p>
          </p:txBody>
        </p:sp>
        <p:sp>
          <p:nvSpPr>
            <p:cNvPr id="224" name="Google Shape;224;p8"/>
            <p:cNvSpPr txBox="1"/>
            <p:nvPr/>
          </p:nvSpPr>
          <p:spPr>
            <a:xfrm>
              <a:off x="-3316106" y="-9536"/>
              <a:ext cx="9350700" cy="1970100"/>
            </a:xfrm>
            <a:prstGeom prst="rect">
              <a:avLst/>
            </a:prstGeom>
            <a:noFill/>
            <a:ln>
              <a:noFill/>
            </a:ln>
          </p:spPr>
          <p:txBody>
            <a:bodyPr anchorCtr="0" anchor="t" bIns="0" lIns="0" spcFirstLastPara="1" rIns="0" wrap="square" tIns="0">
              <a:spAutoFit/>
            </a:bodyPr>
            <a:lstStyle/>
            <a:p>
              <a:pPr indent="0" lvl="0" marL="0" marR="0" rtl="0" algn="r">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Results</a:t>
              </a:r>
              <a:endParaRPr b="0" i="0" sz="1400" u="none" cap="none" strike="noStrike">
                <a:solidFill>
                  <a:srgbClr val="000000"/>
                </a:solidFill>
                <a:latin typeface="Arial"/>
                <a:ea typeface="Arial"/>
                <a:cs typeface="Arial"/>
                <a:sym typeface="Arial"/>
              </a:endParaRPr>
            </a:p>
          </p:txBody>
        </p:sp>
      </p:grpSp>
      <p:pic>
        <p:nvPicPr>
          <p:cNvPr id="225" name="Google Shape;225;p8" title="Chart"/>
          <p:cNvPicPr preferRelativeResize="0"/>
          <p:nvPr/>
        </p:nvPicPr>
        <p:blipFill>
          <a:blip r:embed="rId3">
            <a:alphaModFix/>
          </a:blip>
          <a:stretch>
            <a:fillRect/>
          </a:stretch>
        </p:blipFill>
        <p:spPr>
          <a:xfrm>
            <a:off x="735325" y="2687194"/>
            <a:ext cx="8572500" cy="5300663"/>
          </a:xfrm>
          <a:prstGeom prst="rect">
            <a:avLst/>
          </a:prstGeom>
          <a:noFill/>
          <a:ln>
            <a:noFill/>
          </a:ln>
        </p:spPr>
      </p:pic>
      <p:grpSp>
        <p:nvGrpSpPr>
          <p:cNvPr id="226" name="Google Shape;226;p8"/>
          <p:cNvGrpSpPr/>
          <p:nvPr/>
        </p:nvGrpSpPr>
        <p:grpSpPr>
          <a:xfrm>
            <a:off x="10790544" y="3056363"/>
            <a:ext cx="5976906" cy="5229639"/>
            <a:chOff x="-258667" y="-3447617"/>
            <a:chExt cx="7969208" cy="6972852"/>
          </a:xfrm>
        </p:grpSpPr>
        <p:sp>
          <p:nvSpPr>
            <p:cNvPr id="227" name="Google Shape;227;p8"/>
            <p:cNvSpPr txBox="1"/>
            <p:nvPr/>
          </p:nvSpPr>
          <p:spPr>
            <a:xfrm>
              <a:off x="-258659" y="-1242365"/>
              <a:ext cx="7969200" cy="4767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000"/>
                <a:buFont typeface="Arial"/>
                <a:buNone/>
              </a:pPr>
              <a:r>
                <a:rPr lang="en-US" sz="2300">
                  <a:solidFill>
                    <a:srgbClr val="2F2F2F"/>
                  </a:solidFill>
                  <a:latin typeface="Barlow Light"/>
                  <a:ea typeface="Barlow Light"/>
                  <a:cs typeface="Barlow Light"/>
                  <a:sym typeface="Barlow Light"/>
                </a:rPr>
                <a:t>The chart shows that non-responders had a higher average protein concentration (135.7) compared to responders (104.3). This suggests that patients with lower protein concentrations were more likely to respond positively to treatment. Protein concentration may therefore be useful as a predictive biomarker for treatment response. </a:t>
              </a:r>
              <a:endParaRPr sz="2300">
                <a:solidFill>
                  <a:srgbClr val="2F2F2F"/>
                </a:solidFill>
                <a:latin typeface="Barlow Light"/>
                <a:ea typeface="Barlow Light"/>
                <a:cs typeface="Barlow Light"/>
                <a:sym typeface="Barlow Light"/>
              </a:endParaRPr>
            </a:p>
          </p:txBody>
        </p:sp>
        <p:sp>
          <p:nvSpPr>
            <p:cNvPr id="228" name="Google Shape;228;p8"/>
            <p:cNvSpPr txBox="1"/>
            <p:nvPr/>
          </p:nvSpPr>
          <p:spPr>
            <a:xfrm>
              <a:off x="-258667" y="-3447617"/>
              <a:ext cx="7969200" cy="1896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Clr>
                  <a:schemeClr val="dk1"/>
                </a:buClr>
                <a:buSzPts val="1100"/>
                <a:buFont typeface="Arial"/>
                <a:buNone/>
              </a:pPr>
              <a:r>
                <a:rPr b="1" lang="en-US" sz="2800">
                  <a:solidFill>
                    <a:srgbClr val="2F2F2F"/>
                  </a:solidFill>
                  <a:latin typeface="Barlow"/>
                  <a:ea typeface="Barlow"/>
                  <a:cs typeface="Barlow"/>
                  <a:sym typeface="Barlow"/>
                </a:rPr>
                <a:t>Responders had lower average protein concentrations than non-responders.</a:t>
              </a:r>
              <a:endParaRPr b="1" sz="2800">
                <a:solidFill>
                  <a:srgbClr val="2F2F2F"/>
                </a:solidFill>
                <a:latin typeface="Barlow"/>
                <a:ea typeface="Barlow"/>
                <a:cs typeface="Barlow"/>
                <a:sym typeface="Barlow"/>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36" name="Shape 236"/>
        <p:cNvGrpSpPr/>
        <p:nvPr/>
      </p:nvGrpSpPr>
      <p:grpSpPr>
        <a:xfrm>
          <a:off x="0" y="0"/>
          <a:ext cx="0" cy="0"/>
          <a:chOff x="0" y="0"/>
          <a:chExt cx="0" cy="0"/>
        </a:xfrm>
      </p:grpSpPr>
      <p:grpSp>
        <p:nvGrpSpPr>
          <p:cNvPr id="237" name="Google Shape;237;p9"/>
          <p:cNvGrpSpPr/>
          <p:nvPr/>
        </p:nvGrpSpPr>
        <p:grpSpPr>
          <a:xfrm rot="10800000">
            <a:off x="449693" y="-2325929"/>
            <a:ext cx="17838308" cy="14938858"/>
            <a:chOff x="-1" y="0"/>
            <a:chExt cx="23784411" cy="19918477"/>
          </a:xfrm>
        </p:grpSpPr>
        <p:grpSp>
          <p:nvGrpSpPr>
            <p:cNvPr id="238" name="Google Shape;238;p9"/>
            <p:cNvGrpSpPr/>
            <p:nvPr/>
          </p:nvGrpSpPr>
          <p:grpSpPr>
            <a:xfrm>
              <a:off x="8143653" y="15514355"/>
              <a:ext cx="4114800" cy="4404122"/>
              <a:chOff x="0" y="-57150"/>
              <a:chExt cx="812800" cy="869950"/>
            </a:xfrm>
          </p:grpSpPr>
          <p:sp>
            <p:nvSpPr>
              <p:cNvPr id="239" name="Google Shape;239;p9"/>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39D13"/>
              </a:solidFill>
              <a:ln>
                <a:noFill/>
              </a:ln>
            </p:spPr>
          </p:sp>
          <p:sp>
            <p:nvSpPr>
              <p:cNvPr id="240" name="Google Shape;240;p9"/>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1" name="Google Shape;241;p9"/>
            <p:cNvGrpSpPr/>
            <p:nvPr/>
          </p:nvGrpSpPr>
          <p:grpSpPr>
            <a:xfrm rot="10800000">
              <a:off x="8189433" y="0"/>
              <a:ext cx="4114800" cy="4404122"/>
              <a:chOff x="0" y="-57150"/>
              <a:chExt cx="812800" cy="869950"/>
            </a:xfrm>
          </p:grpSpPr>
          <p:sp>
            <p:nvSpPr>
              <p:cNvPr id="242" name="Google Shape;242;p9"/>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08B0B"/>
              </a:solidFill>
              <a:ln>
                <a:noFill/>
              </a:ln>
            </p:spPr>
          </p:sp>
          <p:sp>
            <p:nvSpPr>
              <p:cNvPr id="243" name="Google Shape;243;p9"/>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4" name="Google Shape;244;p9"/>
            <p:cNvGrpSpPr/>
            <p:nvPr/>
          </p:nvGrpSpPr>
          <p:grpSpPr>
            <a:xfrm rot="5400000">
              <a:off x="-6155130" y="9262531"/>
              <a:ext cx="13716000" cy="1405741"/>
              <a:chOff x="0" y="-57150"/>
              <a:chExt cx="2709333" cy="277677"/>
            </a:xfrm>
          </p:grpSpPr>
          <p:sp>
            <p:nvSpPr>
              <p:cNvPr id="245" name="Google Shape;245;p9"/>
              <p:cNvSpPr/>
              <p:nvPr/>
            </p:nvSpPr>
            <p:spPr>
              <a:xfrm>
                <a:off x="0" y="0"/>
                <a:ext cx="2709333" cy="220527"/>
              </a:xfrm>
              <a:custGeom>
                <a:rect b="b" l="l" r="r" t="t"/>
                <a:pathLst>
                  <a:path extrusionOk="0" h="220527" w="2709333">
                    <a:moveTo>
                      <a:pt x="203200" y="0"/>
                    </a:moveTo>
                    <a:lnTo>
                      <a:pt x="2506133" y="0"/>
                    </a:lnTo>
                    <a:lnTo>
                      <a:pt x="2709333" y="220527"/>
                    </a:lnTo>
                    <a:lnTo>
                      <a:pt x="0" y="220527"/>
                    </a:lnTo>
                    <a:lnTo>
                      <a:pt x="203200" y="0"/>
                    </a:lnTo>
                    <a:close/>
                  </a:path>
                </a:pathLst>
              </a:custGeom>
              <a:solidFill>
                <a:srgbClr val="EA6F08"/>
              </a:solidFill>
              <a:ln>
                <a:noFill/>
              </a:ln>
            </p:spPr>
          </p:sp>
          <p:sp>
            <p:nvSpPr>
              <p:cNvPr id="246" name="Google Shape;246;p9"/>
              <p:cNvSpPr txBox="1"/>
              <p:nvPr/>
            </p:nvSpPr>
            <p:spPr>
              <a:xfrm>
                <a:off x="127000" y="-57150"/>
                <a:ext cx="2455333" cy="2776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7" name="Google Shape;247;p9"/>
            <p:cNvGrpSpPr/>
            <p:nvPr/>
          </p:nvGrpSpPr>
          <p:grpSpPr>
            <a:xfrm>
              <a:off x="0" y="15514355"/>
              <a:ext cx="12258453" cy="1309046"/>
              <a:chOff x="0" y="-57150"/>
              <a:chExt cx="2421423" cy="258577"/>
            </a:xfrm>
          </p:grpSpPr>
          <p:sp>
            <p:nvSpPr>
              <p:cNvPr id="248" name="Google Shape;248;p9"/>
              <p:cNvSpPr/>
              <p:nvPr/>
            </p:nvSpPr>
            <p:spPr>
              <a:xfrm>
                <a:off x="0" y="0"/>
                <a:ext cx="2421423" cy="201427"/>
              </a:xfrm>
              <a:custGeom>
                <a:rect b="b" l="l" r="r" t="t"/>
                <a:pathLst>
                  <a:path extrusionOk="0" h="201427" w="2421423">
                    <a:moveTo>
                      <a:pt x="203200" y="0"/>
                    </a:moveTo>
                    <a:lnTo>
                      <a:pt x="2218223" y="0"/>
                    </a:lnTo>
                    <a:lnTo>
                      <a:pt x="2421423" y="201427"/>
                    </a:lnTo>
                    <a:lnTo>
                      <a:pt x="0" y="201427"/>
                    </a:lnTo>
                    <a:lnTo>
                      <a:pt x="203200" y="0"/>
                    </a:lnTo>
                    <a:close/>
                  </a:path>
                </a:pathLst>
              </a:custGeom>
              <a:solidFill>
                <a:srgbClr val="F39D13"/>
              </a:solidFill>
              <a:ln>
                <a:noFill/>
              </a:ln>
            </p:spPr>
          </p:sp>
          <p:sp>
            <p:nvSpPr>
              <p:cNvPr id="249" name="Google Shape;249;p9"/>
              <p:cNvSpPr txBox="1"/>
              <p:nvPr/>
            </p:nvSpPr>
            <p:spPr>
              <a:xfrm>
                <a:off x="127000" y="-57150"/>
                <a:ext cx="2167423"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0" name="Google Shape;250;p9"/>
            <p:cNvGrpSpPr/>
            <p:nvPr/>
          </p:nvGrpSpPr>
          <p:grpSpPr>
            <a:xfrm rot="5400000">
              <a:off x="-6367781" y="9475182"/>
              <a:ext cx="13716000" cy="980437"/>
              <a:chOff x="0" y="-57150"/>
              <a:chExt cx="2709333" cy="193667"/>
            </a:xfrm>
          </p:grpSpPr>
          <p:sp>
            <p:nvSpPr>
              <p:cNvPr id="251" name="Google Shape;251;p9"/>
              <p:cNvSpPr/>
              <p:nvPr/>
            </p:nvSpPr>
            <p:spPr>
              <a:xfrm>
                <a:off x="0" y="0"/>
                <a:ext cx="2709333" cy="136517"/>
              </a:xfrm>
              <a:custGeom>
                <a:rect b="b" l="l" r="r" t="t"/>
                <a:pathLst>
                  <a:path extrusionOk="0" h="136517" w="2709333">
                    <a:moveTo>
                      <a:pt x="203200" y="0"/>
                    </a:moveTo>
                    <a:lnTo>
                      <a:pt x="2506133" y="0"/>
                    </a:lnTo>
                    <a:lnTo>
                      <a:pt x="2709333" y="136517"/>
                    </a:lnTo>
                    <a:lnTo>
                      <a:pt x="0" y="136517"/>
                    </a:lnTo>
                    <a:lnTo>
                      <a:pt x="203200" y="0"/>
                    </a:lnTo>
                    <a:close/>
                  </a:path>
                </a:pathLst>
              </a:custGeom>
              <a:solidFill>
                <a:srgbClr val="EA6F08"/>
              </a:solidFill>
              <a:ln>
                <a:noFill/>
              </a:ln>
            </p:spPr>
          </p:sp>
          <p:sp>
            <p:nvSpPr>
              <p:cNvPr id="252" name="Google Shape;252;p9"/>
              <p:cNvSpPr txBox="1"/>
              <p:nvPr/>
            </p:nvSpPr>
            <p:spPr>
              <a:xfrm>
                <a:off x="127000" y="-57150"/>
                <a:ext cx="2455333" cy="19366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3" name="Google Shape;253;p9"/>
            <p:cNvGrpSpPr/>
            <p:nvPr/>
          </p:nvGrpSpPr>
          <p:grpSpPr>
            <a:xfrm rot="10800000">
              <a:off x="0" y="3095076"/>
              <a:ext cx="12304233" cy="1309046"/>
              <a:chOff x="0" y="-57150"/>
              <a:chExt cx="2430466" cy="258577"/>
            </a:xfrm>
          </p:grpSpPr>
          <p:sp>
            <p:nvSpPr>
              <p:cNvPr id="254" name="Google Shape;254;p9"/>
              <p:cNvSpPr/>
              <p:nvPr/>
            </p:nvSpPr>
            <p:spPr>
              <a:xfrm>
                <a:off x="0" y="0"/>
                <a:ext cx="2430466" cy="201427"/>
              </a:xfrm>
              <a:custGeom>
                <a:rect b="b" l="l" r="r" t="t"/>
                <a:pathLst>
                  <a:path extrusionOk="0" h="201427" w="2430466">
                    <a:moveTo>
                      <a:pt x="203200" y="0"/>
                    </a:moveTo>
                    <a:lnTo>
                      <a:pt x="2227266" y="0"/>
                    </a:lnTo>
                    <a:lnTo>
                      <a:pt x="2430466" y="201427"/>
                    </a:lnTo>
                    <a:lnTo>
                      <a:pt x="0" y="201427"/>
                    </a:lnTo>
                    <a:lnTo>
                      <a:pt x="203200" y="0"/>
                    </a:lnTo>
                    <a:close/>
                  </a:path>
                </a:pathLst>
              </a:custGeom>
              <a:solidFill>
                <a:srgbClr val="F08B0B"/>
              </a:solidFill>
              <a:ln>
                <a:noFill/>
              </a:ln>
            </p:spPr>
          </p:sp>
          <p:sp>
            <p:nvSpPr>
              <p:cNvPr id="255" name="Google Shape;255;p9"/>
              <p:cNvSpPr txBox="1"/>
              <p:nvPr/>
            </p:nvSpPr>
            <p:spPr>
              <a:xfrm>
                <a:off x="127000" y="-57150"/>
                <a:ext cx="2176466"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6" name="Google Shape;256;p9"/>
            <p:cNvSpPr/>
            <p:nvPr/>
          </p:nvSpPr>
          <p:spPr>
            <a:xfrm>
              <a:off x="558209" y="3617638"/>
              <a:ext cx="23226201" cy="12708601"/>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7" name="Google Shape;257;p9"/>
          <p:cNvGrpSpPr/>
          <p:nvPr/>
        </p:nvGrpSpPr>
        <p:grpSpPr>
          <a:xfrm>
            <a:off x="449692" y="625177"/>
            <a:ext cx="6527475" cy="2053760"/>
            <a:chOff x="0" y="-9525"/>
            <a:chExt cx="8703300" cy="2738346"/>
          </a:xfrm>
        </p:grpSpPr>
        <p:sp>
          <p:nvSpPr>
            <p:cNvPr id="258" name="Google Shape;258;p9"/>
            <p:cNvSpPr txBox="1"/>
            <p:nvPr/>
          </p:nvSpPr>
          <p:spPr>
            <a:xfrm>
              <a:off x="0" y="2072121"/>
              <a:ext cx="8703300" cy="656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lang="en-US" sz="3200">
                  <a:solidFill>
                    <a:srgbClr val="2F2F2F"/>
                  </a:solidFill>
                  <a:latin typeface="Barlow Medium"/>
                  <a:ea typeface="Barlow Medium"/>
                  <a:cs typeface="Barlow Medium"/>
                  <a:sym typeface="Barlow Medium"/>
                </a:rPr>
                <a:t>Age analysis</a:t>
              </a:r>
              <a:endParaRPr b="0" i="0" sz="1400" u="none" cap="none" strike="noStrike">
                <a:solidFill>
                  <a:srgbClr val="000000"/>
                </a:solidFill>
                <a:latin typeface="Arial"/>
                <a:ea typeface="Arial"/>
                <a:cs typeface="Arial"/>
                <a:sym typeface="Arial"/>
              </a:endParaRPr>
            </a:p>
          </p:txBody>
        </p:sp>
        <p:sp>
          <p:nvSpPr>
            <p:cNvPr id="259" name="Google Shape;259;p9"/>
            <p:cNvSpPr txBox="1"/>
            <p:nvPr/>
          </p:nvSpPr>
          <p:spPr>
            <a:xfrm>
              <a:off x="0" y="-9525"/>
              <a:ext cx="8703157" cy="1952625"/>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Results</a:t>
              </a:r>
              <a:endParaRPr b="0" i="0" sz="1400" u="none" cap="none" strike="noStrike">
                <a:solidFill>
                  <a:srgbClr val="000000"/>
                </a:solidFill>
                <a:latin typeface="Arial"/>
                <a:ea typeface="Arial"/>
                <a:cs typeface="Arial"/>
                <a:sym typeface="Arial"/>
              </a:endParaRPr>
            </a:p>
          </p:txBody>
        </p:sp>
      </p:grpSp>
      <p:pic>
        <p:nvPicPr>
          <p:cNvPr id="260" name="Google Shape;260;p9" title="Chart"/>
          <p:cNvPicPr preferRelativeResize="0"/>
          <p:nvPr/>
        </p:nvPicPr>
        <p:blipFill>
          <a:blip r:embed="rId3">
            <a:alphaModFix/>
          </a:blip>
          <a:stretch>
            <a:fillRect/>
          </a:stretch>
        </p:blipFill>
        <p:spPr>
          <a:xfrm>
            <a:off x="8232500" y="1893451"/>
            <a:ext cx="9413424" cy="5820625"/>
          </a:xfrm>
          <a:prstGeom prst="rect">
            <a:avLst/>
          </a:prstGeom>
          <a:noFill/>
          <a:ln>
            <a:noFill/>
          </a:ln>
        </p:spPr>
      </p:pic>
      <p:grpSp>
        <p:nvGrpSpPr>
          <p:cNvPr id="261" name="Google Shape;261;p9"/>
          <p:cNvGrpSpPr/>
          <p:nvPr/>
        </p:nvGrpSpPr>
        <p:grpSpPr>
          <a:xfrm>
            <a:off x="724940" y="3428997"/>
            <a:ext cx="7028844" cy="4285089"/>
            <a:chOff x="22" y="-1307417"/>
            <a:chExt cx="7969211" cy="5713452"/>
          </a:xfrm>
        </p:grpSpPr>
        <p:sp>
          <p:nvSpPr>
            <p:cNvPr id="262" name="Google Shape;262;p9"/>
            <p:cNvSpPr txBox="1"/>
            <p:nvPr/>
          </p:nvSpPr>
          <p:spPr>
            <a:xfrm>
              <a:off x="22" y="252235"/>
              <a:ext cx="7969200" cy="4153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000"/>
                <a:buFont typeface="Arial"/>
                <a:buNone/>
              </a:pPr>
              <a:r>
                <a:rPr lang="en-US" sz="2300">
                  <a:solidFill>
                    <a:srgbClr val="2F2F2F"/>
                  </a:solidFill>
                  <a:latin typeface="Barlow Light"/>
                  <a:ea typeface="Barlow Light"/>
                  <a:cs typeface="Barlow Light"/>
                  <a:sym typeface="Barlow Light"/>
                </a:rPr>
                <a:t>The chart shows that the average age of non-responders was 61.7 years, while the average age of responders was 61.8 years. The averages were almost identical, suggesting that age did not appear to strongly influence treatment response in this clinical trial. Other factors, such as protein concentration, may have had a greater impact on patient outcomes. </a:t>
              </a:r>
              <a:endParaRPr sz="2300">
                <a:solidFill>
                  <a:srgbClr val="2F2F2F"/>
                </a:solidFill>
                <a:latin typeface="Barlow Light"/>
                <a:ea typeface="Barlow Light"/>
                <a:cs typeface="Barlow Light"/>
                <a:sym typeface="Barlow Light"/>
              </a:endParaRPr>
            </a:p>
          </p:txBody>
        </p:sp>
        <p:sp>
          <p:nvSpPr>
            <p:cNvPr id="263" name="Google Shape;263;p9"/>
            <p:cNvSpPr txBox="1"/>
            <p:nvPr/>
          </p:nvSpPr>
          <p:spPr>
            <a:xfrm>
              <a:off x="33" y="-1307417"/>
              <a:ext cx="7969200" cy="1368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1" lang="en-US" sz="2900">
                  <a:solidFill>
                    <a:srgbClr val="2F2F2F"/>
                  </a:solidFill>
                  <a:latin typeface="Barlow"/>
                  <a:ea typeface="Barlow"/>
                  <a:cs typeface="Barlow"/>
                  <a:sym typeface="Barlow"/>
                </a:rPr>
                <a:t>There was very little difference in age between responders and non-responders. </a:t>
              </a:r>
              <a:endParaRPr b="1" i="0" sz="1700" u="none" cap="none" strike="noStrike">
                <a:solidFill>
                  <a:srgbClr val="000000"/>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71" name="Shape 271"/>
        <p:cNvGrpSpPr/>
        <p:nvPr/>
      </p:nvGrpSpPr>
      <p:grpSpPr>
        <a:xfrm>
          <a:off x="0" y="0"/>
          <a:ext cx="0" cy="0"/>
          <a:chOff x="0" y="0"/>
          <a:chExt cx="0" cy="0"/>
        </a:xfrm>
      </p:grpSpPr>
      <p:grpSp>
        <p:nvGrpSpPr>
          <p:cNvPr id="272" name="Google Shape;272;p10"/>
          <p:cNvGrpSpPr/>
          <p:nvPr/>
        </p:nvGrpSpPr>
        <p:grpSpPr>
          <a:xfrm rot="5400000">
            <a:off x="-4616347" y="4616347"/>
            <a:ext cx="10287000" cy="1054306"/>
            <a:chOff x="0" y="-57150"/>
            <a:chExt cx="2709333" cy="277677"/>
          </a:xfrm>
        </p:grpSpPr>
        <p:sp>
          <p:nvSpPr>
            <p:cNvPr id="273" name="Google Shape;273;p10"/>
            <p:cNvSpPr/>
            <p:nvPr/>
          </p:nvSpPr>
          <p:spPr>
            <a:xfrm>
              <a:off x="0" y="0"/>
              <a:ext cx="2709333" cy="220527"/>
            </a:xfrm>
            <a:custGeom>
              <a:rect b="b" l="l" r="r" t="t"/>
              <a:pathLst>
                <a:path extrusionOk="0" h="220527" w="2709333">
                  <a:moveTo>
                    <a:pt x="203200" y="0"/>
                  </a:moveTo>
                  <a:lnTo>
                    <a:pt x="2506133" y="0"/>
                  </a:lnTo>
                  <a:lnTo>
                    <a:pt x="2709333" y="220527"/>
                  </a:lnTo>
                  <a:lnTo>
                    <a:pt x="0" y="220527"/>
                  </a:lnTo>
                  <a:lnTo>
                    <a:pt x="203200" y="0"/>
                  </a:lnTo>
                  <a:close/>
                </a:path>
              </a:pathLst>
            </a:custGeom>
            <a:solidFill>
              <a:srgbClr val="EA6F08"/>
            </a:solidFill>
            <a:ln>
              <a:noFill/>
            </a:ln>
          </p:spPr>
        </p:sp>
        <p:sp>
          <p:nvSpPr>
            <p:cNvPr id="274" name="Google Shape;274;p10"/>
            <p:cNvSpPr txBox="1"/>
            <p:nvPr/>
          </p:nvSpPr>
          <p:spPr>
            <a:xfrm>
              <a:off x="127000" y="-57150"/>
              <a:ext cx="2455333" cy="2776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5" name="Google Shape;275;p10"/>
          <p:cNvGrpSpPr/>
          <p:nvPr/>
        </p:nvGrpSpPr>
        <p:grpSpPr>
          <a:xfrm>
            <a:off x="0" y="9305216"/>
            <a:ext cx="9193840" cy="981784"/>
            <a:chOff x="0" y="-57150"/>
            <a:chExt cx="2421423" cy="258577"/>
          </a:xfrm>
        </p:grpSpPr>
        <p:sp>
          <p:nvSpPr>
            <p:cNvPr id="276" name="Google Shape;276;p10"/>
            <p:cNvSpPr/>
            <p:nvPr/>
          </p:nvSpPr>
          <p:spPr>
            <a:xfrm>
              <a:off x="0" y="0"/>
              <a:ext cx="2421423" cy="201427"/>
            </a:xfrm>
            <a:custGeom>
              <a:rect b="b" l="l" r="r" t="t"/>
              <a:pathLst>
                <a:path extrusionOk="0" h="201427" w="2421423">
                  <a:moveTo>
                    <a:pt x="203200" y="0"/>
                  </a:moveTo>
                  <a:lnTo>
                    <a:pt x="2218223" y="0"/>
                  </a:lnTo>
                  <a:lnTo>
                    <a:pt x="2421423" y="201427"/>
                  </a:lnTo>
                  <a:lnTo>
                    <a:pt x="0" y="201427"/>
                  </a:lnTo>
                  <a:lnTo>
                    <a:pt x="203200" y="0"/>
                  </a:lnTo>
                  <a:close/>
                </a:path>
              </a:pathLst>
            </a:custGeom>
            <a:solidFill>
              <a:srgbClr val="F39D13"/>
            </a:solidFill>
            <a:ln>
              <a:noFill/>
            </a:ln>
          </p:spPr>
        </p:sp>
        <p:sp>
          <p:nvSpPr>
            <p:cNvPr id="277" name="Google Shape;277;p10"/>
            <p:cNvSpPr txBox="1"/>
            <p:nvPr/>
          </p:nvSpPr>
          <p:spPr>
            <a:xfrm>
              <a:off x="127000" y="-57150"/>
              <a:ext cx="2167423"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8" name="Google Shape;278;p10"/>
          <p:cNvGrpSpPr/>
          <p:nvPr/>
        </p:nvGrpSpPr>
        <p:grpSpPr>
          <a:xfrm>
            <a:off x="6107740" y="9305216"/>
            <a:ext cx="3086100" cy="3303091"/>
            <a:chOff x="0" y="-57150"/>
            <a:chExt cx="812800" cy="869950"/>
          </a:xfrm>
        </p:grpSpPr>
        <p:sp>
          <p:nvSpPr>
            <p:cNvPr id="279" name="Google Shape;279;p10"/>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39D13"/>
            </a:solidFill>
            <a:ln>
              <a:noFill/>
            </a:ln>
          </p:spPr>
        </p:sp>
        <p:sp>
          <p:nvSpPr>
            <p:cNvPr id="280" name="Google Shape;280;p10"/>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1" name="Google Shape;281;p10"/>
          <p:cNvGrpSpPr/>
          <p:nvPr/>
        </p:nvGrpSpPr>
        <p:grpSpPr>
          <a:xfrm rot="5400000">
            <a:off x="-4775836" y="4775836"/>
            <a:ext cx="10287000" cy="735328"/>
            <a:chOff x="0" y="-57150"/>
            <a:chExt cx="2709333" cy="193667"/>
          </a:xfrm>
        </p:grpSpPr>
        <p:sp>
          <p:nvSpPr>
            <p:cNvPr id="282" name="Google Shape;282;p10"/>
            <p:cNvSpPr/>
            <p:nvPr/>
          </p:nvSpPr>
          <p:spPr>
            <a:xfrm>
              <a:off x="0" y="0"/>
              <a:ext cx="2709333" cy="136517"/>
            </a:xfrm>
            <a:custGeom>
              <a:rect b="b" l="l" r="r" t="t"/>
              <a:pathLst>
                <a:path extrusionOk="0" h="136517" w="2709333">
                  <a:moveTo>
                    <a:pt x="203200" y="0"/>
                  </a:moveTo>
                  <a:lnTo>
                    <a:pt x="2506133" y="0"/>
                  </a:lnTo>
                  <a:lnTo>
                    <a:pt x="2709333" y="136517"/>
                  </a:lnTo>
                  <a:lnTo>
                    <a:pt x="0" y="136517"/>
                  </a:lnTo>
                  <a:lnTo>
                    <a:pt x="203200" y="0"/>
                  </a:lnTo>
                  <a:close/>
                </a:path>
              </a:pathLst>
            </a:custGeom>
            <a:solidFill>
              <a:srgbClr val="EA6F08"/>
            </a:solidFill>
            <a:ln>
              <a:noFill/>
            </a:ln>
          </p:spPr>
        </p:sp>
        <p:sp>
          <p:nvSpPr>
            <p:cNvPr id="283" name="Google Shape;283;p10"/>
            <p:cNvSpPr txBox="1"/>
            <p:nvPr/>
          </p:nvSpPr>
          <p:spPr>
            <a:xfrm>
              <a:off x="127000" y="-57150"/>
              <a:ext cx="2455333" cy="19366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4" name="Google Shape;284;p10"/>
          <p:cNvGrpSpPr/>
          <p:nvPr/>
        </p:nvGrpSpPr>
        <p:grpSpPr>
          <a:xfrm rot="10800000">
            <a:off x="0" y="-9244"/>
            <a:ext cx="9228174" cy="981784"/>
            <a:chOff x="0" y="-57150"/>
            <a:chExt cx="2430466" cy="258577"/>
          </a:xfrm>
        </p:grpSpPr>
        <p:sp>
          <p:nvSpPr>
            <p:cNvPr id="285" name="Google Shape;285;p10"/>
            <p:cNvSpPr/>
            <p:nvPr/>
          </p:nvSpPr>
          <p:spPr>
            <a:xfrm>
              <a:off x="0" y="0"/>
              <a:ext cx="2430466" cy="201427"/>
            </a:xfrm>
            <a:custGeom>
              <a:rect b="b" l="l" r="r" t="t"/>
              <a:pathLst>
                <a:path extrusionOk="0" h="201427" w="2430466">
                  <a:moveTo>
                    <a:pt x="203200" y="0"/>
                  </a:moveTo>
                  <a:lnTo>
                    <a:pt x="2227266" y="0"/>
                  </a:lnTo>
                  <a:lnTo>
                    <a:pt x="2430466" y="201427"/>
                  </a:lnTo>
                  <a:lnTo>
                    <a:pt x="0" y="201427"/>
                  </a:lnTo>
                  <a:lnTo>
                    <a:pt x="203200" y="0"/>
                  </a:lnTo>
                  <a:close/>
                </a:path>
              </a:pathLst>
            </a:custGeom>
            <a:solidFill>
              <a:srgbClr val="F08B0B"/>
            </a:solidFill>
            <a:ln>
              <a:noFill/>
            </a:ln>
          </p:spPr>
        </p:sp>
        <p:sp>
          <p:nvSpPr>
            <p:cNvPr id="286" name="Google Shape;286;p10"/>
            <p:cNvSpPr txBox="1"/>
            <p:nvPr/>
          </p:nvSpPr>
          <p:spPr>
            <a:xfrm>
              <a:off x="127000" y="-57150"/>
              <a:ext cx="2176466"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10"/>
          <p:cNvGrpSpPr/>
          <p:nvPr/>
        </p:nvGrpSpPr>
        <p:grpSpPr>
          <a:xfrm rot="10800000">
            <a:off x="6142074" y="-2330551"/>
            <a:ext cx="3086100" cy="3303091"/>
            <a:chOff x="0" y="-57150"/>
            <a:chExt cx="812800" cy="869950"/>
          </a:xfrm>
        </p:grpSpPr>
        <p:sp>
          <p:nvSpPr>
            <p:cNvPr id="288" name="Google Shape;288;p10"/>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08B0B"/>
            </a:solidFill>
            <a:ln>
              <a:noFill/>
            </a:ln>
          </p:spPr>
        </p:sp>
        <p:sp>
          <p:nvSpPr>
            <p:cNvPr id="289" name="Google Shape;289;p10"/>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10"/>
          <p:cNvSpPr/>
          <p:nvPr/>
        </p:nvSpPr>
        <p:spPr>
          <a:xfrm>
            <a:off x="418657" y="377775"/>
            <a:ext cx="15653086" cy="9531451"/>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0"/>
          <p:cNvSpPr txBox="1"/>
          <p:nvPr/>
        </p:nvSpPr>
        <p:spPr>
          <a:xfrm>
            <a:off x="11019849" y="1712605"/>
            <a:ext cx="6527400" cy="492600"/>
          </a:xfrm>
          <a:prstGeom prst="rect">
            <a:avLst/>
          </a:prstGeom>
          <a:noFill/>
          <a:ln>
            <a:noFill/>
          </a:ln>
        </p:spPr>
        <p:txBody>
          <a:bodyPr anchorCtr="0" anchor="t" bIns="0" lIns="0" spcFirstLastPara="1" rIns="0" wrap="square" tIns="0">
            <a:spAutoFit/>
          </a:bodyPr>
          <a:lstStyle/>
          <a:p>
            <a:pPr indent="0" lvl="0" marL="0" marR="0" rtl="0" algn="r">
              <a:lnSpc>
                <a:spcPct val="130000"/>
              </a:lnSpc>
              <a:spcBef>
                <a:spcPts val="0"/>
              </a:spcBef>
              <a:spcAft>
                <a:spcPts val="0"/>
              </a:spcAft>
              <a:buClr>
                <a:srgbClr val="000000"/>
              </a:buClr>
              <a:buSzPts val="3200"/>
              <a:buFont typeface="Arial"/>
              <a:buNone/>
            </a:pPr>
            <a:r>
              <a:rPr b="1" lang="en-US" sz="3200">
                <a:solidFill>
                  <a:srgbClr val="2F2F2F"/>
                </a:solidFill>
                <a:latin typeface="Barlow Medium"/>
                <a:ea typeface="Barlow Medium"/>
                <a:cs typeface="Barlow Medium"/>
                <a:sym typeface="Barlow Medium"/>
              </a:rPr>
              <a:t>BMI Analysis</a:t>
            </a:r>
            <a:endParaRPr b="0" i="0" sz="1400" u="none" cap="none" strike="noStrike">
              <a:solidFill>
                <a:srgbClr val="000000"/>
              </a:solidFill>
              <a:latin typeface="Arial"/>
              <a:ea typeface="Arial"/>
              <a:cs typeface="Arial"/>
              <a:sym typeface="Arial"/>
            </a:endParaRPr>
          </a:p>
        </p:txBody>
      </p:sp>
      <p:sp>
        <p:nvSpPr>
          <p:cNvPr id="292" name="Google Shape;292;p10"/>
          <p:cNvSpPr txBox="1"/>
          <p:nvPr/>
        </p:nvSpPr>
        <p:spPr>
          <a:xfrm>
            <a:off x="11019849" y="274330"/>
            <a:ext cx="6527400" cy="1477800"/>
          </a:xfrm>
          <a:prstGeom prst="rect">
            <a:avLst/>
          </a:prstGeom>
          <a:noFill/>
          <a:ln>
            <a:noFill/>
          </a:ln>
        </p:spPr>
        <p:txBody>
          <a:bodyPr anchorCtr="0" anchor="t" bIns="0" lIns="0" spcFirstLastPara="1" rIns="0" wrap="square" tIns="0">
            <a:spAutoFit/>
          </a:bodyPr>
          <a:lstStyle/>
          <a:p>
            <a:pPr indent="0" lvl="0" marL="0" marR="0" rtl="0" algn="r">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Results</a:t>
            </a:r>
            <a:endParaRPr b="0" i="0" sz="1400" u="none" cap="none" strike="noStrike">
              <a:solidFill>
                <a:srgbClr val="000000"/>
              </a:solidFill>
              <a:latin typeface="Arial"/>
              <a:ea typeface="Arial"/>
              <a:cs typeface="Arial"/>
              <a:sym typeface="Arial"/>
            </a:endParaRPr>
          </a:p>
        </p:txBody>
      </p:sp>
      <p:grpSp>
        <p:nvGrpSpPr>
          <p:cNvPr id="293" name="Google Shape;293;p10"/>
          <p:cNvGrpSpPr/>
          <p:nvPr/>
        </p:nvGrpSpPr>
        <p:grpSpPr>
          <a:xfrm>
            <a:off x="10790537" y="2937307"/>
            <a:ext cx="6757091" cy="6931989"/>
            <a:chOff x="-258667" y="-3447617"/>
            <a:chExt cx="7969208" cy="9242652"/>
          </a:xfrm>
        </p:grpSpPr>
        <p:sp>
          <p:nvSpPr>
            <p:cNvPr id="294" name="Google Shape;294;p10"/>
            <p:cNvSpPr txBox="1"/>
            <p:nvPr/>
          </p:nvSpPr>
          <p:spPr>
            <a:xfrm>
              <a:off x="-258659" y="-1242365"/>
              <a:ext cx="7969200" cy="7037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000"/>
                <a:buFont typeface="Arial"/>
                <a:buNone/>
              </a:pPr>
              <a:r>
                <a:rPr lang="en-US" sz="2700">
                  <a:solidFill>
                    <a:srgbClr val="2F2F2F"/>
                  </a:solidFill>
                  <a:latin typeface="Barlow Light"/>
                  <a:ea typeface="Barlow Light"/>
                  <a:cs typeface="Barlow Light"/>
                  <a:sym typeface="Barlow Light"/>
                </a:rPr>
                <a:t>The chart shows that responders had an average BMI of 32.9, compared to 31.9 for non-responders. Although the difference was relatively small, responders consistently showed a slightly higher BMI on average. This suggests that BMI may have had some influence on treatment response, but it did not appear to be a major predictor of outcome when compared to factors such as protein concentration. </a:t>
              </a:r>
              <a:endParaRPr sz="2700">
                <a:solidFill>
                  <a:srgbClr val="2F2F2F"/>
                </a:solidFill>
                <a:latin typeface="Barlow Light"/>
                <a:ea typeface="Barlow Light"/>
                <a:cs typeface="Barlow Light"/>
                <a:sym typeface="Barlow Light"/>
              </a:endParaRPr>
            </a:p>
          </p:txBody>
        </p:sp>
        <p:sp>
          <p:nvSpPr>
            <p:cNvPr id="295" name="Google Shape;295;p10"/>
            <p:cNvSpPr txBox="1"/>
            <p:nvPr/>
          </p:nvSpPr>
          <p:spPr>
            <a:xfrm>
              <a:off x="-258667" y="-3447617"/>
              <a:ext cx="7969200" cy="216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Clr>
                  <a:schemeClr val="dk1"/>
                </a:buClr>
                <a:buSzPts val="1100"/>
                <a:buFont typeface="Arial"/>
                <a:buNone/>
              </a:pPr>
              <a:r>
                <a:rPr b="1" lang="en-US" sz="3200">
                  <a:solidFill>
                    <a:srgbClr val="2F2F2F"/>
                  </a:solidFill>
                  <a:latin typeface="Barlow"/>
                  <a:ea typeface="Barlow"/>
                  <a:cs typeface="Barlow"/>
                  <a:sym typeface="Barlow"/>
                </a:rPr>
                <a:t>Responders had lower average protein concentrations than non-responders.</a:t>
              </a:r>
              <a:endParaRPr b="1" sz="3200">
                <a:solidFill>
                  <a:srgbClr val="2F2F2F"/>
                </a:solidFill>
                <a:latin typeface="Barlow"/>
                <a:ea typeface="Barlow"/>
                <a:cs typeface="Barlow"/>
                <a:sym typeface="Barlow"/>
              </a:endParaRPr>
            </a:p>
          </p:txBody>
        </p:sp>
      </p:grpSp>
      <p:pic>
        <p:nvPicPr>
          <p:cNvPr id="296" name="Google Shape;296;p10" title="Chart"/>
          <p:cNvPicPr preferRelativeResize="0"/>
          <p:nvPr/>
        </p:nvPicPr>
        <p:blipFill>
          <a:blip r:embed="rId3">
            <a:alphaModFix/>
          </a:blip>
          <a:stretch>
            <a:fillRect/>
          </a:stretch>
        </p:blipFill>
        <p:spPr>
          <a:xfrm>
            <a:off x="735325" y="2198101"/>
            <a:ext cx="9526899" cy="58907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F1"/>
        </a:solidFill>
      </p:bgPr>
    </p:bg>
    <p:spTree>
      <p:nvGrpSpPr>
        <p:cNvPr id="304" name="Shape 304"/>
        <p:cNvGrpSpPr/>
        <p:nvPr/>
      </p:nvGrpSpPr>
      <p:grpSpPr>
        <a:xfrm>
          <a:off x="0" y="0"/>
          <a:ext cx="0" cy="0"/>
          <a:chOff x="0" y="0"/>
          <a:chExt cx="0" cy="0"/>
        </a:xfrm>
      </p:grpSpPr>
      <p:grpSp>
        <p:nvGrpSpPr>
          <p:cNvPr id="305" name="Google Shape;305;p12"/>
          <p:cNvGrpSpPr/>
          <p:nvPr/>
        </p:nvGrpSpPr>
        <p:grpSpPr>
          <a:xfrm>
            <a:off x="1028700" y="3125775"/>
            <a:ext cx="5293498" cy="6067207"/>
            <a:chOff x="0" y="0"/>
            <a:chExt cx="7057997" cy="7796462"/>
          </a:xfrm>
        </p:grpSpPr>
        <p:grpSp>
          <p:nvGrpSpPr>
            <p:cNvPr id="306" name="Google Shape;306;p12"/>
            <p:cNvGrpSpPr/>
            <p:nvPr/>
          </p:nvGrpSpPr>
          <p:grpSpPr>
            <a:xfrm>
              <a:off x="0" y="1010414"/>
              <a:ext cx="7057997" cy="6786048"/>
              <a:chOff x="0" y="-38097"/>
              <a:chExt cx="1394172" cy="1340454"/>
            </a:xfrm>
          </p:grpSpPr>
          <p:sp>
            <p:nvSpPr>
              <p:cNvPr id="307" name="Google Shape;307;p12"/>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2"/>
              <p:cNvSpPr txBox="1"/>
              <p:nvPr/>
            </p:nvSpPr>
            <p:spPr>
              <a:xfrm>
                <a:off x="0" y="-38097"/>
                <a:ext cx="1394100" cy="1200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9" name="Google Shape;309;p12"/>
            <p:cNvGrpSpPr/>
            <p:nvPr/>
          </p:nvGrpSpPr>
          <p:grpSpPr>
            <a:xfrm>
              <a:off x="2548145" y="0"/>
              <a:ext cx="1961707" cy="1961707"/>
              <a:chOff x="0" y="0"/>
              <a:chExt cx="812800" cy="812800"/>
            </a:xfrm>
          </p:grpSpPr>
          <p:sp>
            <p:nvSpPr>
              <p:cNvPr id="310" name="Google Shape;310;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2" name="Google Shape;312;p12"/>
            <p:cNvSpPr/>
            <p:nvPr/>
          </p:nvSpPr>
          <p:spPr>
            <a:xfrm>
              <a:off x="3100087" y="394498"/>
              <a:ext cx="846481" cy="964650"/>
            </a:xfrm>
            <a:custGeom>
              <a:rect b="b" l="l" r="r" t="t"/>
              <a:pathLst>
                <a:path extrusionOk="0" h="964650" w="846481">
                  <a:moveTo>
                    <a:pt x="0" y="0"/>
                  </a:moveTo>
                  <a:lnTo>
                    <a:pt x="846481" y="0"/>
                  </a:lnTo>
                  <a:lnTo>
                    <a:pt x="846481" y="964650"/>
                  </a:lnTo>
                  <a:lnTo>
                    <a:pt x="0" y="964650"/>
                  </a:lnTo>
                  <a:lnTo>
                    <a:pt x="0" y="0"/>
                  </a:lnTo>
                  <a:close/>
                </a:path>
              </a:pathLst>
            </a:custGeom>
            <a:blipFill rotWithShape="1">
              <a:blip r:embed="rId3">
                <a:alphaModFix/>
              </a:blip>
              <a:stretch>
                <a:fillRect b="0" l="0" r="0" t="0"/>
              </a:stretch>
            </a:blipFill>
            <a:ln>
              <a:noFill/>
            </a:ln>
          </p:spPr>
        </p:sp>
      </p:grpSp>
      <p:grpSp>
        <p:nvGrpSpPr>
          <p:cNvPr id="313" name="Google Shape;313;p12"/>
          <p:cNvGrpSpPr/>
          <p:nvPr/>
        </p:nvGrpSpPr>
        <p:grpSpPr>
          <a:xfrm>
            <a:off x="6497250" y="3125775"/>
            <a:ext cx="5293498" cy="6067207"/>
            <a:chOff x="0" y="0"/>
            <a:chExt cx="7057997" cy="7796462"/>
          </a:xfrm>
        </p:grpSpPr>
        <p:grpSp>
          <p:nvGrpSpPr>
            <p:cNvPr id="314" name="Google Shape;314;p12"/>
            <p:cNvGrpSpPr/>
            <p:nvPr/>
          </p:nvGrpSpPr>
          <p:grpSpPr>
            <a:xfrm>
              <a:off x="0" y="1010401"/>
              <a:ext cx="7057997" cy="6786061"/>
              <a:chOff x="0" y="-38100"/>
              <a:chExt cx="1394172" cy="1340457"/>
            </a:xfrm>
          </p:grpSpPr>
          <p:sp>
            <p:nvSpPr>
              <p:cNvPr id="315" name="Google Shape;315;p12"/>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2"/>
              <p:cNvSpPr txBox="1"/>
              <p:nvPr/>
            </p:nvSpPr>
            <p:spPr>
              <a:xfrm>
                <a:off x="0" y="-38100"/>
                <a:ext cx="1394172" cy="13404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7" name="Google Shape;317;p12"/>
            <p:cNvGrpSpPr/>
            <p:nvPr/>
          </p:nvGrpSpPr>
          <p:grpSpPr>
            <a:xfrm>
              <a:off x="2548145" y="0"/>
              <a:ext cx="1961707" cy="1961707"/>
              <a:chOff x="0" y="0"/>
              <a:chExt cx="812800" cy="812800"/>
            </a:xfrm>
          </p:grpSpPr>
          <p:sp>
            <p:nvSpPr>
              <p:cNvPr id="318" name="Google Shape;318;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0" name="Google Shape;320;p12"/>
            <p:cNvSpPr/>
            <p:nvPr/>
          </p:nvSpPr>
          <p:spPr>
            <a:xfrm>
              <a:off x="3055133" y="394498"/>
              <a:ext cx="947730" cy="1097227"/>
            </a:xfrm>
            <a:custGeom>
              <a:rect b="b" l="l" r="r" t="t"/>
              <a:pathLst>
                <a:path extrusionOk="0" h="1097227" w="947730">
                  <a:moveTo>
                    <a:pt x="0" y="0"/>
                  </a:moveTo>
                  <a:lnTo>
                    <a:pt x="947730" y="0"/>
                  </a:lnTo>
                  <a:lnTo>
                    <a:pt x="947730" y="1097227"/>
                  </a:lnTo>
                  <a:lnTo>
                    <a:pt x="0" y="1097227"/>
                  </a:lnTo>
                  <a:lnTo>
                    <a:pt x="0" y="0"/>
                  </a:lnTo>
                  <a:close/>
                </a:path>
              </a:pathLst>
            </a:custGeom>
            <a:blipFill rotWithShape="1">
              <a:blip r:embed="rId4">
                <a:alphaModFix/>
              </a:blip>
              <a:stretch>
                <a:fillRect b="0" l="0" r="0" t="0"/>
              </a:stretch>
            </a:blipFill>
            <a:ln>
              <a:noFill/>
            </a:ln>
          </p:spPr>
        </p:sp>
      </p:grpSp>
      <p:grpSp>
        <p:nvGrpSpPr>
          <p:cNvPr id="321" name="Google Shape;321;p12"/>
          <p:cNvGrpSpPr/>
          <p:nvPr/>
        </p:nvGrpSpPr>
        <p:grpSpPr>
          <a:xfrm>
            <a:off x="11965800" y="3125775"/>
            <a:ext cx="5293498" cy="6067207"/>
            <a:chOff x="0" y="0"/>
            <a:chExt cx="7057997" cy="7796462"/>
          </a:xfrm>
        </p:grpSpPr>
        <p:grpSp>
          <p:nvGrpSpPr>
            <p:cNvPr id="322" name="Google Shape;322;p12"/>
            <p:cNvGrpSpPr/>
            <p:nvPr/>
          </p:nvGrpSpPr>
          <p:grpSpPr>
            <a:xfrm>
              <a:off x="0" y="1010401"/>
              <a:ext cx="7057997" cy="6786061"/>
              <a:chOff x="0" y="-38100"/>
              <a:chExt cx="1394172" cy="1340457"/>
            </a:xfrm>
          </p:grpSpPr>
          <p:sp>
            <p:nvSpPr>
              <p:cNvPr id="323" name="Google Shape;323;p12"/>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2"/>
              <p:cNvSpPr txBox="1"/>
              <p:nvPr/>
            </p:nvSpPr>
            <p:spPr>
              <a:xfrm>
                <a:off x="0" y="-38100"/>
                <a:ext cx="1394172" cy="13404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5" name="Google Shape;325;p12"/>
            <p:cNvGrpSpPr/>
            <p:nvPr/>
          </p:nvGrpSpPr>
          <p:grpSpPr>
            <a:xfrm>
              <a:off x="2547895" y="0"/>
              <a:ext cx="1961707" cy="1961707"/>
              <a:chOff x="0" y="0"/>
              <a:chExt cx="812800" cy="812800"/>
            </a:xfrm>
          </p:grpSpPr>
          <p:sp>
            <p:nvSpPr>
              <p:cNvPr id="326" name="Google Shape;326;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sp>
        <p:nvSpPr>
          <p:cNvPr id="328" name="Google Shape;328;p12"/>
          <p:cNvSpPr/>
          <p:nvPr/>
        </p:nvSpPr>
        <p:spPr>
          <a:xfrm>
            <a:off x="14303395" y="3421641"/>
            <a:ext cx="637362" cy="825064"/>
          </a:xfrm>
          <a:custGeom>
            <a:rect b="b" l="l" r="r" t="t"/>
            <a:pathLst>
              <a:path extrusionOk="0" h="825064" w="637362">
                <a:moveTo>
                  <a:pt x="0" y="0"/>
                </a:moveTo>
                <a:lnTo>
                  <a:pt x="637362" y="0"/>
                </a:lnTo>
                <a:lnTo>
                  <a:pt x="637362" y="825065"/>
                </a:lnTo>
                <a:lnTo>
                  <a:pt x="0" y="825065"/>
                </a:lnTo>
                <a:lnTo>
                  <a:pt x="0" y="0"/>
                </a:lnTo>
                <a:close/>
              </a:path>
            </a:pathLst>
          </a:custGeom>
          <a:blipFill rotWithShape="1">
            <a:blip r:embed="rId5">
              <a:alphaModFix/>
            </a:blip>
            <a:stretch>
              <a:fillRect b="0" l="0" r="0" t="0"/>
            </a:stretch>
          </a:blipFill>
          <a:ln>
            <a:noFill/>
          </a:ln>
        </p:spPr>
      </p:sp>
      <p:sp>
        <p:nvSpPr>
          <p:cNvPr id="329" name="Google Shape;329;p12"/>
          <p:cNvSpPr txBox="1"/>
          <p:nvPr/>
        </p:nvSpPr>
        <p:spPr>
          <a:xfrm>
            <a:off x="1028700" y="1304925"/>
            <a:ext cx="16230600" cy="1249343"/>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Clr>
                <a:srgbClr val="000000"/>
              </a:buClr>
              <a:buSzPts val="10041"/>
              <a:buFont typeface="Arial"/>
              <a:buNone/>
            </a:pPr>
            <a:r>
              <a:rPr b="1" i="0" lang="en-US" sz="10041" u="none" cap="none" strike="noStrike">
                <a:solidFill>
                  <a:srgbClr val="E55E11"/>
                </a:solidFill>
                <a:latin typeface="Raleway Medium"/>
                <a:ea typeface="Raleway Medium"/>
                <a:cs typeface="Raleway Medium"/>
                <a:sym typeface="Raleway Medium"/>
              </a:rPr>
              <a:t>Conclusion</a:t>
            </a:r>
            <a:endParaRPr b="0" i="0" sz="1400" u="none" cap="none" strike="noStrike">
              <a:solidFill>
                <a:srgbClr val="000000"/>
              </a:solidFill>
              <a:latin typeface="Arial"/>
              <a:ea typeface="Arial"/>
              <a:cs typeface="Arial"/>
              <a:sym typeface="Arial"/>
            </a:endParaRPr>
          </a:p>
        </p:txBody>
      </p:sp>
      <p:sp>
        <p:nvSpPr>
          <p:cNvPr id="330" name="Google Shape;330;p12"/>
          <p:cNvSpPr txBox="1"/>
          <p:nvPr/>
        </p:nvSpPr>
        <p:spPr>
          <a:xfrm>
            <a:off x="1627876" y="4514004"/>
            <a:ext cx="4097850" cy="120967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Clr>
                <a:srgbClr val="000000"/>
              </a:buClr>
              <a:buSzPts val="5000"/>
              <a:buFont typeface="Arial"/>
              <a:buNone/>
            </a:pPr>
            <a:r>
              <a:rPr b="1" i="0" lang="en-US" sz="5000" u="none" cap="none" strike="noStrike">
                <a:solidFill>
                  <a:srgbClr val="E55E11"/>
                </a:solidFill>
                <a:latin typeface="Raleway Medium"/>
                <a:ea typeface="Raleway Medium"/>
                <a:cs typeface="Raleway Medium"/>
                <a:sym typeface="Raleway Medium"/>
              </a:rPr>
              <a:t>Key Takeaways:</a:t>
            </a:r>
            <a:endParaRPr b="0" i="0" sz="1400" u="none" cap="none" strike="noStrike">
              <a:solidFill>
                <a:srgbClr val="000000"/>
              </a:solidFill>
              <a:latin typeface="Arial"/>
              <a:ea typeface="Arial"/>
              <a:cs typeface="Arial"/>
              <a:sym typeface="Arial"/>
            </a:endParaRPr>
          </a:p>
        </p:txBody>
      </p:sp>
      <p:sp>
        <p:nvSpPr>
          <p:cNvPr id="331" name="Google Shape;331;p12"/>
          <p:cNvSpPr txBox="1"/>
          <p:nvPr/>
        </p:nvSpPr>
        <p:spPr>
          <a:xfrm>
            <a:off x="7096427" y="4799754"/>
            <a:ext cx="4095146" cy="63817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Clr>
                <a:srgbClr val="000000"/>
              </a:buClr>
              <a:buSzPts val="5000"/>
              <a:buFont typeface="Arial"/>
              <a:buNone/>
            </a:pPr>
            <a:r>
              <a:rPr b="1" i="0" lang="en-US" sz="5000" u="none" cap="none" strike="noStrike">
                <a:solidFill>
                  <a:srgbClr val="E55E11"/>
                </a:solidFill>
                <a:latin typeface="Raleway Medium"/>
                <a:ea typeface="Raleway Medium"/>
                <a:cs typeface="Raleway Medium"/>
                <a:sym typeface="Raleway Medium"/>
              </a:rPr>
              <a:t>Implications:</a:t>
            </a:r>
            <a:endParaRPr b="0" i="0" sz="1400" u="none" cap="none" strike="noStrike">
              <a:solidFill>
                <a:srgbClr val="000000"/>
              </a:solidFill>
              <a:latin typeface="Arial"/>
              <a:ea typeface="Arial"/>
              <a:cs typeface="Arial"/>
              <a:sym typeface="Arial"/>
            </a:endParaRPr>
          </a:p>
        </p:txBody>
      </p:sp>
      <p:sp>
        <p:nvSpPr>
          <p:cNvPr id="332" name="Google Shape;332;p12"/>
          <p:cNvSpPr txBox="1"/>
          <p:nvPr/>
        </p:nvSpPr>
        <p:spPr>
          <a:xfrm>
            <a:off x="12564978" y="4799754"/>
            <a:ext cx="4095146" cy="63817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Clr>
                <a:srgbClr val="000000"/>
              </a:buClr>
              <a:buSzPts val="5000"/>
              <a:buFont typeface="Arial"/>
              <a:buNone/>
            </a:pPr>
            <a:r>
              <a:rPr b="1" i="0" lang="en-US" sz="5000" u="none" cap="none" strike="noStrike">
                <a:solidFill>
                  <a:srgbClr val="E55E11"/>
                </a:solidFill>
                <a:latin typeface="Raleway Medium"/>
                <a:ea typeface="Raleway Medium"/>
                <a:cs typeface="Raleway Medium"/>
                <a:sym typeface="Raleway Medium"/>
              </a:rPr>
              <a:t>Next Steps:</a:t>
            </a:r>
            <a:endParaRPr b="0" i="0" sz="1400" u="none" cap="none" strike="noStrike">
              <a:solidFill>
                <a:srgbClr val="000000"/>
              </a:solidFill>
              <a:latin typeface="Arial"/>
              <a:ea typeface="Arial"/>
              <a:cs typeface="Arial"/>
              <a:sym typeface="Arial"/>
            </a:endParaRPr>
          </a:p>
        </p:txBody>
      </p:sp>
      <p:sp>
        <p:nvSpPr>
          <p:cNvPr id="333" name="Google Shape;333;p12"/>
          <p:cNvSpPr txBox="1"/>
          <p:nvPr/>
        </p:nvSpPr>
        <p:spPr>
          <a:xfrm>
            <a:off x="1627876" y="6142779"/>
            <a:ext cx="4095000" cy="32985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120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Miraculon-B performed better than the control treatment.</a:t>
            </a:r>
            <a:endParaRPr b="1" sz="1800">
              <a:solidFill>
                <a:srgbClr val="E55E11"/>
              </a:solidFill>
              <a:latin typeface="Raleway SemiBold"/>
              <a:ea typeface="Raleway SemiBold"/>
              <a:cs typeface="Raleway SemiBold"/>
              <a:sym typeface="Raleway SemiBold"/>
            </a:endParaRPr>
          </a:p>
          <a:p>
            <a:pPr indent="-298450" lvl="0" marL="457200" rtl="0" algn="l">
              <a:lnSpc>
                <a:spcPct val="115000"/>
              </a:lnSpc>
              <a:spcBef>
                <a:spcPts val="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Lower protein levels were linked to better response.</a:t>
            </a:r>
            <a:endParaRPr b="1" sz="1800">
              <a:solidFill>
                <a:srgbClr val="E55E11"/>
              </a:solidFill>
              <a:latin typeface="Raleway SemiBold"/>
              <a:ea typeface="Raleway SemiBold"/>
              <a:cs typeface="Raleway SemiBold"/>
              <a:sym typeface="Raleway SemiBold"/>
            </a:endParaRPr>
          </a:p>
          <a:p>
            <a:pPr indent="-298450" lvl="0" marL="457200" rtl="0" algn="l">
              <a:lnSpc>
                <a:spcPct val="115000"/>
              </a:lnSpc>
              <a:spcBef>
                <a:spcPts val="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Age had little effect on response.</a:t>
            </a:r>
            <a:endParaRPr b="1" sz="1800">
              <a:solidFill>
                <a:srgbClr val="E55E11"/>
              </a:solidFill>
              <a:latin typeface="Raleway SemiBold"/>
              <a:ea typeface="Raleway SemiBold"/>
              <a:cs typeface="Raleway SemiBold"/>
              <a:sym typeface="Raleway SemiBold"/>
            </a:endParaRPr>
          </a:p>
          <a:p>
            <a:pPr indent="-298450" lvl="0" marL="457200" rtl="0" algn="l">
              <a:lnSpc>
                <a:spcPct val="115000"/>
              </a:lnSpc>
              <a:spcBef>
                <a:spcPts val="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BMI showed only small differences.</a:t>
            </a:r>
            <a:endParaRPr b="1" sz="1800">
              <a:solidFill>
                <a:srgbClr val="E55E11"/>
              </a:solidFill>
              <a:latin typeface="Raleway SemiBold"/>
              <a:ea typeface="Raleway SemiBold"/>
              <a:cs typeface="Raleway SemiBold"/>
              <a:sym typeface="Raleway SemiBold"/>
            </a:endParaRPr>
          </a:p>
          <a:p>
            <a:pPr indent="-298450" lvl="0" marL="457200" rtl="0" algn="l">
              <a:lnSpc>
                <a:spcPct val="115000"/>
              </a:lnSpc>
              <a:spcBef>
                <a:spcPts val="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Protein levels may help predict response.</a:t>
            </a:r>
            <a:endParaRPr b="1" sz="1800">
              <a:solidFill>
                <a:srgbClr val="E55E11"/>
              </a:solidFill>
              <a:latin typeface="Raleway SemiBold"/>
              <a:ea typeface="Raleway SemiBold"/>
              <a:cs typeface="Raleway SemiBold"/>
              <a:sym typeface="Raleway SemiBold"/>
            </a:endParaRPr>
          </a:p>
          <a:p>
            <a:pPr indent="0" lvl="0" marL="0" marR="0" rtl="0" algn="l">
              <a:lnSpc>
                <a:spcPct val="140000"/>
              </a:lnSpc>
              <a:spcBef>
                <a:spcPts val="1200"/>
              </a:spcBef>
              <a:spcAft>
                <a:spcPts val="0"/>
              </a:spcAft>
              <a:buClr>
                <a:srgbClr val="000000"/>
              </a:buClr>
              <a:buSzPts val="1800"/>
              <a:buFont typeface="Arial"/>
              <a:buNone/>
            </a:pPr>
            <a:r>
              <a:t/>
            </a:r>
            <a:endParaRPr b="1" sz="1800">
              <a:solidFill>
                <a:srgbClr val="E55E11"/>
              </a:solidFill>
              <a:latin typeface="Raleway SemiBold"/>
              <a:ea typeface="Raleway SemiBold"/>
              <a:cs typeface="Raleway SemiBold"/>
              <a:sym typeface="Raleway SemiBold"/>
            </a:endParaRPr>
          </a:p>
        </p:txBody>
      </p:sp>
      <p:sp>
        <p:nvSpPr>
          <p:cNvPr id="334" name="Google Shape;334;p12"/>
          <p:cNvSpPr txBox="1"/>
          <p:nvPr/>
        </p:nvSpPr>
        <p:spPr>
          <a:xfrm>
            <a:off x="7096427" y="6142779"/>
            <a:ext cx="4095000" cy="29799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120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Miraculon-B may improve treatment outcomes.</a:t>
            </a:r>
            <a:endParaRPr b="1" sz="1800">
              <a:solidFill>
                <a:srgbClr val="E55E11"/>
              </a:solidFill>
              <a:latin typeface="Raleway SemiBold"/>
              <a:ea typeface="Raleway SemiBold"/>
              <a:cs typeface="Raleway SemiBold"/>
              <a:sym typeface="Raleway SemiBold"/>
            </a:endParaRPr>
          </a:p>
          <a:p>
            <a:pPr indent="-298450" lvl="0" marL="457200" rtl="0" algn="l">
              <a:lnSpc>
                <a:spcPct val="115000"/>
              </a:lnSpc>
              <a:spcBef>
                <a:spcPts val="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Protein levels may help predict response.</a:t>
            </a:r>
            <a:endParaRPr b="1" sz="1800">
              <a:solidFill>
                <a:srgbClr val="E55E11"/>
              </a:solidFill>
              <a:latin typeface="Raleway SemiBold"/>
              <a:ea typeface="Raleway SemiBold"/>
              <a:cs typeface="Raleway SemiBold"/>
              <a:sym typeface="Raleway SemiBold"/>
            </a:endParaRPr>
          </a:p>
          <a:p>
            <a:pPr indent="-298450" lvl="0" marL="457200" rtl="0" algn="l">
              <a:lnSpc>
                <a:spcPct val="115000"/>
              </a:lnSpc>
              <a:spcBef>
                <a:spcPts val="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Patient treatment could become more personalised.</a:t>
            </a:r>
            <a:endParaRPr b="1" sz="1800">
              <a:solidFill>
                <a:srgbClr val="E55E11"/>
              </a:solidFill>
              <a:latin typeface="Raleway SemiBold"/>
              <a:ea typeface="Raleway SemiBold"/>
              <a:cs typeface="Raleway SemiBold"/>
              <a:sym typeface="Raleway SemiBold"/>
            </a:endParaRPr>
          </a:p>
          <a:p>
            <a:pPr indent="-298450" lvl="0" marL="457200" rtl="0" algn="l">
              <a:lnSpc>
                <a:spcPct val="115000"/>
              </a:lnSpc>
              <a:spcBef>
                <a:spcPts val="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Further research may improve treatment decisions.</a:t>
            </a:r>
            <a:endParaRPr b="1" sz="1800">
              <a:solidFill>
                <a:srgbClr val="E55E11"/>
              </a:solidFill>
              <a:latin typeface="Raleway SemiBold"/>
              <a:ea typeface="Raleway SemiBold"/>
              <a:cs typeface="Raleway SemiBold"/>
              <a:sym typeface="Raleway SemiBold"/>
            </a:endParaRPr>
          </a:p>
          <a:p>
            <a:pPr indent="0" lvl="0" marL="0" marR="0" rtl="0" algn="l">
              <a:lnSpc>
                <a:spcPct val="140000"/>
              </a:lnSpc>
              <a:spcBef>
                <a:spcPts val="1200"/>
              </a:spcBef>
              <a:spcAft>
                <a:spcPts val="0"/>
              </a:spcAft>
              <a:buClr>
                <a:srgbClr val="000000"/>
              </a:buClr>
              <a:buSzPts val="1800"/>
              <a:buFont typeface="Arial"/>
              <a:buNone/>
            </a:pPr>
            <a:r>
              <a:t/>
            </a:r>
            <a:endParaRPr b="1" sz="1800">
              <a:solidFill>
                <a:srgbClr val="E55E11"/>
              </a:solidFill>
              <a:latin typeface="Raleway SemiBold"/>
              <a:ea typeface="Raleway SemiBold"/>
              <a:cs typeface="Raleway SemiBold"/>
              <a:sym typeface="Raleway SemiBold"/>
            </a:endParaRPr>
          </a:p>
        </p:txBody>
      </p:sp>
      <p:sp>
        <p:nvSpPr>
          <p:cNvPr id="335" name="Google Shape;335;p12"/>
          <p:cNvSpPr txBox="1"/>
          <p:nvPr/>
        </p:nvSpPr>
        <p:spPr>
          <a:xfrm>
            <a:off x="12564978" y="6142779"/>
            <a:ext cx="4095000" cy="2979900"/>
          </a:xfrm>
          <a:prstGeom prst="rect">
            <a:avLst/>
          </a:prstGeom>
          <a:noFill/>
          <a:ln>
            <a:noFill/>
          </a:ln>
        </p:spPr>
        <p:txBody>
          <a:bodyPr anchorCtr="0" anchor="t" bIns="0" lIns="0" spcFirstLastPara="1" rIns="0" wrap="square" tIns="0">
            <a:spAutoFit/>
          </a:bodyPr>
          <a:lstStyle/>
          <a:p>
            <a:pPr indent="-298450" lvl="0" marL="457200" rtl="0" algn="l">
              <a:lnSpc>
                <a:spcPct val="115000"/>
              </a:lnSpc>
              <a:spcBef>
                <a:spcPts val="120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Further investigate protein levels as a biomarker.</a:t>
            </a:r>
            <a:endParaRPr b="1" sz="1800">
              <a:solidFill>
                <a:srgbClr val="E55E11"/>
              </a:solidFill>
              <a:latin typeface="Raleway SemiBold"/>
              <a:ea typeface="Raleway SemiBold"/>
              <a:cs typeface="Raleway SemiBold"/>
              <a:sym typeface="Raleway SemiBold"/>
            </a:endParaRPr>
          </a:p>
          <a:p>
            <a:pPr indent="-298450" lvl="0" marL="457200" rtl="0" algn="l">
              <a:lnSpc>
                <a:spcPct val="115000"/>
              </a:lnSpc>
              <a:spcBef>
                <a:spcPts val="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Analyse additional patient factors.</a:t>
            </a:r>
            <a:endParaRPr b="1" sz="1800">
              <a:solidFill>
                <a:srgbClr val="E55E11"/>
              </a:solidFill>
              <a:latin typeface="Raleway SemiBold"/>
              <a:ea typeface="Raleway SemiBold"/>
              <a:cs typeface="Raleway SemiBold"/>
              <a:sym typeface="Raleway SemiBold"/>
            </a:endParaRPr>
          </a:p>
          <a:p>
            <a:pPr indent="-298450" lvl="0" marL="457200" rtl="0" algn="l">
              <a:lnSpc>
                <a:spcPct val="115000"/>
              </a:lnSpc>
              <a:spcBef>
                <a:spcPts val="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Explore predictive modelling techniques.</a:t>
            </a:r>
            <a:endParaRPr b="1" sz="1800">
              <a:solidFill>
                <a:srgbClr val="E55E11"/>
              </a:solidFill>
              <a:latin typeface="Raleway SemiBold"/>
              <a:ea typeface="Raleway SemiBold"/>
              <a:cs typeface="Raleway SemiBold"/>
              <a:sym typeface="Raleway SemiBold"/>
            </a:endParaRPr>
          </a:p>
          <a:p>
            <a:pPr indent="-298450" lvl="0" marL="457200" rtl="0" algn="l">
              <a:lnSpc>
                <a:spcPct val="115000"/>
              </a:lnSpc>
              <a:spcBef>
                <a:spcPts val="0"/>
              </a:spcBef>
              <a:spcAft>
                <a:spcPts val="0"/>
              </a:spcAft>
              <a:buClr>
                <a:schemeClr val="dk1"/>
              </a:buClr>
              <a:buSzPts val="1100"/>
              <a:buChar char="●"/>
            </a:pPr>
            <a:r>
              <a:rPr b="1" lang="en-US" sz="1800">
                <a:solidFill>
                  <a:srgbClr val="E55E11"/>
                </a:solidFill>
                <a:latin typeface="Raleway SemiBold"/>
                <a:ea typeface="Raleway SemiBold"/>
                <a:cs typeface="Raleway SemiBold"/>
                <a:sym typeface="Raleway SemiBold"/>
              </a:rPr>
              <a:t>Continue monitoring treatment effectiveness.</a:t>
            </a:r>
            <a:endParaRPr b="1" sz="1800">
              <a:solidFill>
                <a:srgbClr val="E55E11"/>
              </a:solidFill>
              <a:latin typeface="Raleway SemiBold"/>
              <a:ea typeface="Raleway SemiBold"/>
              <a:cs typeface="Raleway SemiBold"/>
              <a:sym typeface="Raleway SemiBold"/>
            </a:endParaRPr>
          </a:p>
          <a:p>
            <a:pPr indent="0" lvl="0" marL="0" marR="0" rtl="0" algn="l">
              <a:lnSpc>
                <a:spcPct val="140000"/>
              </a:lnSpc>
              <a:spcBef>
                <a:spcPts val="1200"/>
              </a:spcBef>
              <a:spcAft>
                <a:spcPts val="0"/>
              </a:spcAft>
              <a:buClr>
                <a:srgbClr val="000000"/>
              </a:buClr>
              <a:buSzPts val="1800"/>
              <a:buFont typeface="Arial"/>
              <a:buNone/>
            </a:pPr>
            <a:r>
              <a:t/>
            </a:r>
            <a:endParaRPr b="1" sz="1800">
              <a:solidFill>
                <a:srgbClr val="E55E11"/>
              </a:solidFill>
              <a:latin typeface="Raleway SemiBold"/>
              <a:ea typeface="Raleway SemiBold"/>
              <a:cs typeface="Raleway SemiBold"/>
              <a:sym typeface="Raleway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F1"/>
        </a:solidFill>
      </p:bgPr>
    </p:bg>
    <p:spTree>
      <p:nvGrpSpPr>
        <p:cNvPr id="339" name="Shape 339"/>
        <p:cNvGrpSpPr/>
        <p:nvPr/>
      </p:nvGrpSpPr>
      <p:grpSpPr>
        <a:xfrm>
          <a:off x="0" y="0"/>
          <a:ext cx="0" cy="0"/>
          <a:chOff x="0" y="0"/>
          <a:chExt cx="0" cy="0"/>
        </a:xfrm>
      </p:grpSpPr>
      <p:sp>
        <p:nvSpPr>
          <p:cNvPr id="340" name="Google Shape;340;p13"/>
          <p:cNvSpPr/>
          <p:nvPr/>
        </p:nvSpPr>
        <p:spPr>
          <a:xfrm rot="10800000">
            <a:off x="-923791" y="-783256"/>
            <a:ext cx="11853512" cy="11853512"/>
          </a:xfrm>
          <a:custGeom>
            <a:rect b="b" l="l" r="r" t="t"/>
            <a:pathLst>
              <a:path extrusionOk="0" h="11853512" w="11853512">
                <a:moveTo>
                  <a:pt x="0" y="0"/>
                </a:moveTo>
                <a:lnTo>
                  <a:pt x="11853513" y="0"/>
                </a:lnTo>
                <a:lnTo>
                  <a:pt x="11853513" y="11853512"/>
                </a:lnTo>
                <a:lnTo>
                  <a:pt x="0" y="11853512"/>
                </a:lnTo>
                <a:lnTo>
                  <a:pt x="0" y="0"/>
                </a:lnTo>
                <a:close/>
              </a:path>
            </a:pathLst>
          </a:custGeom>
          <a:blipFill rotWithShape="1">
            <a:blip r:embed="rId3">
              <a:alphaModFix/>
            </a:blip>
            <a:stretch>
              <a:fillRect b="0" l="0" r="0" t="0"/>
            </a:stretch>
          </a:blipFill>
          <a:ln>
            <a:noFill/>
          </a:ln>
        </p:spPr>
      </p:sp>
      <p:sp>
        <p:nvSpPr>
          <p:cNvPr id="341" name="Google Shape;341;p13"/>
          <p:cNvSpPr txBox="1"/>
          <p:nvPr/>
        </p:nvSpPr>
        <p:spPr>
          <a:xfrm>
            <a:off x="1219200" y="2646761"/>
            <a:ext cx="8144502" cy="5212553"/>
          </a:xfrm>
          <a:prstGeom prst="rect">
            <a:avLst/>
          </a:prstGeom>
          <a:noFill/>
          <a:ln>
            <a:noFill/>
          </a:ln>
        </p:spPr>
        <p:txBody>
          <a:bodyPr anchorCtr="0" anchor="t" bIns="0" lIns="0" spcFirstLastPara="1" rIns="0" wrap="square" tIns="0">
            <a:spAutoFit/>
          </a:bodyPr>
          <a:lstStyle/>
          <a:p>
            <a:pPr indent="0" lvl="1" marL="0" marR="0" rtl="0" algn="l">
              <a:lnSpc>
                <a:spcPct val="90001"/>
              </a:lnSpc>
              <a:spcBef>
                <a:spcPts val="0"/>
              </a:spcBef>
              <a:spcAft>
                <a:spcPts val="0"/>
              </a:spcAft>
              <a:buClr>
                <a:srgbClr val="000000"/>
              </a:buClr>
              <a:buSzPts val="14812"/>
              <a:buFont typeface="Arial"/>
              <a:buNone/>
            </a:pPr>
            <a:r>
              <a:rPr b="1" i="0" lang="en-US" sz="14812" u="none" cap="none" strike="noStrike">
                <a:solidFill>
                  <a:srgbClr val="2F2F2F"/>
                </a:solidFill>
                <a:latin typeface="Raleway Medium"/>
                <a:ea typeface="Raleway Medium"/>
                <a:cs typeface="Raleway Medium"/>
                <a:sym typeface="Raleway Medium"/>
              </a:rPr>
              <a:t>Thank you very much!</a:t>
            </a:r>
            <a:endParaRPr b="0" i="0" sz="1400" u="none" cap="none" strike="noStrike">
              <a:solidFill>
                <a:srgbClr val="000000"/>
              </a:solidFill>
              <a:latin typeface="Arial"/>
              <a:ea typeface="Arial"/>
              <a:cs typeface="Arial"/>
              <a:sym typeface="Arial"/>
            </a:endParaRPr>
          </a:p>
        </p:txBody>
      </p:sp>
      <p:sp>
        <p:nvSpPr>
          <p:cNvPr id="342" name="Google Shape;342;p13"/>
          <p:cNvSpPr txBox="1"/>
          <p:nvPr/>
        </p:nvSpPr>
        <p:spPr>
          <a:xfrm>
            <a:off x="1219200" y="1104900"/>
            <a:ext cx="9179504" cy="381003"/>
          </a:xfrm>
          <a:prstGeom prst="rect">
            <a:avLst/>
          </a:prstGeom>
          <a:noFill/>
          <a:ln>
            <a:noFill/>
          </a:ln>
        </p:spPr>
        <p:txBody>
          <a:bodyPr anchorCtr="0" anchor="t" bIns="0" lIns="0" spcFirstLastPara="1" rIns="0" wrap="square" tIns="0">
            <a:spAutoFit/>
          </a:bodyPr>
          <a:lstStyle/>
          <a:p>
            <a:pPr indent="0" lvl="1" marL="0" marR="0" rtl="0" algn="l">
              <a:lnSpc>
                <a:spcPct val="90000"/>
              </a:lnSpc>
              <a:spcBef>
                <a:spcPts val="0"/>
              </a:spcBef>
              <a:spcAft>
                <a:spcPts val="0"/>
              </a:spcAft>
              <a:buClr>
                <a:srgbClr val="000000"/>
              </a:buClr>
              <a:buSzPts val="3000"/>
              <a:buFont typeface="Arial"/>
              <a:buNone/>
            </a:pPr>
            <a:r>
              <a:rPr b="1" i="0" lang="en-US" sz="3000" u="none" cap="none" strike="noStrike">
                <a:solidFill>
                  <a:srgbClr val="2F2F2F"/>
                </a:solidFill>
                <a:latin typeface="Raleway Medium"/>
                <a:ea typeface="Raleway Medium"/>
                <a:cs typeface="Raleway Medium"/>
                <a:sym typeface="Raleway Medium"/>
              </a:rPr>
              <a:t>Presented by Alexandria Noikovitch</a:t>
            </a:r>
            <a:endParaRPr b="0" i="0" sz="1400" u="none" cap="none" strike="noStrike">
              <a:solidFill>
                <a:srgbClr val="000000"/>
              </a:solidFill>
              <a:latin typeface="Arial"/>
              <a:ea typeface="Arial"/>
              <a:cs typeface="Arial"/>
              <a:sym typeface="Arial"/>
            </a:endParaRPr>
          </a:p>
        </p:txBody>
      </p:sp>
      <p:sp>
        <p:nvSpPr>
          <p:cNvPr id="343" name="Google Shape;343;p13"/>
          <p:cNvSpPr/>
          <p:nvPr/>
        </p:nvSpPr>
        <p:spPr>
          <a:xfrm>
            <a:off x="11867657" y="1376536"/>
            <a:ext cx="5561408" cy="7533927"/>
          </a:xfrm>
          <a:custGeom>
            <a:rect b="b" l="l" r="r" t="t"/>
            <a:pathLst>
              <a:path extrusionOk="0" h="7533927" w="5561408">
                <a:moveTo>
                  <a:pt x="0" y="0"/>
                </a:moveTo>
                <a:lnTo>
                  <a:pt x="5561408" y="0"/>
                </a:lnTo>
                <a:lnTo>
                  <a:pt x="5561408" y="7533928"/>
                </a:lnTo>
                <a:lnTo>
                  <a:pt x="0" y="7533928"/>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